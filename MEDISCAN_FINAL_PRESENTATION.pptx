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Welcome to our presentation of MediScan V3, an Evidence-Locked Personal Health Intelligence and Drug Safety Assistant.
Generative AI has captivated the medical field, but in clinical healthcare, AI hallucinations can lead to life-threatening decisions. Our guiding motto is: 'Evidence First. AI Second.' MediScan does not treat LLMs as authoritative clinical arbiters. Instead, we introduce a deterministic, cryptographically locked architecture where every biomarker is strictly bound to original report quotes and validated against printed laboratory intervals and official openFDA monographs.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why MediScan was engineered, let us look at the current medical AI landscape.
First: Traditional generative AI chatbots suffer from hallucinations. When a patient feeds a complex 4-page blood test into ChatGPT, the AI might misplace a decimal point or drop a negative sign.
Second: The 'Global Range Fallacy'. Every laboratory uses distinct testing machinery and calibrates its own reference intervals. An AI trained on general internet data uses generic ranges, flagging normal values as abnormal or missing dangerous outliers.
Third: Drug interactions are often invisible to patients taking common over-the-counter medications.
Fourth: Data privacy. Most apps require complete user accounts and upload entire medical records containing personal identification to cloud servers. MediScan was engineered to dismantle every one of these failure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present the end-to-end architecture of MediScan V3. What makes this architecture unique is the strict firewall between the AI layer and the clinical determination layer.
The application is built on modern full-stack SSR using TanStack Start and Nitro with React 19. When a user provides a medical lab report or medication photo, the text is extracted locally using text-layer parsing.
Next, Gemini 2.5 Flash is invoked through the Vercel AI SDK. But here is the critical distinction: the AI is only permitted to extract candidate rows and exact quote substrings. The model does NOT classify whether a biomarker is high or low. That is handled deterministically by our pure TypeScript verification engine, which matches the printed reference bounds and seals the output with an FNV-1a cryptographic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dive into Module 1: The Report Lens. This is where laboratory reports are analyzed with clinical rigor.
Notice the table on the right: when MediScan processes a Complete Blood Count report, it extracts parameters like Hemoglobin and Platelet Count. But notice line below each row: 'Locked Quote'. Every extracted row must match the exact character sequence in the source document.
Furthermore, the status 'LOW' or 'HIGH' is computed entirely by our TypeScript engine using the printed reference range on that exact laboratory paper—not a generic database range. If the user clicks any row, the UI jumps directly to the highlighted source text in our Evidence Modal.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is our Medicine Lens and Drug-Drug Interaction Checker.
When patients take medications, they frequently know only brand names like Tylenol or Advil, without realizing both could belong to overlapping drug classes. MediScan uses OCR and alias normalization to map brand names to official openFDA OTC monographs.
A key technical innovation here is our Symmetrical Pair Key algorithm: makePairKey. In computer science, if a user checks Drug A with Drug B, the system must evaluate the exact same interaction rules as Drug B with Drug A. Furthermore, we follow the medical ethics principle of 'Neutral Non-Reassurance': if an interaction is unrecorded, we never claim the combination is harmless. Instead, we warn the user that absence of data is not evidence of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and patient empowerment are fundamental to MediScan.
Most medical applications risk violating HIPAA or GDPR by storing patient names alongside diagnosis text. In MediScan, all verification identifiers are computed with non-sensitive FNV-1a hashing. We even built an interactive Tamper Detection Lab that proves that altering a single character in the lab report causes the cryptographic fingerprint to fail.
Finally, we don't just leave patients with raw numbers. Our Doctor Visit Brief compiles all abnormal biomarkers and active medications into an exportable, one-page clinical briefing—complete with recommended questions for the patient's next appointment. It exports instantly in Markdown, CSV, and structured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software engineering—especially in healthcare technology—untested code is broken code.
We subjected MediScan to 19 dedicated test suites spanning 201 automated unit and integration tests. All 201 tests pass with a 100% success rate.
These tests explicitly verify our core guarantees: engine.test.ts runs 69 test cases evaluating every numerical edge case in lab reference ranges. evidence.test.ts validates that any missing or modified quote fails verification. interactions.test.ts guarantees commutative interaction matching. And model.server.test.ts ensures that if Google Gemini 2.5 Flash faces rate limits, the system seamlessly falls back to backup models without crashing.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MediScan V3 proves that we do not have to accept AI hallucinations as an unavoidable cost of modern software.
By establishing the 'Evidence First, AI Second' framework, we empower everyday patients to understand their lab results and medicine packaging with the confidence that every word is grounded in printed fact and authoritative FDA guidelines.
Looking forward, we aim to integrate direct FHIR interoperability for hospital records and bring complete local-edge processing to mobile devices. Thank you very much for your time. We are now delighted to answer your questions and demonstrate the live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14B8A6"/>
          </a:solidFill>
          <a:ln/>
        </p:spPr>
      </p:sp>
      <p:sp>
        <p:nvSpPr>
          <p:cNvPr id="3" name="Shape 1"/>
          <p:cNvSpPr/>
          <p:nvPr/>
        </p:nvSpPr>
        <p:spPr>
          <a:xfrm>
            <a:off x="4261104" y="1097280"/>
            <a:ext cx="3657600" cy="411480"/>
          </a:xfrm>
          <a:prstGeom prst="roundRect">
            <a:avLst>
              <a:gd name="adj" fmla="val 44444"/>
            </a:avLst>
          </a:prstGeom>
          <a:solidFill>
            <a:srgbClr val="132E48"/>
          </a:solidFill>
          <a:ln w="19050">
            <a:solidFill>
              <a:srgbClr val="38BDF8"/>
            </a:solidFill>
            <a:prstDash val="solid"/>
          </a:ln>
        </p:spPr>
      </p:sp>
      <p:sp>
        <p:nvSpPr>
          <p:cNvPr id="4" name="Text 2"/>
          <p:cNvSpPr/>
          <p:nvPr/>
        </p:nvSpPr>
        <p:spPr>
          <a:xfrm>
            <a:off x="4261104" y="1097280"/>
            <a:ext cx="3657600" cy="411480"/>
          </a:xfrm>
          <a:prstGeom prst="rect">
            <a:avLst/>
          </a:prstGeom>
          <a:noFill/>
          <a:ln/>
        </p:spPr>
        <p:txBody>
          <a:bodyPr wrap="square" rtlCol="0" anchor="ctr"/>
          <a:lstStyle/>
          <a:p>
            <a:pPr algn="ctr" indent="0" marL="0">
              <a:buNone/>
            </a:pPr>
            <a:r>
              <a:rPr lang="en-US" sz="1100" b="1" dirty="0">
                <a:solidFill>
                  <a:srgbClr val="38BDF8"/>
                </a:solidFill>
                <a:latin typeface="Arial" pitchFamily="34" charset="0"/>
                <a:ea typeface="Arial" pitchFamily="34" charset="-122"/>
                <a:cs typeface="Arial" pitchFamily="34" charset="-120"/>
              </a:rPr>
              <a:t>CLINICAL-GRADE HEALTH INTELLIGENCE</a:t>
            </a:r>
            <a:endParaRPr lang="en-US" sz="1100" dirty="0"/>
          </a:p>
        </p:txBody>
      </p:sp>
      <p:sp>
        <p:nvSpPr>
          <p:cNvPr id="5" name="Text 3"/>
          <p:cNvSpPr/>
          <p:nvPr/>
        </p:nvSpPr>
        <p:spPr>
          <a:xfrm>
            <a:off x="914400" y="1645920"/>
            <a:ext cx="10360152" cy="1005840"/>
          </a:xfrm>
          <a:prstGeom prst="rect">
            <a:avLst/>
          </a:prstGeom>
          <a:noFill/>
          <a:ln/>
        </p:spPr>
        <p:txBody>
          <a:bodyPr wrap="square" rtlCol="0" anchor="ctr"/>
          <a:lstStyle/>
          <a:p>
            <a:pPr algn="ctr" indent="0" marL="0">
              <a:buNone/>
            </a:pPr>
            <a:r>
              <a:rPr lang="en-US" sz="4000" b="1" dirty="0">
                <a:solidFill>
                  <a:srgbClr val="F8FAFC"/>
                </a:solidFill>
                <a:latin typeface="Arial" pitchFamily="34" charset="0"/>
                <a:ea typeface="Arial" pitchFamily="34" charset="-122"/>
                <a:cs typeface="Arial" pitchFamily="34" charset="-120"/>
              </a:rPr>
              <a:t>MediScan V3 (MEDISCAN-EDM)</a:t>
            </a:r>
            <a:endParaRPr lang="en-US" sz="4000" dirty="0"/>
          </a:p>
        </p:txBody>
      </p:sp>
      <p:sp>
        <p:nvSpPr>
          <p:cNvPr id="6" name="Text 4"/>
          <p:cNvSpPr/>
          <p:nvPr/>
        </p:nvSpPr>
        <p:spPr>
          <a:xfrm>
            <a:off x="914400" y="2606040"/>
            <a:ext cx="10360152" cy="548640"/>
          </a:xfrm>
          <a:prstGeom prst="rect">
            <a:avLst/>
          </a:prstGeom>
          <a:noFill/>
          <a:ln/>
        </p:spPr>
        <p:txBody>
          <a:bodyPr wrap="square" rtlCol="0" anchor="ctr"/>
          <a:lstStyle/>
          <a:p>
            <a:pPr algn="ctr" indent="0" marL="0">
              <a:buNone/>
            </a:pPr>
            <a:r>
              <a:rPr lang="en-US" sz="1800" dirty="0">
                <a:solidFill>
                  <a:srgbClr val="38BDF8"/>
                </a:solidFill>
                <a:latin typeface="Arial" pitchFamily="34" charset="0"/>
                <a:ea typeface="Arial" pitchFamily="34" charset="-122"/>
                <a:cs typeface="Arial" pitchFamily="34" charset="-120"/>
              </a:rPr>
              <a:t>Evidence-Locked Personal Health Intelligence &amp; Drug Safety Assistant</a:t>
            </a:r>
            <a:endParaRPr lang="en-US" sz="1800" dirty="0"/>
          </a:p>
        </p:txBody>
      </p:sp>
      <p:sp>
        <p:nvSpPr>
          <p:cNvPr id="7" name="Shape 5"/>
          <p:cNvSpPr/>
          <p:nvPr/>
        </p:nvSpPr>
        <p:spPr>
          <a:xfrm>
            <a:off x="2432304" y="3291840"/>
            <a:ext cx="7315200" cy="1097280"/>
          </a:xfrm>
          <a:prstGeom prst="roundRect">
            <a:avLst>
              <a:gd name="adj" fmla="val 12500"/>
            </a:avLst>
          </a:prstGeom>
          <a:solidFill>
            <a:srgbClr val="1C2541"/>
          </a:solidFill>
          <a:ln w="19050">
            <a:solidFill>
              <a:srgbClr val="0D9488"/>
            </a:solidFill>
            <a:prstDash val="solid"/>
          </a:ln>
        </p:spPr>
      </p:sp>
      <p:sp>
        <p:nvSpPr>
          <p:cNvPr id="8" name="Text 6"/>
          <p:cNvSpPr/>
          <p:nvPr/>
        </p:nvSpPr>
        <p:spPr>
          <a:xfrm>
            <a:off x="2560320" y="3383280"/>
            <a:ext cx="7040880" cy="914400"/>
          </a:xfrm>
          <a:prstGeom prst="rect">
            <a:avLst/>
          </a:prstGeom>
          <a:noFill/>
          <a:ln/>
        </p:spPr>
        <p:txBody>
          <a:bodyPr wrap="square" rtlCol="0" anchor="ctr"/>
          <a:lstStyle/>
          <a:p>
            <a:pPr algn="ctr" indent="0" marL="0">
              <a:buNone/>
            </a:pPr>
            <a:r>
              <a:rPr lang="en-US" sz="1400" b="1" dirty="0">
                <a:solidFill>
                  <a:srgbClr val="F8FAFC"/>
                </a:solidFill>
                <a:latin typeface="Arial" pitchFamily="34" charset="0"/>
                <a:ea typeface="Arial" pitchFamily="34" charset="-122"/>
                <a:cs typeface="Arial" pitchFamily="34" charset="-120"/>
              </a:rPr>
              <a:t>CORE PHILOSOPHY:</a:t>
            </a:r>
            <a:endParaRPr lang="en-US" sz="1400" dirty="0"/>
          </a:p>
          <a:p>
            <a:pPr algn="ctr" indent="0" marL="0">
              <a:buNone/>
            </a:pPr>
            <a:r>
              <a:rPr lang="en-US" sz="1400" b="1" dirty="0">
                <a:solidFill>
                  <a:srgbClr val="F8FAFC"/>
                </a:solidFill>
                <a:latin typeface="Arial" pitchFamily="34" charset="0"/>
                <a:ea typeface="Arial" pitchFamily="34" charset="-122"/>
                <a:cs typeface="Arial" pitchFamily="34" charset="-120"/>
              </a:rPr>
              <a:t>"Evidence First. AI Second. Don't Just Ask AI. Verify First."</a:t>
            </a:r>
            <a:endParaRPr lang="en-US" sz="1400" dirty="0"/>
          </a:p>
        </p:txBody>
      </p:sp>
      <p:sp>
        <p:nvSpPr>
          <p:cNvPr id="9" name="Shape 7"/>
          <p:cNvSpPr/>
          <p:nvPr/>
        </p:nvSpPr>
        <p:spPr>
          <a:xfrm>
            <a:off x="914400" y="4663440"/>
            <a:ext cx="3291840" cy="1371600"/>
          </a:xfrm>
          <a:prstGeom prst="roundRect">
            <a:avLst>
              <a:gd name="adj" fmla="val 6667"/>
            </a:avLst>
          </a:prstGeom>
          <a:solidFill>
            <a:srgbClr val="111C38"/>
          </a:solidFill>
          <a:ln w="12700">
            <a:solidFill>
              <a:srgbClr val="3A506B"/>
            </a:solidFill>
            <a:prstDash val="solid"/>
          </a:ln>
        </p:spPr>
      </p:sp>
      <p:sp>
        <p:nvSpPr>
          <p:cNvPr id="10" name="Text 8"/>
          <p:cNvSpPr/>
          <p:nvPr/>
        </p:nvSpPr>
        <p:spPr>
          <a:xfrm>
            <a:off x="1051560" y="4800600"/>
            <a:ext cx="3017520" cy="411480"/>
          </a:xfrm>
          <a:prstGeom prst="rect">
            <a:avLst/>
          </a:prstGeom>
          <a:noFill/>
          <a:ln/>
        </p:spPr>
        <p:txBody>
          <a:bodyPr wrap="square" rtlCol="0" anchor="ctr"/>
          <a:lstStyle/>
          <a:p>
            <a:pPr algn="ctr" indent="0" marL="0">
              <a:buNone/>
            </a:pPr>
            <a:r>
              <a:rPr lang="en-US" sz="1300" b="1" dirty="0">
                <a:solidFill>
                  <a:srgbClr val="38BDF8"/>
                </a:solidFill>
                <a:latin typeface="Arial" pitchFamily="34" charset="0"/>
                <a:ea typeface="Arial" pitchFamily="34" charset="-122"/>
                <a:cs typeface="Arial" pitchFamily="34" charset="-120"/>
              </a:rPr>
              <a:t>Deterministic Range Grounding</a:t>
            </a:r>
            <a:endParaRPr lang="en-US" sz="1300" dirty="0"/>
          </a:p>
        </p:txBody>
      </p:sp>
      <p:sp>
        <p:nvSpPr>
          <p:cNvPr id="11" name="Text 9"/>
          <p:cNvSpPr/>
          <p:nvPr/>
        </p:nvSpPr>
        <p:spPr>
          <a:xfrm>
            <a:off x="1051560" y="5257800"/>
            <a:ext cx="3017520" cy="68580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Patient values evaluated strictly against printed lab boundaries</a:t>
            </a:r>
            <a:endParaRPr lang="en-US" sz="1100" dirty="0"/>
          </a:p>
        </p:txBody>
      </p:sp>
      <p:sp>
        <p:nvSpPr>
          <p:cNvPr id="12" name="Shape 10"/>
          <p:cNvSpPr/>
          <p:nvPr/>
        </p:nvSpPr>
        <p:spPr>
          <a:xfrm>
            <a:off x="4434840" y="4663440"/>
            <a:ext cx="3291840" cy="1371600"/>
          </a:xfrm>
          <a:prstGeom prst="roundRect">
            <a:avLst>
              <a:gd name="adj" fmla="val 6667"/>
            </a:avLst>
          </a:prstGeom>
          <a:solidFill>
            <a:srgbClr val="111C38"/>
          </a:solidFill>
          <a:ln w="12700">
            <a:solidFill>
              <a:srgbClr val="3A506B"/>
            </a:solidFill>
            <a:prstDash val="solid"/>
          </a:ln>
        </p:spPr>
      </p:sp>
      <p:sp>
        <p:nvSpPr>
          <p:cNvPr id="13" name="Text 11"/>
          <p:cNvSpPr/>
          <p:nvPr/>
        </p:nvSpPr>
        <p:spPr>
          <a:xfrm>
            <a:off x="4572000" y="4800600"/>
            <a:ext cx="3017520" cy="411480"/>
          </a:xfrm>
          <a:prstGeom prst="rect">
            <a:avLst/>
          </a:prstGeom>
          <a:noFill/>
          <a:ln/>
        </p:spPr>
        <p:txBody>
          <a:bodyPr wrap="square" rtlCol="0" anchor="ctr"/>
          <a:lstStyle/>
          <a:p>
            <a:pPr algn="ctr" indent="0" marL="0">
              <a:buNone/>
            </a:pPr>
            <a:r>
              <a:rPr lang="en-US" sz="1300" b="1" dirty="0">
                <a:solidFill>
                  <a:srgbClr val="38BDF8"/>
                </a:solidFill>
                <a:latin typeface="Arial" pitchFamily="34" charset="0"/>
                <a:ea typeface="Arial" pitchFamily="34" charset="-122"/>
                <a:cs typeface="Arial" pitchFamily="34" charset="-120"/>
              </a:rPr>
              <a:t>openFDA Monograph Alignment</a:t>
            </a:r>
            <a:endParaRPr lang="en-US" sz="1300" dirty="0"/>
          </a:p>
        </p:txBody>
      </p:sp>
      <p:sp>
        <p:nvSpPr>
          <p:cNvPr id="14" name="Text 12"/>
          <p:cNvSpPr/>
          <p:nvPr/>
        </p:nvSpPr>
        <p:spPr>
          <a:xfrm>
            <a:off x="4572000" y="5257800"/>
            <a:ext cx="3017520" cy="68580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Active ingredients cross-referenced with authoritative FDA data</a:t>
            </a:r>
            <a:endParaRPr lang="en-US" sz="1100" dirty="0"/>
          </a:p>
        </p:txBody>
      </p:sp>
      <p:sp>
        <p:nvSpPr>
          <p:cNvPr id="15" name="Shape 13"/>
          <p:cNvSpPr/>
          <p:nvPr/>
        </p:nvSpPr>
        <p:spPr>
          <a:xfrm>
            <a:off x="7955280" y="4663440"/>
            <a:ext cx="3291840" cy="1371600"/>
          </a:xfrm>
          <a:prstGeom prst="roundRect">
            <a:avLst>
              <a:gd name="adj" fmla="val 6667"/>
            </a:avLst>
          </a:prstGeom>
          <a:solidFill>
            <a:srgbClr val="111C38"/>
          </a:solidFill>
          <a:ln w="12700">
            <a:solidFill>
              <a:srgbClr val="3A506B"/>
            </a:solidFill>
            <a:prstDash val="solid"/>
          </a:ln>
        </p:spPr>
      </p:sp>
      <p:sp>
        <p:nvSpPr>
          <p:cNvPr id="16" name="Text 14"/>
          <p:cNvSpPr/>
          <p:nvPr/>
        </p:nvSpPr>
        <p:spPr>
          <a:xfrm>
            <a:off x="8092440" y="4800600"/>
            <a:ext cx="3017520" cy="411480"/>
          </a:xfrm>
          <a:prstGeom prst="rect">
            <a:avLst/>
          </a:prstGeom>
          <a:noFill/>
          <a:ln/>
        </p:spPr>
        <p:txBody>
          <a:bodyPr wrap="square" rtlCol="0" anchor="ctr"/>
          <a:lstStyle/>
          <a:p>
            <a:pPr algn="ctr" indent="0" marL="0">
              <a:buNone/>
            </a:pPr>
            <a:r>
              <a:rPr lang="en-US" sz="1300" b="1" dirty="0">
                <a:solidFill>
                  <a:srgbClr val="38BDF8"/>
                </a:solidFill>
                <a:latin typeface="Arial" pitchFamily="34" charset="0"/>
                <a:ea typeface="Arial" pitchFamily="34" charset="-122"/>
                <a:cs typeface="Arial" pitchFamily="34" charset="-120"/>
              </a:rPr>
              <a:t>Zero-PII Cryptographic Seals</a:t>
            </a:r>
            <a:endParaRPr lang="en-US" sz="1300" dirty="0"/>
          </a:p>
        </p:txBody>
      </p:sp>
      <p:sp>
        <p:nvSpPr>
          <p:cNvPr id="17" name="Text 15"/>
          <p:cNvSpPr/>
          <p:nvPr/>
        </p:nvSpPr>
        <p:spPr>
          <a:xfrm>
            <a:off x="8092440" y="5257800"/>
            <a:ext cx="3017520" cy="685800"/>
          </a:xfrm>
          <a:prstGeom prst="rect">
            <a:avLst/>
          </a:prstGeom>
          <a:noFill/>
          <a:ln/>
        </p:spPr>
        <p:txBody>
          <a:bodyPr wrap="square" rtlCol="0" anchor="ctr"/>
          <a:lstStyle/>
          <a:p>
            <a:pPr algn="ctr" indent="0" marL="0">
              <a:buNone/>
            </a:pPr>
            <a:r>
              <a:rPr lang="en-US" sz="1100" dirty="0">
                <a:solidFill>
                  <a:srgbClr val="94A3B8"/>
                </a:solidFill>
                <a:latin typeface="Arial" pitchFamily="34" charset="0"/>
                <a:ea typeface="Arial" pitchFamily="34" charset="-122"/>
                <a:cs typeface="Arial" pitchFamily="34" charset="-120"/>
              </a:rPr>
              <a:t>Deterministic FNV-1a IDs with tamper detection &amp; memory isolation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731520" y="411480"/>
            <a:ext cx="2377440" cy="320040"/>
          </a:xfrm>
          <a:prstGeom prst="roundRect">
            <a:avLst>
              <a:gd name="adj" fmla="val 42857"/>
            </a:avLst>
          </a:prstGeom>
          <a:solidFill>
            <a:srgbClr val="132E48"/>
          </a:solidFill>
          <a:ln w="12700">
            <a:solidFill>
              <a:srgbClr val="38BDF8"/>
            </a:solidFill>
            <a:prstDash val="solid"/>
          </a:ln>
        </p:spPr>
      </p:sp>
      <p:sp>
        <p:nvSpPr>
          <p:cNvPr id="3" name="Text 1"/>
          <p:cNvSpPr/>
          <p:nvPr/>
        </p:nvSpPr>
        <p:spPr>
          <a:xfrm>
            <a:off x="731520" y="411480"/>
            <a:ext cx="2377440" cy="32004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PROBLEM &amp; CLINICAL NEED</a:t>
            </a:r>
            <a:endParaRPr lang="en-US" sz="1000" dirty="0"/>
          </a:p>
        </p:txBody>
      </p:sp>
      <p:sp>
        <p:nvSpPr>
          <p:cNvPr id="4" name="Text 2"/>
          <p:cNvSpPr/>
          <p:nvPr/>
        </p:nvSpPr>
        <p:spPr>
          <a:xfrm>
            <a:off x="731520" y="777240"/>
            <a:ext cx="10515600" cy="548640"/>
          </a:xfrm>
          <a:prstGeom prst="rect">
            <a:avLst/>
          </a:prstGeom>
          <a:noFill/>
          <a:ln/>
        </p:spPr>
        <p:txBody>
          <a:bodyPr wrap="square" rtlCol="0" anchor="ctr"/>
          <a:lstStyle/>
          <a:p>
            <a:pPr indent="0" marL="0">
              <a:buNone/>
            </a:pPr>
            <a:r>
              <a:rPr lang="en-US" sz="2400" b="1" dirty="0">
                <a:solidFill>
                  <a:srgbClr val="F8FAFC"/>
                </a:solidFill>
                <a:latin typeface="Arial" pitchFamily="34" charset="0"/>
                <a:ea typeface="Arial" pitchFamily="34" charset="-122"/>
                <a:cs typeface="Arial" pitchFamily="34" charset="-120"/>
              </a:rPr>
              <a:t>The Health AI Dilemma: Why Generative AI Alone Is Dangerous</a:t>
            </a:r>
            <a:endParaRPr lang="en-US" sz="2400" dirty="0"/>
          </a:p>
        </p:txBody>
      </p:sp>
      <p:sp>
        <p:nvSpPr>
          <p:cNvPr id="5" name="Text 3"/>
          <p:cNvSpPr/>
          <p:nvPr/>
        </p:nvSpPr>
        <p:spPr>
          <a:xfrm>
            <a:off x="731520" y="128016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Four critical failure points in consumer health tools that MediScan solves</a:t>
            </a:r>
            <a:endParaRPr lang="en-US" sz="1300" dirty="0"/>
          </a:p>
        </p:txBody>
      </p:sp>
      <p:sp>
        <p:nvSpPr>
          <p:cNvPr id="6" name="Shape 4"/>
          <p:cNvSpPr/>
          <p:nvPr/>
        </p:nvSpPr>
        <p:spPr>
          <a:xfrm>
            <a:off x="731520" y="1828800"/>
            <a:ext cx="5212080" cy="2057400"/>
          </a:xfrm>
          <a:prstGeom prst="roundRect">
            <a:avLst>
              <a:gd name="adj" fmla="val 5333"/>
            </a:avLst>
          </a:prstGeom>
          <a:solidFill>
            <a:srgbClr val="1C2541"/>
          </a:solidFill>
          <a:ln w="12700">
            <a:solidFill>
              <a:srgbClr val="3A506B"/>
            </a:solidFill>
            <a:prstDash val="solid"/>
          </a:ln>
        </p:spPr>
      </p:sp>
      <p:sp>
        <p:nvSpPr>
          <p:cNvPr id="7" name="Text 5"/>
          <p:cNvSpPr/>
          <p:nvPr/>
        </p:nvSpPr>
        <p:spPr>
          <a:xfrm>
            <a:off x="1005840" y="2011680"/>
            <a:ext cx="731520" cy="365760"/>
          </a:xfrm>
          <a:prstGeom prst="rect">
            <a:avLst/>
          </a:prstGeom>
          <a:noFill/>
          <a:ln/>
        </p:spPr>
        <p:txBody>
          <a:bodyPr wrap="square" rtlCol="0" anchor="ctr"/>
          <a:lstStyle/>
          <a:p>
            <a:pPr indent="0" marL="0">
              <a:buNone/>
            </a:pPr>
            <a:r>
              <a:rPr lang="en-US" sz="2000" b="1" dirty="0">
                <a:solidFill>
                  <a:srgbClr val="38BDF8"/>
                </a:solidFill>
                <a:latin typeface="Arial" pitchFamily="34" charset="0"/>
                <a:ea typeface="Arial" pitchFamily="34" charset="-122"/>
                <a:cs typeface="Arial" pitchFamily="34" charset="-120"/>
              </a:rPr>
              <a:t>01</a:t>
            </a:r>
            <a:endParaRPr lang="en-US" sz="2000" dirty="0"/>
          </a:p>
        </p:txBody>
      </p:sp>
      <p:sp>
        <p:nvSpPr>
          <p:cNvPr id="8" name="Shape 6"/>
          <p:cNvSpPr/>
          <p:nvPr/>
        </p:nvSpPr>
        <p:spPr>
          <a:xfrm>
            <a:off x="3657600" y="2011680"/>
            <a:ext cx="2011680" cy="292608"/>
          </a:xfrm>
          <a:prstGeom prst="roundRect">
            <a:avLst>
              <a:gd name="adj" fmla="val 31250"/>
            </a:avLst>
          </a:prstGeom>
          <a:solidFill>
            <a:srgbClr val="2B1B26"/>
          </a:solidFill>
          <a:ln w="12700">
            <a:solidFill>
              <a:srgbClr val="F43F5E"/>
            </a:solidFill>
            <a:prstDash val="solid"/>
          </a:ln>
        </p:spPr>
      </p:sp>
      <p:sp>
        <p:nvSpPr>
          <p:cNvPr id="9" name="Text 7"/>
          <p:cNvSpPr/>
          <p:nvPr/>
        </p:nvSpPr>
        <p:spPr>
          <a:xfrm>
            <a:off x="3657600" y="2011680"/>
            <a:ext cx="2011680" cy="292608"/>
          </a:xfrm>
          <a:prstGeom prst="rect">
            <a:avLst/>
          </a:prstGeom>
          <a:noFill/>
          <a:ln/>
        </p:spPr>
        <p:txBody>
          <a:bodyPr wrap="square" rtlCol="0" anchor="ctr"/>
          <a:lstStyle/>
          <a:p>
            <a:pPr algn="ctr" indent="0" marL="0">
              <a:buNone/>
            </a:pPr>
            <a:r>
              <a:rPr lang="en-US" sz="900" b="1" dirty="0">
                <a:solidFill>
                  <a:srgbClr val="F43F5E"/>
                </a:solidFill>
                <a:latin typeface="Arial" pitchFamily="34" charset="0"/>
                <a:ea typeface="Arial" pitchFamily="34" charset="-122"/>
                <a:cs typeface="Arial" pitchFamily="34" charset="-120"/>
              </a:rPr>
              <a:t>RISK: CLINICAL ERROR</a:t>
            </a:r>
            <a:endParaRPr lang="en-US" sz="900" dirty="0"/>
          </a:p>
        </p:txBody>
      </p:sp>
      <p:sp>
        <p:nvSpPr>
          <p:cNvPr id="10" name="Text 8"/>
          <p:cNvSpPr/>
          <p:nvPr/>
        </p:nvSpPr>
        <p:spPr>
          <a:xfrm>
            <a:off x="1005840" y="2423160"/>
            <a:ext cx="4663440" cy="36576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LLM Hallucinations &amp; Fabrications</a:t>
            </a:r>
            <a:endParaRPr lang="en-US" sz="1400" dirty="0"/>
          </a:p>
        </p:txBody>
      </p:sp>
      <p:sp>
        <p:nvSpPr>
          <p:cNvPr id="11" name="Text 9"/>
          <p:cNvSpPr/>
          <p:nvPr/>
        </p:nvSpPr>
        <p:spPr>
          <a:xfrm>
            <a:off x="1005840" y="2834640"/>
            <a:ext cx="4663440" cy="9144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Standard AI models invent plausible-sounding values, misinterpret units, or alter decimal points. In healthcare, a decimal misplacement (e.g., Potassium 3.2 vs 5.2) can be fatal.</a:t>
            </a:r>
            <a:endParaRPr lang="en-US" sz="1100" dirty="0"/>
          </a:p>
        </p:txBody>
      </p:sp>
      <p:sp>
        <p:nvSpPr>
          <p:cNvPr id="12" name="Shape 10"/>
          <p:cNvSpPr/>
          <p:nvPr/>
        </p:nvSpPr>
        <p:spPr>
          <a:xfrm>
            <a:off x="6126480" y="1828800"/>
            <a:ext cx="5212080" cy="2057400"/>
          </a:xfrm>
          <a:prstGeom prst="roundRect">
            <a:avLst>
              <a:gd name="adj" fmla="val 5333"/>
            </a:avLst>
          </a:prstGeom>
          <a:solidFill>
            <a:srgbClr val="1C2541"/>
          </a:solidFill>
          <a:ln w="12700">
            <a:solidFill>
              <a:srgbClr val="3A506B"/>
            </a:solidFill>
            <a:prstDash val="solid"/>
          </a:ln>
        </p:spPr>
      </p:sp>
      <p:sp>
        <p:nvSpPr>
          <p:cNvPr id="13" name="Text 11"/>
          <p:cNvSpPr/>
          <p:nvPr/>
        </p:nvSpPr>
        <p:spPr>
          <a:xfrm>
            <a:off x="6400800" y="2011680"/>
            <a:ext cx="731520" cy="365760"/>
          </a:xfrm>
          <a:prstGeom prst="rect">
            <a:avLst/>
          </a:prstGeom>
          <a:noFill/>
          <a:ln/>
        </p:spPr>
        <p:txBody>
          <a:bodyPr wrap="square" rtlCol="0" anchor="ctr"/>
          <a:lstStyle/>
          <a:p>
            <a:pPr indent="0" marL="0">
              <a:buNone/>
            </a:pPr>
            <a:r>
              <a:rPr lang="en-US" sz="2000" b="1" dirty="0">
                <a:solidFill>
                  <a:srgbClr val="38BDF8"/>
                </a:solidFill>
                <a:latin typeface="Arial" pitchFamily="34" charset="0"/>
                <a:ea typeface="Arial" pitchFamily="34" charset="-122"/>
                <a:cs typeface="Arial" pitchFamily="34" charset="-120"/>
              </a:rPr>
              <a:t>02</a:t>
            </a:r>
            <a:endParaRPr lang="en-US" sz="2000" dirty="0"/>
          </a:p>
        </p:txBody>
      </p:sp>
      <p:sp>
        <p:nvSpPr>
          <p:cNvPr id="14" name="Shape 12"/>
          <p:cNvSpPr/>
          <p:nvPr/>
        </p:nvSpPr>
        <p:spPr>
          <a:xfrm>
            <a:off x="9052560" y="2011680"/>
            <a:ext cx="2011680" cy="292608"/>
          </a:xfrm>
          <a:prstGeom prst="roundRect">
            <a:avLst>
              <a:gd name="adj" fmla="val 31250"/>
            </a:avLst>
          </a:prstGeom>
          <a:solidFill>
            <a:srgbClr val="2B1B26"/>
          </a:solidFill>
          <a:ln w="12700">
            <a:solidFill>
              <a:srgbClr val="F43F5E"/>
            </a:solidFill>
            <a:prstDash val="solid"/>
          </a:ln>
        </p:spPr>
      </p:sp>
      <p:sp>
        <p:nvSpPr>
          <p:cNvPr id="15" name="Text 13"/>
          <p:cNvSpPr/>
          <p:nvPr/>
        </p:nvSpPr>
        <p:spPr>
          <a:xfrm>
            <a:off x="9052560" y="2011680"/>
            <a:ext cx="2011680" cy="292608"/>
          </a:xfrm>
          <a:prstGeom prst="rect">
            <a:avLst/>
          </a:prstGeom>
          <a:noFill/>
          <a:ln/>
        </p:spPr>
        <p:txBody>
          <a:bodyPr wrap="square" rtlCol="0" anchor="ctr"/>
          <a:lstStyle/>
          <a:p>
            <a:pPr algn="ctr" indent="0" marL="0">
              <a:buNone/>
            </a:pPr>
            <a:r>
              <a:rPr lang="en-US" sz="900" b="1" dirty="0">
                <a:solidFill>
                  <a:srgbClr val="F43F5E"/>
                </a:solidFill>
                <a:latin typeface="Arial" pitchFamily="34" charset="0"/>
                <a:ea typeface="Arial" pitchFamily="34" charset="-122"/>
                <a:cs typeface="Arial" pitchFamily="34" charset="-120"/>
              </a:rPr>
              <a:t>RISK: MISDIAGNOSIS</a:t>
            </a:r>
            <a:endParaRPr lang="en-US" sz="900" dirty="0"/>
          </a:p>
        </p:txBody>
      </p:sp>
      <p:sp>
        <p:nvSpPr>
          <p:cNvPr id="16" name="Text 14"/>
          <p:cNvSpPr/>
          <p:nvPr/>
        </p:nvSpPr>
        <p:spPr>
          <a:xfrm>
            <a:off x="6400800" y="2423160"/>
            <a:ext cx="4663440" cy="36576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The 'Global Range' Fallacy</a:t>
            </a:r>
            <a:endParaRPr lang="en-US" sz="1400" dirty="0"/>
          </a:p>
        </p:txBody>
      </p:sp>
      <p:sp>
        <p:nvSpPr>
          <p:cNvPr id="17" name="Text 15"/>
          <p:cNvSpPr/>
          <p:nvPr/>
        </p:nvSpPr>
        <p:spPr>
          <a:xfrm>
            <a:off x="6400800" y="2834640"/>
            <a:ext cx="4663440" cy="9144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Generic health apps evaluate biomarkers against textbook global averages. Real clinical labs use diverse calibration assays, age brackets, and equipment-specific reference intervals printed directly on the page.</a:t>
            </a:r>
            <a:endParaRPr lang="en-US" sz="1100" dirty="0"/>
          </a:p>
        </p:txBody>
      </p:sp>
      <p:sp>
        <p:nvSpPr>
          <p:cNvPr id="18" name="Shape 16"/>
          <p:cNvSpPr/>
          <p:nvPr/>
        </p:nvSpPr>
        <p:spPr>
          <a:xfrm>
            <a:off x="731520" y="4069080"/>
            <a:ext cx="5212080" cy="2057400"/>
          </a:xfrm>
          <a:prstGeom prst="roundRect">
            <a:avLst>
              <a:gd name="adj" fmla="val 5333"/>
            </a:avLst>
          </a:prstGeom>
          <a:solidFill>
            <a:srgbClr val="1C2541"/>
          </a:solidFill>
          <a:ln w="12700">
            <a:solidFill>
              <a:srgbClr val="3A506B"/>
            </a:solidFill>
            <a:prstDash val="solid"/>
          </a:ln>
        </p:spPr>
      </p:sp>
      <p:sp>
        <p:nvSpPr>
          <p:cNvPr id="19" name="Text 17"/>
          <p:cNvSpPr/>
          <p:nvPr/>
        </p:nvSpPr>
        <p:spPr>
          <a:xfrm>
            <a:off x="1005840" y="4251960"/>
            <a:ext cx="731520" cy="365760"/>
          </a:xfrm>
          <a:prstGeom prst="rect">
            <a:avLst/>
          </a:prstGeom>
          <a:noFill/>
          <a:ln/>
        </p:spPr>
        <p:txBody>
          <a:bodyPr wrap="square" rtlCol="0" anchor="ctr"/>
          <a:lstStyle/>
          <a:p>
            <a:pPr indent="0" marL="0">
              <a:buNone/>
            </a:pPr>
            <a:r>
              <a:rPr lang="en-US" sz="2000" b="1" dirty="0">
                <a:solidFill>
                  <a:srgbClr val="38BDF8"/>
                </a:solidFill>
                <a:latin typeface="Arial" pitchFamily="34" charset="0"/>
                <a:ea typeface="Arial" pitchFamily="34" charset="-122"/>
                <a:cs typeface="Arial" pitchFamily="34" charset="-120"/>
              </a:rPr>
              <a:t>03</a:t>
            </a:r>
            <a:endParaRPr lang="en-US" sz="2000" dirty="0"/>
          </a:p>
        </p:txBody>
      </p:sp>
      <p:sp>
        <p:nvSpPr>
          <p:cNvPr id="20" name="Shape 18"/>
          <p:cNvSpPr/>
          <p:nvPr/>
        </p:nvSpPr>
        <p:spPr>
          <a:xfrm>
            <a:off x="3657600" y="4251960"/>
            <a:ext cx="2011680" cy="292608"/>
          </a:xfrm>
          <a:prstGeom prst="roundRect">
            <a:avLst>
              <a:gd name="adj" fmla="val 31250"/>
            </a:avLst>
          </a:prstGeom>
          <a:solidFill>
            <a:srgbClr val="2B1B26"/>
          </a:solidFill>
          <a:ln w="12700">
            <a:solidFill>
              <a:srgbClr val="F59E0B"/>
            </a:solidFill>
            <a:prstDash val="solid"/>
          </a:ln>
        </p:spPr>
      </p:sp>
      <p:sp>
        <p:nvSpPr>
          <p:cNvPr id="21" name="Text 19"/>
          <p:cNvSpPr/>
          <p:nvPr/>
        </p:nvSpPr>
        <p:spPr>
          <a:xfrm>
            <a:off x="3657600" y="4251960"/>
            <a:ext cx="2011680" cy="292608"/>
          </a:xfrm>
          <a:prstGeom prst="rect">
            <a:avLst/>
          </a:prstGeom>
          <a:noFill/>
          <a:ln/>
        </p:spPr>
        <p:txBody>
          <a:bodyPr wrap="square" rtlCol="0" anchor="ctr"/>
          <a:lstStyle/>
          <a:p>
            <a:pPr algn="ctr" indent="0" marL="0">
              <a:buNone/>
            </a:pPr>
            <a:r>
              <a:rPr lang="en-US" sz="900" b="1" dirty="0">
                <a:solidFill>
                  <a:srgbClr val="F59E0B"/>
                </a:solidFill>
                <a:latin typeface="Arial" pitchFamily="34" charset="0"/>
                <a:ea typeface="Arial" pitchFamily="34" charset="-122"/>
                <a:cs typeface="Arial" pitchFamily="34" charset="-120"/>
              </a:rPr>
              <a:t>RISK: TOXICITY</a:t>
            </a:r>
            <a:endParaRPr lang="en-US" sz="900" dirty="0"/>
          </a:p>
        </p:txBody>
      </p:sp>
      <p:sp>
        <p:nvSpPr>
          <p:cNvPr id="22" name="Text 20"/>
          <p:cNvSpPr/>
          <p:nvPr/>
        </p:nvSpPr>
        <p:spPr>
          <a:xfrm>
            <a:off x="1005840" y="4663440"/>
            <a:ext cx="4663440" cy="36576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Silent Drug-Drug Interactions (DDI)</a:t>
            </a:r>
            <a:endParaRPr lang="en-US" sz="1400" dirty="0"/>
          </a:p>
        </p:txBody>
      </p:sp>
      <p:sp>
        <p:nvSpPr>
          <p:cNvPr id="23" name="Text 21"/>
          <p:cNvSpPr/>
          <p:nvPr/>
        </p:nvSpPr>
        <p:spPr>
          <a:xfrm>
            <a:off x="1005840" y="5074920"/>
            <a:ext cx="4663440" cy="9144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Over 38% of consumers take concurrent Over-The-Counter (OTC) drugs with hidden duplications or severe contraindications (e.g., combining NSAIDs + blood thinners without realizing the gastrointestinal hemorrhage risk).</a:t>
            </a:r>
            <a:endParaRPr lang="en-US" sz="1100" dirty="0"/>
          </a:p>
        </p:txBody>
      </p:sp>
      <p:sp>
        <p:nvSpPr>
          <p:cNvPr id="24" name="Shape 22"/>
          <p:cNvSpPr/>
          <p:nvPr/>
        </p:nvSpPr>
        <p:spPr>
          <a:xfrm>
            <a:off x="6126480" y="4069080"/>
            <a:ext cx="5212080" cy="2057400"/>
          </a:xfrm>
          <a:prstGeom prst="roundRect">
            <a:avLst>
              <a:gd name="adj" fmla="val 5333"/>
            </a:avLst>
          </a:prstGeom>
          <a:solidFill>
            <a:srgbClr val="1C2541"/>
          </a:solidFill>
          <a:ln w="12700">
            <a:solidFill>
              <a:srgbClr val="3A506B"/>
            </a:solidFill>
            <a:prstDash val="solid"/>
          </a:ln>
        </p:spPr>
      </p:sp>
      <p:sp>
        <p:nvSpPr>
          <p:cNvPr id="25" name="Text 23"/>
          <p:cNvSpPr/>
          <p:nvPr/>
        </p:nvSpPr>
        <p:spPr>
          <a:xfrm>
            <a:off x="6400800" y="4251960"/>
            <a:ext cx="731520" cy="365760"/>
          </a:xfrm>
          <a:prstGeom prst="rect">
            <a:avLst/>
          </a:prstGeom>
          <a:noFill/>
          <a:ln/>
        </p:spPr>
        <p:txBody>
          <a:bodyPr wrap="square" rtlCol="0" anchor="ctr"/>
          <a:lstStyle/>
          <a:p>
            <a:pPr indent="0" marL="0">
              <a:buNone/>
            </a:pPr>
            <a:r>
              <a:rPr lang="en-US" sz="2000" b="1" dirty="0">
                <a:solidFill>
                  <a:srgbClr val="38BDF8"/>
                </a:solidFill>
                <a:latin typeface="Arial" pitchFamily="34" charset="0"/>
                <a:ea typeface="Arial" pitchFamily="34" charset="-122"/>
                <a:cs typeface="Arial" pitchFamily="34" charset="-120"/>
              </a:rPr>
              <a:t>04</a:t>
            </a:r>
            <a:endParaRPr lang="en-US" sz="2000" dirty="0"/>
          </a:p>
        </p:txBody>
      </p:sp>
      <p:sp>
        <p:nvSpPr>
          <p:cNvPr id="26" name="Shape 24"/>
          <p:cNvSpPr/>
          <p:nvPr/>
        </p:nvSpPr>
        <p:spPr>
          <a:xfrm>
            <a:off x="9052560" y="4251960"/>
            <a:ext cx="2011680" cy="292608"/>
          </a:xfrm>
          <a:prstGeom prst="roundRect">
            <a:avLst>
              <a:gd name="adj" fmla="val 31250"/>
            </a:avLst>
          </a:prstGeom>
          <a:solidFill>
            <a:srgbClr val="2B1B26"/>
          </a:solidFill>
          <a:ln w="12700">
            <a:solidFill>
              <a:srgbClr val="F59E0B"/>
            </a:solidFill>
            <a:prstDash val="solid"/>
          </a:ln>
        </p:spPr>
      </p:sp>
      <p:sp>
        <p:nvSpPr>
          <p:cNvPr id="27" name="Text 25"/>
          <p:cNvSpPr/>
          <p:nvPr/>
        </p:nvSpPr>
        <p:spPr>
          <a:xfrm>
            <a:off x="9052560" y="4251960"/>
            <a:ext cx="2011680" cy="292608"/>
          </a:xfrm>
          <a:prstGeom prst="rect">
            <a:avLst/>
          </a:prstGeom>
          <a:noFill/>
          <a:ln/>
        </p:spPr>
        <p:txBody>
          <a:bodyPr wrap="square" rtlCol="0" anchor="ctr"/>
          <a:lstStyle/>
          <a:p>
            <a:pPr algn="ctr" indent="0" marL="0">
              <a:buNone/>
            </a:pPr>
            <a:r>
              <a:rPr lang="en-US" sz="900" b="1" dirty="0">
                <a:solidFill>
                  <a:srgbClr val="F59E0B"/>
                </a:solidFill>
                <a:latin typeface="Arial" pitchFamily="34" charset="0"/>
                <a:ea typeface="Arial" pitchFamily="34" charset="-122"/>
                <a:cs typeface="Arial" pitchFamily="34" charset="-120"/>
              </a:rPr>
              <a:t>RISK: DATA EXPOSURE</a:t>
            </a:r>
            <a:endParaRPr lang="en-US" sz="900" dirty="0"/>
          </a:p>
        </p:txBody>
      </p:sp>
      <p:sp>
        <p:nvSpPr>
          <p:cNvPr id="28" name="Text 26"/>
          <p:cNvSpPr/>
          <p:nvPr/>
        </p:nvSpPr>
        <p:spPr>
          <a:xfrm>
            <a:off x="6400800" y="4663440"/>
            <a:ext cx="4663440" cy="36576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Severe PII &amp; Privacy Breaches</a:t>
            </a:r>
            <a:endParaRPr lang="en-US" sz="1400" dirty="0"/>
          </a:p>
        </p:txBody>
      </p:sp>
      <p:sp>
        <p:nvSpPr>
          <p:cNvPr id="29" name="Text 27"/>
          <p:cNvSpPr/>
          <p:nvPr/>
        </p:nvSpPr>
        <p:spPr>
          <a:xfrm>
            <a:off x="6400800" y="5074920"/>
            <a:ext cx="4663440" cy="91440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Patients are routinely coerced into uploading full PDFs containing Names, Social Security/MRN numbers, and physician notes directly to unvetted cloud chat endpoints.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731520" y="411480"/>
            <a:ext cx="2377440" cy="320040"/>
          </a:xfrm>
          <a:prstGeom prst="roundRect">
            <a:avLst>
              <a:gd name="adj" fmla="val 42857"/>
            </a:avLst>
          </a:prstGeom>
          <a:solidFill>
            <a:srgbClr val="132E48"/>
          </a:solidFill>
          <a:ln w="12700">
            <a:solidFill>
              <a:srgbClr val="38BDF8"/>
            </a:solidFill>
            <a:prstDash val="solid"/>
          </a:ln>
        </p:spPr>
      </p:sp>
      <p:sp>
        <p:nvSpPr>
          <p:cNvPr id="3" name="Text 1"/>
          <p:cNvSpPr/>
          <p:nvPr/>
        </p:nvSpPr>
        <p:spPr>
          <a:xfrm>
            <a:off x="731520" y="411480"/>
            <a:ext cx="2377440" cy="32004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SYSTEM ARCHITECTURE</a:t>
            </a:r>
            <a:endParaRPr lang="en-US" sz="1000" dirty="0"/>
          </a:p>
        </p:txBody>
      </p:sp>
      <p:sp>
        <p:nvSpPr>
          <p:cNvPr id="4" name="Text 2"/>
          <p:cNvSpPr/>
          <p:nvPr/>
        </p:nvSpPr>
        <p:spPr>
          <a:xfrm>
            <a:off x="731520" y="777240"/>
            <a:ext cx="10515600" cy="548640"/>
          </a:xfrm>
          <a:prstGeom prst="rect">
            <a:avLst/>
          </a:prstGeom>
          <a:noFill/>
          <a:ln/>
        </p:spPr>
        <p:txBody>
          <a:bodyPr wrap="square" rtlCol="0" anchor="ctr"/>
          <a:lstStyle/>
          <a:p>
            <a:pPr indent="0" marL="0">
              <a:buNone/>
            </a:pPr>
            <a:r>
              <a:rPr lang="en-US" sz="2400" b="1" dirty="0">
                <a:solidFill>
                  <a:srgbClr val="F8FAFC"/>
                </a:solidFill>
                <a:latin typeface="Arial" pitchFamily="34" charset="0"/>
                <a:ea typeface="Arial" pitchFamily="34" charset="-122"/>
                <a:cs typeface="Arial" pitchFamily="34" charset="-120"/>
              </a:rPr>
              <a:t>Full-Stack Pipeline: Deterministic Dual-Engine Verification</a:t>
            </a:r>
            <a:endParaRPr lang="en-US" sz="2400" dirty="0"/>
          </a:p>
        </p:txBody>
      </p:sp>
      <p:sp>
        <p:nvSpPr>
          <p:cNvPr id="5" name="Text 3"/>
          <p:cNvSpPr/>
          <p:nvPr/>
        </p:nvSpPr>
        <p:spPr>
          <a:xfrm>
            <a:off x="731520" y="128016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Separation of AI extraction from code-level deterministic verification</a:t>
            </a:r>
            <a:endParaRPr lang="en-US" sz="1300" dirty="0"/>
          </a:p>
        </p:txBody>
      </p:sp>
      <p:sp>
        <p:nvSpPr>
          <p:cNvPr id="6" name="Shape 4"/>
          <p:cNvSpPr/>
          <p:nvPr/>
        </p:nvSpPr>
        <p:spPr>
          <a:xfrm>
            <a:off x="731520" y="1828800"/>
            <a:ext cx="5120640" cy="4389120"/>
          </a:xfrm>
          <a:prstGeom prst="roundRect">
            <a:avLst>
              <a:gd name="adj" fmla="val 2500"/>
            </a:avLst>
          </a:prstGeom>
          <a:solidFill>
            <a:srgbClr val="1C2541"/>
          </a:solidFill>
          <a:ln w="19050">
            <a:solidFill>
              <a:srgbClr val="38BDF8"/>
            </a:solidFill>
            <a:prstDash val="solid"/>
          </a:ln>
        </p:spPr>
      </p:sp>
      <p:sp>
        <p:nvSpPr>
          <p:cNvPr id="7" name="Text 5"/>
          <p:cNvSpPr/>
          <p:nvPr/>
        </p:nvSpPr>
        <p:spPr>
          <a:xfrm>
            <a:off x="1005840" y="2011680"/>
            <a:ext cx="4572000" cy="320040"/>
          </a:xfrm>
          <a:prstGeom prst="rect">
            <a:avLst/>
          </a:prstGeom>
          <a:noFill/>
          <a:ln/>
        </p:spPr>
        <p:txBody>
          <a:bodyPr wrap="square" rtlCol="0" anchor="ctr"/>
          <a:lstStyle/>
          <a:p>
            <a:pPr indent="0" marL="0">
              <a:buNone/>
            </a:pPr>
            <a:r>
              <a:rPr lang="en-US" sz="1300" b="1" dirty="0">
                <a:solidFill>
                  <a:srgbClr val="38BDF8"/>
                </a:solidFill>
                <a:latin typeface="Arial" pitchFamily="34" charset="0"/>
                <a:ea typeface="Arial" pitchFamily="34" charset="-122"/>
                <a:cs typeface="Arial" pitchFamily="34" charset="-120"/>
              </a:rPr>
              <a:t>ENGINEERING ARCHITECTURE</a:t>
            </a:r>
            <a:endParaRPr lang="en-US" sz="1300" dirty="0"/>
          </a:p>
        </p:txBody>
      </p:sp>
      <p:sp>
        <p:nvSpPr>
          <p:cNvPr id="8" name="Text 6"/>
          <p:cNvSpPr/>
          <p:nvPr/>
        </p:nvSpPr>
        <p:spPr>
          <a:xfrm>
            <a:off x="1005840" y="2423160"/>
            <a:ext cx="4572000" cy="32004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Frontend &amp; SSR Runtime: </a:t>
            </a:r>
            <a:endParaRPr lang="en-US" sz="1100" dirty="0"/>
          </a:p>
        </p:txBody>
      </p:sp>
      <p:sp>
        <p:nvSpPr>
          <p:cNvPr id="9" name="Text 7"/>
          <p:cNvSpPr/>
          <p:nvPr/>
        </p:nvSpPr>
        <p:spPr>
          <a:xfrm>
            <a:off x="1188720" y="2697480"/>
            <a:ext cx="4389120" cy="45720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TanStack Start + React 19 + Nitro server engine on Vite 8.</a:t>
            </a:r>
            <a:endParaRPr lang="en-US" sz="1050" dirty="0"/>
          </a:p>
        </p:txBody>
      </p:sp>
      <p:sp>
        <p:nvSpPr>
          <p:cNvPr id="10" name="Text 8"/>
          <p:cNvSpPr/>
          <p:nvPr/>
        </p:nvSpPr>
        <p:spPr>
          <a:xfrm>
            <a:off x="1005840" y="3172968"/>
            <a:ext cx="4572000" cy="32004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Resilient AI Gateway: </a:t>
            </a:r>
            <a:endParaRPr lang="en-US" sz="1100" dirty="0"/>
          </a:p>
        </p:txBody>
      </p:sp>
      <p:sp>
        <p:nvSpPr>
          <p:cNvPr id="11" name="Text 9"/>
          <p:cNvSpPr/>
          <p:nvPr/>
        </p:nvSpPr>
        <p:spPr>
          <a:xfrm>
            <a:off x="1188720" y="3447288"/>
            <a:ext cx="4389120" cy="45720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Vercel AI SDK with Google Gemini 2.5 Flash + multi-model fallback queue.</a:t>
            </a:r>
            <a:endParaRPr lang="en-US" sz="1050" dirty="0"/>
          </a:p>
        </p:txBody>
      </p:sp>
      <p:sp>
        <p:nvSpPr>
          <p:cNvPr id="12" name="Text 10"/>
          <p:cNvSpPr/>
          <p:nvPr/>
        </p:nvSpPr>
        <p:spPr>
          <a:xfrm>
            <a:off x="1005840" y="3922776"/>
            <a:ext cx="4572000" cy="32004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State &amp; Interaction: </a:t>
            </a:r>
            <a:endParaRPr lang="en-US" sz="1100" dirty="0"/>
          </a:p>
        </p:txBody>
      </p:sp>
      <p:sp>
        <p:nvSpPr>
          <p:cNvPr id="13" name="Text 11"/>
          <p:cNvSpPr/>
          <p:nvPr/>
        </p:nvSpPr>
        <p:spPr>
          <a:xfrm>
            <a:off x="1188720" y="4197096"/>
            <a:ext cx="4389120" cy="45720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Type-safe routing, Tailwind CSS v4 design tokens, Radix UI primitives.</a:t>
            </a:r>
            <a:endParaRPr lang="en-US" sz="1050" dirty="0"/>
          </a:p>
        </p:txBody>
      </p:sp>
      <p:sp>
        <p:nvSpPr>
          <p:cNvPr id="14" name="Text 12"/>
          <p:cNvSpPr/>
          <p:nvPr/>
        </p:nvSpPr>
        <p:spPr>
          <a:xfrm>
            <a:off x="1005840" y="4672584"/>
            <a:ext cx="4572000" cy="32004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Offline Guest &amp; Auth: </a:t>
            </a:r>
            <a:endParaRPr lang="en-US" sz="1100" dirty="0"/>
          </a:p>
        </p:txBody>
      </p:sp>
      <p:sp>
        <p:nvSpPr>
          <p:cNvPr id="15" name="Text 13"/>
          <p:cNvSpPr/>
          <p:nvPr/>
        </p:nvSpPr>
        <p:spPr>
          <a:xfrm>
            <a:off x="1188720" y="4946904"/>
            <a:ext cx="4389120" cy="45720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Zero-barrier guest mode with optional Supabase OAuth &amp; RLS storage.</a:t>
            </a:r>
            <a:endParaRPr lang="en-US" sz="1050" dirty="0"/>
          </a:p>
        </p:txBody>
      </p:sp>
      <p:sp>
        <p:nvSpPr>
          <p:cNvPr id="16" name="Text 14"/>
          <p:cNvSpPr/>
          <p:nvPr/>
        </p:nvSpPr>
        <p:spPr>
          <a:xfrm>
            <a:off x="1005840" y="5422392"/>
            <a:ext cx="4572000" cy="32004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Deterministic Gatekeeper: </a:t>
            </a:r>
            <a:endParaRPr lang="en-US" sz="1100" dirty="0"/>
          </a:p>
        </p:txBody>
      </p:sp>
      <p:sp>
        <p:nvSpPr>
          <p:cNvPr id="17" name="Text 15"/>
          <p:cNvSpPr/>
          <p:nvPr/>
        </p:nvSpPr>
        <p:spPr>
          <a:xfrm>
            <a:off x="1188720" y="5696712"/>
            <a:ext cx="4389120" cy="45720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Pure TypeScript verification engines; AI never sets abnormal flags.</a:t>
            </a:r>
            <a:endParaRPr lang="en-US" sz="1050" dirty="0"/>
          </a:p>
        </p:txBody>
      </p:sp>
      <p:sp>
        <p:nvSpPr>
          <p:cNvPr id="18" name="Shape 16"/>
          <p:cNvSpPr/>
          <p:nvPr/>
        </p:nvSpPr>
        <p:spPr>
          <a:xfrm>
            <a:off x="6217920" y="1828800"/>
            <a:ext cx="5212080" cy="960120"/>
          </a:xfrm>
          <a:prstGeom prst="roundRect">
            <a:avLst>
              <a:gd name="adj" fmla="val 9524"/>
            </a:avLst>
          </a:prstGeom>
          <a:solidFill>
            <a:srgbClr val="132240"/>
          </a:solidFill>
          <a:ln w="12700">
            <a:solidFill>
              <a:srgbClr val="0D9488"/>
            </a:solidFill>
            <a:prstDash val="solid"/>
          </a:ln>
        </p:spPr>
      </p:sp>
      <p:sp>
        <p:nvSpPr>
          <p:cNvPr id="19" name="Text 17"/>
          <p:cNvSpPr/>
          <p:nvPr/>
        </p:nvSpPr>
        <p:spPr>
          <a:xfrm>
            <a:off x="6400800" y="1938528"/>
            <a:ext cx="4846320" cy="274320"/>
          </a:xfrm>
          <a:prstGeom prst="rect">
            <a:avLst/>
          </a:prstGeom>
          <a:noFill/>
          <a:ln/>
        </p:spPr>
        <p:txBody>
          <a:bodyPr wrap="square" rtlCol="0" anchor="ctr"/>
          <a:lstStyle/>
          <a:p>
            <a:pPr indent="0" marL="0">
              <a:buNone/>
            </a:pPr>
            <a:r>
              <a:rPr lang="en-US" sz="1100" b="1" dirty="0">
                <a:solidFill>
                  <a:srgbClr val="14B8A6"/>
                </a:solidFill>
                <a:latin typeface="Arial" pitchFamily="34" charset="0"/>
                <a:ea typeface="Arial" pitchFamily="34" charset="-122"/>
                <a:cs typeface="Arial" pitchFamily="34" charset="-120"/>
              </a:rPr>
              <a:t>STAGE 1: INPUT ACQUISITION</a:t>
            </a:r>
            <a:endParaRPr lang="en-US" sz="1100" dirty="0"/>
          </a:p>
        </p:txBody>
      </p:sp>
      <p:sp>
        <p:nvSpPr>
          <p:cNvPr id="20" name="Text 18"/>
          <p:cNvSpPr/>
          <p:nvPr/>
        </p:nvSpPr>
        <p:spPr>
          <a:xfrm>
            <a:off x="6400800" y="2212848"/>
            <a:ext cx="4846320" cy="502920"/>
          </a:xfrm>
          <a:prstGeom prst="rect">
            <a:avLst/>
          </a:prstGeom>
          <a:noFill/>
          <a:ln/>
        </p:spPr>
        <p:txBody>
          <a:bodyPr wrap="square" rtlCol="0" anchor="ctr"/>
          <a:lstStyle/>
          <a:p>
            <a:pPr indent="0" marL="0">
              <a:buNone/>
            </a:pPr>
            <a:r>
              <a:rPr lang="en-US" sz="1000" dirty="0">
                <a:solidFill>
                  <a:srgbClr val="F8FAFC"/>
                </a:solidFill>
                <a:latin typeface="Arial" pitchFamily="34" charset="0"/>
                <a:ea typeface="Arial" pitchFamily="34" charset="-122"/>
                <a:cs typeface="Arial" pitchFamily="34" charset="-120"/>
              </a:rPr>
              <a:t>PDF Text-Layer Extraction (pdfjs-dist) or Packaging Photo OCR with magic-byte validation.</a:t>
            </a:r>
            <a:endParaRPr lang="en-US" sz="1000" dirty="0"/>
          </a:p>
        </p:txBody>
      </p:sp>
      <p:sp>
        <p:nvSpPr>
          <p:cNvPr id="21" name="Shape 19"/>
          <p:cNvSpPr/>
          <p:nvPr/>
        </p:nvSpPr>
        <p:spPr>
          <a:xfrm>
            <a:off x="6217920" y="2926080"/>
            <a:ext cx="5212080" cy="960120"/>
          </a:xfrm>
          <a:prstGeom prst="roundRect">
            <a:avLst>
              <a:gd name="adj" fmla="val 9524"/>
            </a:avLst>
          </a:prstGeom>
          <a:solidFill>
            <a:srgbClr val="132240"/>
          </a:solidFill>
          <a:ln w="12700">
            <a:solidFill>
              <a:srgbClr val="0D9488"/>
            </a:solidFill>
            <a:prstDash val="solid"/>
          </a:ln>
        </p:spPr>
      </p:sp>
      <p:sp>
        <p:nvSpPr>
          <p:cNvPr id="22" name="Text 20"/>
          <p:cNvSpPr/>
          <p:nvPr/>
        </p:nvSpPr>
        <p:spPr>
          <a:xfrm>
            <a:off x="6400800" y="3035808"/>
            <a:ext cx="4846320" cy="274320"/>
          </a:xfrm>
          <a:prstGeom prst="rect">
            <a:avLst/>
          </a:prstGeom>
          <a:noFill/>
          <a:ln/>
        </p:spPr>
        <p:txBody>
          <a:bodyPr wrap="square" rtlCol="0" anchor="ctr"/>
          <a:lstStyle/>
          <a:p>
            <a:pPr indent="0" marL="0">
              <a:buNone/>
            </a:pPr>
            <a:r>
              <a:rPr lang="en-US" sz="1100" b="1" dirty="0">
                <a:solidFill>
                  <a:srgbClr val="14B8A6"/>
                </a:solidFill>
                <a:latin typeface="Arial" pitchFamily="34" charset="0"/>
                <a:ea typeface="Arial" pitchFamily="34" charset="-122"/>
                <a:cs typeface="Arial" pitchFamily="34" charset="-120"/>
              </a:rPr>
              <a:t>STAGE 2: EXTRACTION &amp; QUOTE LOCKING</a:t>
            </a:r>
            <a:endParaRPr lang="en-US" sz="1100" dirty="0"/>
          </a:p>
        </p:txBody>
      </p:sp>
      <p:sp>
        <p:nvSpPr>
          <p:cNvPr id="23" name="Text 21"/>
          <p:cNvSpPr/>
          <p:nvPr/>
        </p:nvSpPr>
        <p:spPr>
          <a:xfrm>
            <a:off x="6400800" y="3310128"/>
            <a:ext cx="4846320" cy="502920"/>
          </a:xfrm>
          <a:prstGeom prst="rect">
            <a:avLst/>
          </a:prstGeom>
          <a:noFill/>
          <a:ln/>
        </p:spPr>
        <p:txBody>
          <a:bodyPr wrap="square" rtlCol="0" anchor="ctr"/>
          <a:lstStyle/>
          <a:p>
            <a:pPr indent="0" marL="0">
              <a:buNone/>
            </a:pPr>
            <a:r>
              <a:rPr lang="en-US" sz="1000" dirty="0">
                <a:solidFill>
                  <a:srgbClr val="F8FAFC"/>
                </a:solidFill>
                <a:latin typeface="Arial" pitchFamily="34" charset="0"/>
                <a:ea typeface="Arial" pitchFamily="34" charset="-122"/>
                <a:cs typeface="Arial" pitchFamily="34" charset="-120"/>
              </a:rPr>
              <a:t>Gemini extracts structured candidate tuples; engine verifies exact verbatim substring quotes.</a:t>
            </a:r>
            <a:endParaRPr lang="en-US" sz="1000" dirty="0"/>
          </a:p>
        </p:txBody>
      </p:sp>
      <p:sp>
        <p:nvSpPr>
          <p:cNvPr id="24" name="Shape 22"/>
          <p:cNvSpPr/>
          <p:nvPr/>
        </p:nvSpPr>
        <p:spPr>
          <a:xfrm>
            <a:off x="6217920" y="4023360"/>
            <a:ext cx="5212080" cy="960120"/>
          </a:xfrm>
          <a:prstGeom prst="roundRect">
            <a:avLst>
              <a:gd name="adj" fmla="val 9524"/>
            </a:avLst>
          </a:prstGeom>
          <a:solidFill>
            <a:srgbClr val="132240"/>
          </a:solidFill>
          <a:ln w="12700">
            <a:solidFill>
              <a:srgbClr val="0D9488"/>
            </a:solidFill>
            <a:prstDash val="solid"/>
          </a:ln>
        </p:spPr>
      </p:sp>
      <p:sp>
        <p:nvSpPr>
          <p:cNvPr id="25" name="Text 23"/>
          <p:cNvSpPr/>
          <p:nvPr/>
        </p:nvSpPr>
        <p:spPr>
          <a:xfrm>
            <a:off x="6400800" y="4133088"/>
            <a:ext cx="4846320" cy="274320"/>
          </a:xfrm>
          <a:prstGeom prst="rect">
            <a:avLst/>
          </a:prstGeom>
          <a:noFill/>
          <a:ln/>
        </p:spPr>
        <p:txBody>
          <a:bodyPr wrap="square" rtlCol="0" anchor="ctr"/>
          <a:lstStyle/>
          <a:p>
            <a:pPr indent="0" marL="0">
              <a:buNone/>
            </a:pPr>
            <a:r>
              <a:rPr lang="en-US" sz="1100" b="1" dirty="0">
                <a:solidFill>
                  <a:srgbClr val="14B8A6"/>
                </a:solidFill>
                <a:latin typeface="Arial" pitchFamily="34" charset="0"/>
                <a:ea typeface="Arial" pitchFamily="34" charset="-122"/>
                <a:cs typeface="Arial" pitchFamily="34" charset="-120"/>
              </a:rPr>
              <a:t>STAGE 3: DETERMINISTIC EVALUATION</a:t>
            </a:r>
            <a:endParaRPr lang="en-US" sz="1100" dirty="0"/>
          </a:p>
        </p:txBody>
      </p:sp>
      <p:sp>
        <p:nvSpPr>
          <p:cNvPr id="26" name="Text 24"/>
          <p:cNvSpPr/>
          <p:nvPr/>
        </p:nvSpPr>
        <p:spPr>
          <a:xfrm>
            <a:off x="6400800" y="4407408"/>
            <a:ext cx="4846320" cy="502920"/>
          </a:xfrm>
          <a:prstGeom prst="rect">
            <a:avLst/>
          </a:prstGeom>
          <a:noFill/>
          <a:ln/>
        </p:spPr>
        <p:txBody>
          <a:bodyPr wrap="square" rtlCol="0" anchor="ctr"/>
          <a:lstStyle/>
          <a:p>
            <a:pPr indent="0" marL="0">
              <a:buNone/>
            </a:pPr>
            <a:r>
              <a:rPr lang="en-US" sz="1000" dirty="0">
                <a:solidFill>
                  <a:srgbClr val="F8FAFC"/>
                </a:solidFill>
                <a:latin typeface="Arial" pitchFamily="34" charset="0"/>
                <a:ea typeface="Arial" pitchFamily="34" charset="-122"/>
                <a:cs typeface="Arial" pitchFamily="34" charset="-120"/>
              </a:rPr>
              <a:t>Report Lens computes range bounds; Medicine Lens normalizes aliases &amp; cross-checks openFDA.</a:t>
            </a:r>
            <a:endParaRPr lang="en-US" sz="1000" dirty="0"/>
          </a:p>
        </p:txBody>
      </p:sp>
      <p:sp>
        <p:nvSpPr>
          <p:cNvPr id="27" name="Shape 25"/>
          <p:cNvSpPr/>
          <p:nvPr/>
        </p:nvSpPr>
        <p:spPr>
          <a:xfrm>
            <a:off x="6217920" y="5120640"/>
            <a:ext cx="5212080" cy="960120"/>
          </a:xfrm>
          <a:prstGeom prst="roundRect">
            <a:avLst>
              <a:gd name="adj" fmla="val 9524"/>
            </a:avLst>
          </a:prstGeom>
          <a:solidFill>
            <a:srgbClr val="132240"/>
          </a:solidFill>
          <a:ln w="12700">
            <a:solidFill>
              <a:srgbClr val="0D9488"/>
            </a:solidFill>
            <a:prstDash val="solid"/>
          </a:ln>
        </p:spPr>
      </p:sp>
      <p:sp>
        <p:nvSpPr>
          <p:cNvPr id="28" name="Text 26"/>
          <p:cNvSpPr/>
          <p:nvPr/>
        </p:nvSpPr>
        <p:spPr>
          <a:xfrm>
            <a:off x="6400800" y="5230368"/>
            <a:ext cx="4846320" cy="274320"/>
          </a:xfrm>
          <a:prstGeom prst="rect">
            <a:avLst/>
          </a:prstGeom>
          <a:noFill/>
          <a:ln/>
        </p:spPr>
        <p:txBody>
          <a:bodyPr wrap="square" rtlCol="0" anchor="ctr"/>
          <a:lstStyle/>
          <a:p>
            <a:pPr indent="0" marL="0">
              <a:buNone/>
            </a:pPr>
            <a:r>
              <a:rPr lang="en-US" sz="1100" b="1" dirty="0">
                <a:solidFill>
                  <a:srgbClr val="14B8A6"/>
                </a:solidFill>
                <a:latin typeface="Arial" pitchFamily="34" charset="0"/>
                <a:ea typeface="Arial" pitchFamily="34" charset="-122"/>
                <a:cs typeface="Arial" pitchFamily="34" charset="-120"/>
              </a:rPr>
              <a:t>STAGE 4: SEALING &amp; EXPORT</a:t>
            </a:r>
            <a:endParaRPr lang="en-US" sz="1100" dirty="0"/>
          </a:p>
        </p:txBody>
      </p:sp>
      <p:sp>
        <p:nvSpPr>
          <p:cNvPr id="29" name="Text 27"/>
          <p:cNvSpPr/>
          <p:nvPr/>
        </p:nvSpPr>
        <p:spPr>
          <a:xfrm>
            <a:off x="6400800" y="5504688"/>
            <a:ext cx="4846320" cy="502920"/>
          </a:xfrm>
          <a:prstGeom prst="rect">
            <a:avLst/>
          </a:prstGeom>
          <a:noFill/>
          <a:ln/>
        </p:spPr>
        <p:txBody>
          <a:bodyPr wrap="square" rtlCol="0" anchor="ctr"/>
          <a:lstStyle/>
          <a:p>
            <a:pPr indent="0" marL="0">
              <a:buNone/>
            </a:pPr>
            <a:r>
              <a:rPr lang="en-US" sz="1000" dirty="0">
                <a:solidFill>
                  <a:srgbClr val="F8FAFC"/>
                </a:solidFill>
                <a:latin typeface="Arial" pitchFamily="34" charset="0"/>
                <a:ea typeface="Arial" pitchFamily="34" charset="-122"/>
                <a:cs typeface="Arial" pitchFamily="34" charset="-120"/>
              </a:rPr>
              <a:t>Zero-PII FNV-1a verification ID generated. Clinical brief exported to Markdown, CSV, or JSON.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731520" y="411480"/>
            <a:ext cx="2377440" cy="320040"/>
          </a:xfrm>
          <a:prstGeom prst="roundRect">
            <a:avLst>
              <a:gd name="adj" fmla="val 42857"/>
            </a:avLst>
          </a:prstGeom>
          <a:solidFill>
            <a:srgbClr val="132E48"/>
          </a:solidFill>
          <a:ln w="12700">
            <a:solidFill>
              <a:srgbClr val="38BDF8"/>
            </a:solidFill>
            <a:prstDash val="solid"/>
          </a:ln>
        </p:spPr>
      </p:sp>
      <p:sp>
        <p:nvSpPr>
          <p:cNvPr id="3" name="Text 1"/>
          <p:cNvSpPr/>
          <p:nvPr/>
        </p:nvSpPr>
        <p:spPr>
          <a:xfrm>
            <a:off x="731520" y="411480"/>
            <a:ext cx="2377440" cy="32004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MODULE DEEP-DIVE 1</a:t>
            </a:r>
            <a:endParaRPr lang="en-US" sz="1000" dirty="0"/>
          </a:p>
        </p:txBody>
      </p:sp>
      <p:sp>
        <p:nvSpPr>
          <p:cNvPr id="4" name="Text 2"/>
          <p:cNvSpPr/>
          <p:nvPr/>
        </p:nvSpPr>
        <p:spPr>
          <a:xfrm>
            <a:off x="731520" y="777240"/>
            <a:ext cx="10515600" cy="548640"/>
          </a:xfrm>
          <a:prstGeom prst="rect">
            <a:avLst/>
          </a:prstGeom>
          <a:noFill/>
          <a:ln/>
        </p:spPr>
        <p:txBody>
          <a:bodyPr wrap="square" rtlCol="0" anchor="ctr"/>
          <a:lstStyle/>
          <a:p>
            <a:pPr indent="0" marL="0">
              <a:buNone/>
            </a:pPr>
            <a:r>
              <a:rPr lang="en-US" sz="2400" b="1" dirty="0">
                <a:solidFill>
                  <a:srgbClr val="F8FAFC"/>
                </a:solidFill>
                <a:latin typeface="Arial" pitchFamily="34" charset="0"/>
                <a:ea typeface="Arial" pitchFamily="34" charset="-122"/>
                <a:cs typeface="Arial" pitchFamily="34" charset="-120"/>
              </a:rPr>
              <a:t>Report Lens: Evidence-Locked Laboratory Biomarker Extraction</a:t>
            </a:r>
            <a:endParaRPr lang="en-US" sz="2400" dirty="0"/>
          </a:p>
        </p:txBody>
      </p:sp>
      <p:sp>
        <p:nvSpPr>
          <p:cNvPr id="5" name="Text 3"/>
          <p:cNvSpPr/>
          <p:nvPr/>
        </p:nvSpPr>
        <p:spPr>
          <a:xfrm>
            <a:off x="731520" y="128016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How MediScan guarantees 0% hallucination on patient lab reports</a:t>
            </a:r>
            <a:endParaRPr lang="en-US" sz="1300" dirty="0"/>
          </a:p>
        </p:txBody>
      </p:sp>
      <p:sp>
        <p:nvSpPr>
          <p:cNvPr id="6" name="Shape 4"/>
          <p:cNvSpPr/>
          <p:nvPr/>
        </p:nvSpPr>
        <p:spPr>
          <a:xfrm>
            <a:off x="731520" y="1828800"/>
            <a:ext cx="5120640" cy="1280160"/>
          </a:xfrm>
          <a:prstGeom prst="roundRect">
            <a:avLst>
              <a:gd name="adj" fmla="val 7143"/>
            </a:avLst>
          </a:prstGeom>
          <a:solidFill>
            <a:srgbClr val="1C2541"/>
          </a:solidFill>
          <a:ln w="12700">
            <a:solidFill>
              <a:srgbClr val="3A506B"/>
            </a:solidFill>
            <a:prstDash val="solid"/>
          </a:ln>
        </p:spPr>
      </p:sp>
      <p:sp>
        <p:nvSpPr>
          <p:cNvPr id="7" name="Text 5"/>
          <p:cNvSpPr/>
          <p:nvPr/>
        </p:nvSpPr>
        <p:spPr>
          <a:xfrm>
            <a:off x="914400" y="1965960"/>
            <a:ext cx="4754880" cy="320040"/>
          </a:xfrm>
          <a:prstGeom prst="rect">
            <a:avLst/>
          </a:prstGeom>
          <a:noFill/>
          <a:ln/>
        </p:spPr>
        <p:txBody>
          <a:bodyPr wrap="square" rtlCol="0" anchor="ctr"/>
          <a:lstStyle/>
          <a:p>
            <a:pPr indent="0" marL="0">
              <a:buNone/>
            </a:pPr>
            <a:r>
              <a:rPr lang="en-US" sz="1300" b="1" dirty="0">
                <a:solidFill>
                  <a:srgbClr val="38BDF8"/>
                </a:solidFill>
                <a:latin typeface="Arial" pitchFamily="34" charset="0"/>
                <a:ea typeface="Arial" pitchFamily="34" charset="-122"/>
                <a:cs typeface="Arial" pitchFamily="34" charset="-120"/>
              </a:rPr>
              <a:t>Character-Level Quote Locking</a:t>
            </a:r>
            <a:endParaRPr lang="en-US" sz="1300" dirty="0"/>
          </a:p>
        </p:txBody>
      </p:sp>
      <p:sp>
        <p:nvSpPr>
          <p:cNvPr id="8" name="Text 6"/>
          <p:cNvSpPr/>
          <p:nvPr/>
        </p:nvSpPr>
        <p:spPr>
          <a:xfrm>
            <a:off x="914400" y="2286000"/>
            <a:ext cx="4754880" cy="73152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Every biomarker value, unit, and range is mapped to an exact verbatim character substring in the patient's original report. If a quote cannot be verified in the source text, it is instantly tagged UNVERIFIED.</a:t>
            </a:r>
            <a:endParaRPr lang="en-US" sz="1050" dirty="0"/>
          </a:p>
        </p:txBody>
      </p:sp>
      <p:sp>
        <p:nvSpPr>
          <p:cNvPr id="9" name="Shape 7"/>
          <p:cNvSpPr/>
          <p:nvPr/>
        </p:nvSpPr>
        <p:spPr>
          <a:xfrm>
            <a:off x="731520" y="3246120"/>
            <a:ext cx="5120640" cy="1280160"/>
          </a:xfrm>
          <a:prstGeom prst="roundRect">
            <a:avLst>
              <a:gd name="adj" fmla="val 7143"/>
            </a:avLst>
          </a:prstGeom>
          <a:solidFill>
            <a:srgbClr val="1C2541"/>
          </a:solidFill>
          <a:ln w="12700">
            <a:solidFill>
              <a:srgbClr val="3A506B"/>
            </a:solidFill>
            <a:prstDash val="solid"/>
          </a:ln>
        </p:spPr>
      </p:sp>
      <p:sp>
        <p:nvSpPr>
          <p:cNvPr id="10" name="Text 8"/>
          <p:cNvSpPr/>
          <p:nvPr/>
        </p:nvSpPr>
        <p:spPr>
          <a:xfrm>
            <a:off x="914400" y="3383280"/>
            <a:ext cx="4754880" cy="320040"/>
          </a:xfrm>
          <a:prstGeom prst="rect">
            <a:avLst/>
          </a:prstGeom>
          <a:noFill/>
          <a:ln/>
        </p:spPr>
        <p:txBody>
          <a:bodyPr wrap="square" rtlCol="0" anchor="ctr"/>
          <a:lstStyle/>
          <a:p>
            <a:pPr indent="0" marL="0">
              <a:buNone/>
            </a:pPr>
            <a:r>
              <a:rPr lang="en-US" sz="1300" b="1" dirty="0">
                <a:solidFill>
                  <a:srgbClr val="38BDF8"/>
                </a:solidFill>
                <a:latin typeface="Arial" pitchFamily="34" charset="0"/>
                <a:ea typeface="Arial" pitchFamily="34" charset="-122"/>
                <a:cs typeface="Arial" pitchFamily="34" charset="-120"/>
              </a:rPr>
              <a:t>Deterministic Range Comparison</a:t>
            </a:r>
            <a:endParaRPr lang="en-US" sz="1300" dirty="0"/>
          </a:p>
        </p:txBody>
      </p:sp>
      <p:sp>
        <p:nvSpPr>
          <p:cNvPr id="11" name="Text 9"/>
          <p:cNvSpPr/>
          <p:nvPr/>
        </p:nvSpPr>
        <p:spPr>
          <a:xfrm>
            <a:off x="914400" y="3703320"/>
            <a:ext cx="4754880" cy="73152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Our engine parses arbitrary clinical range formats (e.g., '13.5 - 17.5', '&lt; 100', '&gt;= 60', 'Negative') and deterministically classifies patient values into LOW, NORMAL, HIGH, or CRITICAL.</a:t>
            </a:r>
            <a:endParaRPr lang="en-US" sz="1050" dirty="0"/>
          </a:p>
        </p:txBody>
      </p:sp>
      <p:sp>
        <p:nvSpPr>
          <p:cNvPr id="12" name="Shape 10"/>
          <p:cNvSpPr/>
          <p:nvPr/>
        </p:nvSpPr>
        <p:spPr>
          <a:xfrm>
            <a:off x="731520" y="4663440"/>
            <a:ext cx="5120640" cy="1280160"/>
          </a:xfrm>
          <a:prstGeom prst="roundRect">
            <a:avLst>
              <a:gd name="adj" fmla="val 7143"/>
            </a:avLst>
          </a:prstGeom>
          <a:solidFill>
            <a:srgbClr val="1C2541"/>
          </a:solidFill>
          <a:ln w="12700">
            <a:solidFill>
              <a:srgbClr val="3A506B"/>
            </a:solidFill>
            <a:prstDash val="solid"/>
          </a:ln>
        </p:spPr>
      </p:sp>
      <p:sp>
        <p:nvSpPr>
          <p:cNvPr id="13" name="Text 11"/>
          <p:cNvSpPr/>
          <p:nvPr/>
        </p:nvSpPr>
        <p:spPr>
          <a:xfrm>
            <a:off x="914400" y="4800600"/>
            <a:ext cx="4754880" cy="320040"/>
          </a:xfrm>
          <a:prstGeom prst="rect">
            <a:avLst/>
          </a:prstGeom>
          <a:noFill/>
          <a:ln/>
        </p:spPr>
        <p:txBody>
          <a:bodyPr wrap="square" rtlCol="0" anchor="ctr"/>
          <a:lstStyle/>
          <a:p>
            <a:pPr indent="0" marL="0">
              <a:buNone/>
            </a:pPr>
            <a:r>
              <a:rPr lang="en-US" sz="1300" b="1" dirty="0">
                <a:solidFill>
                  <a:srgbClr val="38BDF8"/>
                </a:solidFill>
                <a:latin typeface="Arial" pitchFamily="34" charset="0"/>
                <a:ea typeface="Arial" pitchFamily="34" charset="-122"/>
                <a:cs typeface="Arial" pitchFamily="34" charset="-120"/>
              </a:rPr>
              <a:t>Plain vs. Technical Dual Mode</a:t>
            </a:r>
            <a:endParaRPr lang="en-US" sz="1300" dirty="0"/>
          </a:p>
        </p:txBody>
      </p:sp>
      <p:sp>
        <p:nvSpPr>
          <p:cNvPr id="14" name="Text 12"/>
          <p:cNvSpPr/>
          <p:nvPr/>
        </p:nvSpPr>
        <p:spPr>
          <a:xfrm>
            <a:off x="914400" y="5120640"/>
            <a:ext cx="4754880" cy="73152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Instant real-time toggle across screens. Patients view plain-English summaries and guided doctor questions; clinicians view raw intervals, exact units, and verification offsets.</a:t>
            </a:r>
            <a:endParaRPr lang="en-US" sz="1050" dirty="0"/>
          </a:p>
        </p:txBody>
      </p:sp>
      <p:sp>
        <p:nvSpPr>
          <p:cNvPr id="15" name="Shape 13"/>
          <p:cNvSpPr/>
          <p:nvPr/>
        </p:nvSpPr>
        <p:spPr>
          <a:xfrm>
            <a:off x="6217920" y="1828800"/>
            <a:ext cx="5212080" cy="4251960"/>
          </a:xfrm>
          <a:prstGeom prst="roundRect">
            <a:avLst>
              <a:gd name="adj" fmla="val 2581"/>
            </a:avLst>
          </a:prstGeom>
          <a:solidFill>
            <a:srgbClr val="111C38"/>
          </a:solidFill>
          <a:ln w="19050">
            <a:solidFill>
              <a:srgbClr val="0D9488"/>
            </a:solidFill>
            <a:prstDash val="solid"/>
          </a:ln>
        </p:spPr>
      </p:sp>
      <p:sp>
        <p:nvSpPr>
          <p:cNvPr id="16" name="Text 14"/>
          <p:cNvSpPr/>
          <p:nvPr/>
        </p:nvSpPr>
        <p:spPr>
          <a:xfrm>
            <a:off x="6492240" y="2011680"/>
            <a:ext cx="4663440" cy="274320"/>
          </a:xfrm>
          <a:prstGeom prst="rect">
            <a:avLst/>
          </a:prstGeom>
          <a:noFill/>
          <a:ln/>
        </p:spPr>
        <p:txBody>
          <a:bodyPr wrap="square" rtlCol="0" anchor="ctr"/>
          <a:lstStyle/>
          <a:p>
            <a:pPr indent="0" marL="0">
              <a:buNone/>
            </a:pPr>
            <a:r>
              <a:rPr lang="en-US" sz="1200" b="1" dirty="0">
                <a:solidFill>
                  <a:srgbClr val="14B8A6"/>
                </a:solidFill>
                <a:latin typeface="Arial" pitchFamily="34" charset="0"/>
                <a:ea typeface="Arial" pitchFamily="34" charset="-122"/>
                <a:cs typeface="Arial" pitchFamily="34" charset="-120"/>
              </a:rPr>
              <a:t>LIVE DETERMINISTIC FINDINGS ENGINE</a:t>
            </a:r>
            <a:endParaRPr lang="en-US" sz="1200" dirty="0"/>
          </a:p>
        </p:txBody>
      </p:sp>
      <p:sp>
        <p:nvSpPr>
          <p:cNvPr id="17" name="Text 15"/>
          <p:cNvSpPr/>
          <p:nvPr/>
        </p:nvSpPr>
        <p:spPr>
          <a:xfrm>
            <a:off x="6492240" y="2423160"/>
            <a:ext cx="1463040" cy="228600"/>
          </a:xfrm>
          <a:prstGeom prst="rect">
            <a:avLst/>
          </a:prstGeom>
          <a:noFill/>
          <a:ln/>
        </p:spPr>
        <p:txBody>
          <a:bodyPr wrap="square" rtlCol="0" anchor="ctr"/>
          <a:lstStyle/>
          <a:p>
            <a:pPr indent="0" marL="0">
              <a:buNone/>
            </a:pPr>
            <a:r>
              <a:rPr lang="en-US" sz="900" b="1" dirty="0">
                <a:solidFill>
                  <a:srgbClr val="94A3B8"/>
                </a:solidFill>
                <a:latin typeface="Arial" pitchFamily="34" charset="0"/>
                <a:ea typeface="Arial" pitchFamily="34" charset="-122"/>
                <a:cs typeface="Arial" pitchFamily="34" charset="-120"/>
              </a:rPr>
              <a:t>BIOMARKER</a:t>
            </a:r>
            <a:endParaRPr lang="en-US" sz="900" dirty="0"/>
          </a:p>
        </p:txBody>
      </p:sp>
      <p:sp>
        <p:nvSpPr>
          <p:cNvPr id="18" name="Text 16"/>
          <p:cNvSpPr/>
          <p:nvPr/>
        </p:nvSpPr>
        <p:spPr>
          <a:xfrm>
            <a:off x="7955280" y="2423160"/>
            <a:ext cx="822960" cy="228600"/>
          </a:xfrm>
          <a:prstGeom prst="rect">
            <a:avLst/>
          </a:prstGeom>
          <a:noFill/>
          <a:ln/>
        </p:spPr>
        <p:txBody>
          <a:bodyPr wrap="square" rtlCol="0" anchor="ctr"/>
          <a:lstStyle/>
          <a:p>
            <a:pPr indent="0" marL="0">
              <a:buNone/>
            </a:pPr>
            <a:r>
              <a:rPr lang="en-US" sz="900" b="1" dirty="0">
                <a:solidFill>
                  <a:srgbClr val="94A3B8"/>
                </a:solidFill>
                <a:latin typeface="Arial" pitchFamily="34" charset="0"/>
                <a:ea typeface="Arial" pitchFamily="34" charset="-122"/>
                <a:cs typeface="Arial" pitchFamily="34" charset="-120"/>
              </a:rPr>
              <a:t>VALUE</a:t>
            </a:r>
            <a:endParaRPr lang="en-US" sz="900" dirty="0"/>
          </a:p>
        </p:txBody>
      </p:sp>
      <p:sp>
        <p:nvSpPr>
          <p:cNvPr id="19" name="Text 17"/>
          <p:cNvSpPr/>
          <p:nvPr/>
        </p:nvSpPr>
        <p:spPr>
          <a:xfrm>
            <a:off x="8778240" y="2423160"/>
            <a:ext cx="1188720" cy="228600"/>
          </a:xfrm>
          <a:prstGeom prst="rect">
            <a:avLst/>
          </a:prstGeom>
          <a:noFill/>
          <a:ln/>
        </p:spPr>
        <p:txBody>
          <a:bodyPr wrap="square" rtlCol="0" anchor="ctr"/>
          <a:lstStyle/>
          <a:p>
            <a:pPr indent="0" marL="0">
              <a:buNone/>
            </a:pPr>
            <a:r>
              <a:rPr lang="en-US" sz="900" b="1" dirty="0">
                <a:solidFill>
                  <a:srgbClr val="94A3B8"/>
                </a:solidFill>
                <a:latin typeface="Arial" pitchFamily="34" charset="0"/>
                <a:ea typeface="Arial" pitchFamily="34" charset="-122"/>
                <a:cs typeface="Arial" pitchFamily="34" charset="-120"/>
              </a:rPr>
              <a:t>REF RANGE</a:t>
            </a:r>
            <a:endParaRPr lang="en-US" sz="900" dirty="0"/>
          </a:p>
        </p:txBody>
      </p:sp>
      <p:sp>
        <p:nvSpPr>
          <p:cNvPr id="20" name="Text 18"/>
          <p:cNvSpPr/>
          <p:nvPr/>
        </p:nvSpPr>
        <p:spPr>
          <a:xfrm>
            <a:off x="9966960" y="2423160"/>
            <a:ext cx="1280160" cy="228600"/>
          </a:xfrm>
          <a:prstGeom prst="rect">
            <a:avLst/>
          </a:prstGeom>
          <a:noFill/>
          <a:ln/>
        </p:spPr>
        <p:txBody>
          <a:bodyPr wrap="square" rtlCol="0" anchor="ctr"/>
          <a:lstStyle/>
          <a:p>
            <a:pPr indent="0" marL="0">
              <a:buNone/>
            </a:pPr>
            <a:r>
              <a:rPr lang="en-US" sz="900" b="1" dirty="0">
                <a:solidFill>
                  <a:srgbClr val="94A3B8"/>
                </a:solidFill>
                <a:latin typeface="Arial" pitchFamily="34" charset="0"/>
                <a:ea typeface="Arial" pitchFamily="34" charset="-122"/>
                <a:cs typeface="Arial" pitchFamily="34" charset="-120"/>
              </a:rPr>
              <a:t>STATUS</a:t>
            </a:r>
            <a:endParaRPr lang="en-US" sz="900" dirty="0"/>
          </a:p>
        </p:txBody>
      </p:sp>
      <p:sp>
        <p:nvSpPr>
          <p:cNvPr id="21" name="Shape 19"/>
          <p:cNvSpPr/>
          <p:nvPr/>
        </p:nvSpPr>
        <p:spPr>
          <a:xfrm>
            <a:off x="6400800" y="2743200"/>
            <a:ext cx="4846320" cy="731520"/>
          </a:xfrm>
          <a:prstGeom prst="rect">
            <a:avLst/>
          </a:prstGeom>
          <a:solidFill>
            <a:srgbClr val="182647"/>
          </a:solidFill>
          <a:ln w="12700">
            <a:solidFill>
              <a:srgbClr val="283A64"/>
            </a:solidFill>
            <a:prstDash val="solid"/>
          </a:ln>
        </p:spPr>
      </p:sp>
      <p:sp>
        <p:nvSpPr>
          <p:cNvPr id="22" name="Text 20"/>
          <p:cNvSpPr/>
          <p:nvPr/>
        </p:nvSpPr>
        <p:spPr>
          <a:xfrm>
            <a:off x="6492240" y="2816352"/>
            <a:ext cx="1463040" cy="27432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Hemoglobin</a:t>
            </a:r>
            <a:endParaRPr lang="en-US" sz="1100" dirty="0"/>
          </a:p>
        </p:txBody>
      </p:sp>
      <p:sp>
        <p:nvSpPr>
          <p:cNvPr id="23" name="Text 21"/>
          <p:cNvSpPr/>
          <p:nvPr/>
        </p:nvSpPr>
        <p:spPr>
          <a:xfrm>
            <a:off x="7955280" y="2816352"/>
            <a:ext cx="822960" cy="274320"/>
          </a:xfrm>
          <a:prstGeom prst="rect">
            <a:avLst/>
          </a:prstGeom>
          <a:noFill/>
          <a:ln/>
        </p:spPr>
        <p:txBody>
          <a:bodyPr wrap="square" rtlCol="0" anchor="ctr"/>
          <a:lstStyle/>
          <a:p>
            <a:pPr indent="0" marL="0">
              <a:buNone/>
            </a:pPr>
            <a:r>
              <a:rPr lang="en-US" sz="1050" dirty="0">
                <a:solidFill>
                  <a:srgbClr val="F8FAFC"/>
                </a:solidFill>
                <a:latin typeface="Arial" pitchFamily="34" charset="0"/>
                <a:ea typeface="Arial" pitchFamily="34" charset="-122"/>
                <a:cs typeface="Arial" pitchFamily="34" charset="-120"/>
              </a:rPr>
              <a:t>10.2 g/dL</a:t>
            </a:r>
            <a:endParaRPr lang="en-US" sz="1050" dirty="0"/>
          </a:p>
        </p:txBody>
      </p:sp>
      <p:sp>
        <p:nvSpPr>
          <p:cNvPr id="24" name="Text 22"/>
          <p:cNvSpPr/>
          <p:nvPr/>
        </p:nvSpPr>
        <p:spPr>
          <a:xfrm>
            <a:off x="8778240" y="2816352"/>
            <a:ext cx="1188720" cy="27432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13.5 - 17.5</a:t>
            </a:r>
            <a:endParaRPr lang="en-US" sz="1000" dirty="0"/>
          </a:p>
        </p:txBody>
      </p:sp>
      <p:sp>
        <p:nvSpPr>
          <p:cNvPr id="25" name="Shape 23"/>
          <p:cNvSpPr/>
          <p:nvPr/>
        </p:nvSpPr>
        <p:spPr>
          <a:xfrm>
            <a:off x="10058400" y="2816352"/>
            <a:ext cx="1005840" cy="256032"/>
          </a:xfrm>
          <a:prstGeom prst="roundRect">
            <a:avLst>
              <a:gd name="adj" fmla="val 35714"/>
            </a:avLst>
          </a:prstGeom>
          <a:solidFill>
            <a:srgbClr val="2B1B26"/>
          </a:solidFill>
          <a:ln w="12700">
            <a:solidFill>
              <a:srgbClr val="F43F5E"/>
            </a:solidFill>
            <a:prstDash val="solid"/>
          </a:ln>
        </p:spPr>
      </p:sp>
      <p:sp>
        <p:nvSpPr>
          <p:cNvPr id="26" name="Text 24"/>
          <p:cNvSpPr/>
          <p:nvPr/>
        </p:nvSpPr>
        <p:spPr>
          <a:xfrm>
            <a:off x="10058400" y="2816352"/>
            <a:ext cx="1005840" cy="256032"/>
          </a:xfrm>
          <a:prstGeom prst="rect">
            <a:avLst/>
          </a:prstGeom>
          <a:noFill/>
          <a:ln/>
        </p:spPr>
        <p:txBody>
          <a:bodyPr wrap="square" rtlCol="0" anchor="ctr"/>
          <a:lstStyle/>
          <a:p>
            <a:pPr algn="ctr" indent="0" marL="0">
              <a:buNone/>
            </a:pPr>
            <a:r>
              <a:rPr lang="en-US" sz="900" b="1" dirty="0">
                <a:solidFill>
                  <a:srgbClr val="F43F5E"/>
                </a:solidFill>
                <a:latin typeface="Arial" pitchFamily="34" charset="0"/>
                <a:ea typeface="Arial" pitchFamily="34" charset="-122"/>
                <a:cs typeface="Arial" pitchFamily="34" charset="-120"/>
              </a:rPr>
              <a:t>LOW</a:t>
            </a:r>
            <a:endParaRPr lang="en-US" sz="900" dirty="0"/>
          </a:p>
        </p:txBody>
      </p:sp>
      <p:sp>
        <p:nvSpPr>
          <p:cNvPr id="27" name="Text 25"/>
          <p:cNvSpPr/>
          <p:nvPr/>
        </p:nvSpPr>
        <p:spPr>
          <a:xfrm>
            <a:off x="6492240" y="3127248"/>
            <a:ext cx="4663440" cy="228600"/>
          </a:xfrm>
          <a:prstGeom prst="rect">
            <a:avLst/>
          </a:prstGeom>
          <a:noFill/>
          <a:ln/>
        </p:spPr>
        <p:txBody>
          <a:bodyPr wrap="square" rtlCol="0" anchor="ctr"/>
          <a:lstStyle/>
          <a:p>
            <a:pPr indent="0" marL="0">
              <a:buNone/>
            </a:pPr>
            <a:r>
              <a:rPr lang="en-US" sz="850" dirty="0">
                <a:solidFill>
                  <a:srgbClr val="38BDF8"/>
                </a:solidFill>
                <a:latin typeface="Arial" pitchFamily="34" charset="0"/>
                <a:ea typeface="Arial" pitchFamily="34" charset="-122"/>
                <a:cs typeface="Arial" pitchFamily="34" charset="-120"/>
              </a:rPr>
              <a:t>Locked Quote: "Hemoglobin: 10.2 g/dL" ✓</a:t>
            </a:r>
            <a:endParaRPr lang="en-US" sz="850" dirty="0"/>
          </a:p>
        </p:txBody>
      </p:sp>
      <p:sp>
        <p:nvSpPr>
          <p:cNvPr id="28" name="Shape 26"/>
          <p:cNvSpPr/>
          <p:nvPr/>
        </p:nvSpPr>
        <p:spPr>
          <a:xfrm>
            <a:off x="6400800" y="3566160"/>
            <a:ext cx="4846320" cy="731520"/>
          </a:xfrm>
          <a:prstGeom prst="rect">
            <a:avLst/>
          </a:prstGeom>
          <a:solidFill>
            <a:srgbClr val="182647"/>
          </a:solidFill>
          <a:ln w="12700">
            <a:solidFill>
              <a:srgbClr val="283A64"/>
            </a:solidFill>
            <a:prstDash val="solid"/>
          </a:ln>
        </p:spPr>
      </p:sp>
      <p:sp>
        <p:nvSpPr>
          <p:cNvPr id="29" name="Text 27"/>
          <p:cNvSpPr/>
          <p:nvPr/>
        </p:nvSpPr>
        <p:spPr>
          <a:xfrm>
            <a:off x="6492240" y="3639312"/>
            <a:ext cx="1463040" cy="27432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Platelet Count</a:t>
            </a:r>
            <a:endParaRPr lang="en-US" sz="1100" dirty="0"/>
          </a:p>
        </p:txBody>
      </p:sp>
      <p:sp>
        <p:nvSpPr>
          <p:cNvPr id="30" name="Text 28"/>
          <p:cNvSpPr/>
          <p:nvPr/>
        </p:nvSpPr>
        <p:spPr>
          <a:xfrm>
            <a:off x="7955280" y="3639312"/>
            <a:ext cx="822960" cy="274320"/>
          </a:xfrm>
          <a:prstGeom prst="rect">
            <a:avLst/>
          </a:prstGeom>
          <a:noFill/>
          <a:ln/>
        </p:spPr>
        <p:txBody>
          <a:bodyPr wrap="square" rtlCol="0" anchor="ctr"/>
          <a:lstStyle/>
          <a:p>
            <a:pPr indent="0" marL="0">
              <a:buNone/>
            </a:pPr>
            <a:r>
              <a:rPr lang="en-US" sz="1050" dirty="0">
                <a:solidFill>
                  <a:srgbClr val="F8FAFC"/>
                </a:solidFill>
                <a:latin typeface="Arial" pitchFamily="34" charset="0"/>
                <a:ea typeface="Arial" pitchFamily="34" charset="-122"/>
                <a:cs typeface="Arial" pitchFamily="34" charset="-120"/>
              </a:rPr>
              <a:t>90 10^3/uL</a:t>
            </a:r>
            <a:endParaRPr lang="en-US" sz="1050" dirty="0"/>
          </a:p>
        </p:txBody>
      </p:sp>
      <p:sp>
        <p:nvSpPr>
          <p:cNvPr id="31" name="Text 29"/>
          <p:cNvSpPr/>
          <p:nvPr/>
        </p:nvSpPr>
        <p:spPr>
          <a:xfrm>
            <a:off x="8778240" y="3639312"/>
            <a:ext cx="1188720" cy="27432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150 - 450</a:t>
            </a:r>
            <a:endParaRPr lang="en-US" sz="1000" dirty="0"/>
          </a:p>
        </p:txBody>
      </p:sp>
      <p:sp>
        <p:nvSpPr>
          <p:cNvPr id="32" name="Shape 30"/>
          <p:cNvSpPr/>
          <p:nvPr/>
        </p:nvSpPr>
        <p:spPr>
          <a:xfrm>
            <a:off x="10058400" y="3639312"/>
            <a:ext cx="1005840" cy="256032"/>
          </a:xfrm>
          <a:prstGeom prst="roundRect">
            <a:avLst>
              <a:gd name="adj" fmla="val 35714"/>
            </a:avLst>
          </a:prstGeom>
          <a:solidFill>
            <a:srgbClr val="2B1B26"/>
          </a:solidFill>
          <a:ln w="12700">
            <a:solidFill>
              <a:srgbClr val="F43F5E"/>
            </a:solidFill>
            <a:prstDash val="solid"/>
          </a:ln>
        </p:spPr>
      </p:sp>
      <p:sp>
        <p:nvSpPr>
          <p:cNvPr id="33" name="Text 31"/>
          <p:cNvSpPr/>
          <p:nvPr/>
        </p:nvSpPr>
        <p:spPr>
          <a:xfrm>
            <a:off x="10058400" y="3639312"/>
            <a:ext cx="1005840" cy="256032"/>
          </a:xfrm>
          <a:prstGeom prst="rect">
            <a:avLst/>
          </a:prstGeom>
          <a:noFill/>
          <a:ln/>
        </p:spPr>
        <p:txBody>
          <a:bodyPr wrap="square" rtlCol="0" anchor="ctr"/>
          <a:lstStyle/>
          <a:p>
            <a:pPr algn="ctr" indent="0" marL="0">
              <a:buNone/>
            </a:pPr>
            <a:r>
              <a:rPr lang="en-US" sz="900" b="1" dirty="0">
                <a:solidFill>
                  <a:srgbClr val="F43F5E"/>
                </a:solidFill>
                <a:latin typeface="Arial" pitchFamily="34" charset="0"/>
                <a:ea typeface="Arial" pitchFamily="34" charset="-122"/>
                <a:cs typeface="Arial" pitchFamily="34" charset="-120"/>
              </a:rPr>
              <a:t>LOW</a:t>
            </a:r>
            <a:endParaRPr lang="en-US" sz="900" dirty="0"/>
          </a:p>
        </p:txBody>
      </p:sp>
      <p:sp>
        <p:nvSpPr>
          <p:cNvPr id="34" name="Text 32"/>
          <p:cNvSpPr/>
          <p:nvPr/>
        </p:nvSpPr>
        <p:spPr>
          <a:xfrm>
            <a:off x="6492240" y="3950208"/>
            <a:ext cx="4663440" cy="228600"/>
          </a:xfrm>
          <a:prstGeom prst="rect">
            <a:avLst/>
          </a:prstGeom>
          <a:noFill/>
          <a:ln/>
        </p:spPr>
        <p:txBody>
          <a:bodyPr wrap="square" rtlCol="0" anchor="ctr"/>
          <a:lstStyle/>
          <a:p>
            <a:pPr indent="0" marL="0">
              <a:buNone/>
            </a:pPr>
            <a:r>
              <a:rPr lang="en-US" sz="850" dirty="0">
                <a:solidFill>
                  <a:srgbClr val="38BDF8"/>
                </a:solidFill>
                <a:latin typeface="Arial" pitchFamily="34" charset="0"/>
                <a:ea typeface="Arial" pitchFamily="34" charset="-122"/>
                <a:cs typeface="Arial" pitchFamily="34" charset="-120"/>
              </a:rPr>
              <a:t>Locked Quote: "Platelet Count 90" ✓</a:t>
            </a:r>
            <a:endParaRPr lang="en-US" sz="850" dirty="0"/>
          </a:p>
        </p:txBody>
      </p:sp>
      <p:sp>
        <p:nvSpPr>
          <p:cNvPr id="35" name="Shape 33"/>
          <p:cNvSpPr/>
          <p:nvPr/>
        </p:nvSpPr>
        <p:spPr>
          <a:xfrm>
            <a:off x="6400800" y="4389120"/>
            <a:ext cx="4846320" cy="731520"/>
          </a:xfrm>
          <a:prstGeom prst="rect">
            <a:avLst/>
          </a:prstGeom>
          <a:solidFill>
            <a:srgbClr val="182647"/>
          </a:solidFill>
          <a:ln w="12700">
            <a:solidFill>
              <a:srgbClr val="283A64"/>
            </a:solidFill>
            <a:prstDash val="solid"/>
          </a:ln>
        </p:spPr>
      </p:sp>
      <p:sp>
        <p:nvSpPr>
          <p:cNvPr id="36" name="Text 34"/>
          <p:cNvSpPr/>
          <p:nvPr/>
        </p:nvSpPr>
        <p:spPr>
          <a:xfrm>
            <a:off x="6492240" y="4462272"/>
            <a:ext cx="1463040" cy="27432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Fasting Glucose</a:t>
            </a:r>
            <a:endParaRPr lang="en-US" sz="1100" dirty="0"/>
          </a:p>
        </p:txBody>
      </p:sp>
      <p:sp>
        <p:nvSpPr>
          <p:cNvPr id="37" name="Text 35"/>
          <p:cNvSpPr/>
          <p:nvPr/>
        </p:nvSpPr>
        <p:spPr>
          <a:xfrm>
            <a:off x="7955280" y="4462272"/>
            <a:ext cx="822960" cy="274320"/>
          </a:xfrm>
          <a:prstGeom prst="rect">
            <a:avLst/>
          </a:prstGeom>
          <a:noFill/>
          <a:ln/>
        </p:spPr>
        <p:txBody>
          <a:bodyPr wrap="square" rtlCol="0" anchor="ctr"/>
          <a:lstStyle/>
          <a:p>
            <a:pPr indent="0" marL="0">
              <a:buNone/>
            </a:pPr>
            <a:r>
              <a:rPr lang="en-US" sz="1050" dirty="0">
                <a:solidFill>
                  <a:srgbClr val="F8FAFC"/>
                </a:solidFill>
                <a:latin typeface="Arial" pitchFamily="34" charset="0"/>
                <a:ea typeface="Arial" pitchFamily="34" charset="-122"/>
                <a:cs typeface="Arial" pitchFamily="34" charset="-120"/>
              </a:rPr>
              <a:t>94 mg/dL</a:t>
            </a:r>
            <a:endParaRPr lang="en-US" sz="1050" dirty="0"/>
          </a:p>
        </p:txBody>
      </p:sp>
      <p:sp>
        <p:nvSpPr>
          <p:cNvPr id="38" name="Text 36"/>
          <p:cNvSpPr/>
          <p:nvPr/>
        </p:nvSpPr>
        <p:spPr>
          <a:xfrm>
            <a:off x="8778240" y="4462272"/>
            <a:ext cx="1188720" cy="27432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70 - 99</a:t>
            </a:r>
            <a:endParaRPr lang="en-US" sz="1000" dirty="0"/>
          </a:p>
        </p:txBody>
      </p:sp>
      <p:sp>
        <p:nvSpPr>
          <p:cNvPr id="39" name="Shape 37"/>
          <p:cNvSpPr/>
          <p:nvPr/>
        </p:nvSpPr>
        <p:spPr>
          <a:xfrm>
            <a:off x="10058400" y="4462272"/>
            <a:ext cx="1005840" cy="256032"/>
          </a:xfrm>
          <a:prstGeom prst="roundRect">
            <a:avLst>
              <a:gd name="adj" fmla="val 35714"/>
            </a:avLst>
          </a:prstGeom>
          <a:solidFill>
            <a:srgbClr val="2B1B26"/>
          </a:solidFill>
          <a:ln w="12700">
            <a:solidFill>
              <a:srgbClr val="10B981"/>
            </a:solidFill>
            <a:prstDash val="solid"/>
          </a:ln>
        </p:spPr>
      </p:sp>
      <p:sp>
        <p:nvSpPr>
          <p:cNvPr id="40" name="Text 38"/>
          <p:cNvSpPr/>
          <p:nvPr/>
        </p:nvSpPr>
        <p:spPr>
          <a:xfrm>
            <a:off x="10058400" y="4462272"/>
            <a:ext cx="1005840" cy="256032"/>
          </a:xfrm>
          <a:prstGeom prst="rect">
            <a:avLst/>
          </a:prstGeom>
          <a:noFill/>
          <a:ln/>
        </p:spPr>
        <p:txBody>
          <a:bodyPr wrap="square" rtlCol="0" anchor="ctr"/>
          <a:lstStyle/>
          <a:p>
            <a:pPr algn="ctr" indent="0" marL="0">
              <a:buNone/>
            </a:pPr>
            <a:r>
              <a:rPr lang="en-US" sz="900" b="1" dirty="0">
                <a:solidFill>
                  <a:srgbClr val="10B981"/>
                </a:solidFill>
                <a:latin typeface="Arial" pitchFamily="34" charset="0"/>
                <a:ea typeface="Arial" pitchFamily="34" charset="-122"/>
                <a:cs typeface="Arial" pitchFamily="34" charset="-120"/>
              </a:rPr>
              <a:t>NORMAL</a:t>
            </a:r>
            <a:endParaRPr lang="en-US" sz="900" dirty="0"/>
          </a:p>
        </p:txBody>
      </p:sp>
      <p:sp>
        <p:nvSpPr>
          <p:cNvPr id="41" name="Text 39"/>
          <p:cNvSpPr/>
          <p:nvPr/>
        </p:nvSpPr>
        <p:spPr>
          <a:xfrm>
            <a:off x="6492240" y="4773168"/>
            <a:ext cx="4663440" cy="228600"/>
          </a:xfrm>
          <a:prstGeom prst="rect">
            <a:avLst/>
          </a:prstGeom>
          <a:noFill/>
          <a:ln/>
        </p:spPr>
        <p:txBody>
          <a:bodyPr wrap="square" rtlCol="0" anchor="ctr"/>
          <a:lstStyle/>
          <a:p>
            <a:pPr indent="0" marL="0">
              <a:buNone/>
            </a:pPr>
            <a:r>
              <a:rPr lang="en-US" sz="850" dirty="0">
                <a:solidFill>
                  <a:srgbClr val="38BDF8"/>
                </a:solidFill>
                <a:latin typeface="Arial" pitchFamily="34" charset="0"/>
                <a:ea typeface="Arial" pitchFamily="34" charset="-122"/>
                <a:cs typeface="Arial" pitchFamily="34" charset="-120"/>
              </a:rPr>
              <a:t>Locked Quote: "Glucose, Fasting: 94" ✓</a:t>
            </a:r>
            <a:endParaRPr lang="en-US" sz="850" dirty="0"/>
          </a:p>
        </p:txBody>
      </p:sp>
      <p:sp>
        <p:nvSpPr>
          <p:cNvPr id="42" name="Shape 40"/>
          <p:cNvSpPr/>
          <p:nvPr/>
        </p:nvSpPr>
        <p:spPr>
          <a:xfrm>
            <a:off x="6400800" y="5212080"/>
            <a:ext cx="4846320" cy="731520"/>
          </a:xfrm>
          <a:prstGeom prst="rect">
            <a:avLst/>
          </a:prstGeom>
          <a:solidFill>
            <a:srgbClr val="182647"/>
          </a:solidFill>
          <a:ln w="12700">
            <a:solidFill>
              <a:srgbClr val="283A64"/>
            </a:solidFill>
            <a:prstDash val="solid"/>
          </a:ln>
        </p:spPr>
      </p:sp>
      <p:sp>
        <p:nvSpPr>
          <p:cNvPr id="43" name="Text 41"/>
          <p:cNvSpPr/>
          <p:nvPr/>
        </p:nvSpPr>
        <p:spPr>
          <a:xfrm>
            <a:off x="6492240" y="5285232"/>
            <a:ext cx="1463040" cy="27432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Total Cholesterol</a:t>
            </a:r>
            <a:endParaRPr lang="en-US" sz="1100" dirty="0"/>
          </a:p>
        </p:txBody>
      </p:sp>
      <p:sp>
        <p:nvSpPr>
          <p:cNvPr id="44" name="Text 42"/>
          <p:cNvSpPr/>
          <p:nvPr/>
        </p:nvSpPr>
        <p:spPr>
          <a:xfrm>
            <a:off x="7955280" y="5285232"/>
            <a:ext cx="822960" cy="274320"/>
          </a:xfrm>
          <a:prstGeom prst="rect">
            <a:avLst/>
          </a:prstGeom>
          <a:noFill/>
          <a:ln/>
        </p:spPr>
        <p:txBody>
          <a:bodyPr wrap="square" rtlCol="0" anchor="ctr"/>
          <a:lstStyle/>
          <a:p>
            <a:pPr indent="0" marL="0">
              <a:buNone/>
            </a:pPr>
            <a:r>
              <a:rPr lang="en-US" sz="1050" dirty="0">
                <a:solidFill>
                  <a:srgbClr val="F8FAFC"/>
                </a:solidFill>
                <a:latin typeface="Arial" pitchFamily="34" charset="0"/>
                <a:ea typeface="Arial" pitchFamily="34" charset="-122"/>
                <a:cs typeface="Arial" pitchFamily="34" charset="-120"/>
              </a:rPr>
              <a:t>228 mg/dL</a:t>
            </a:r>
            <a:endParaRPr lang="en-US" sz="1050" dirty="0"/>
          </a:p>
        </p:txBody>
      </p:sp>
      <p:sp>
        <p:nvSpPr>
          <p:cNvPr id="45" name="Text 43"/>
          <p:cNvSpPr/>
          <p:nvPr/>
        </p:nvSpPr>
        <p:spPr>
          <a:xfrm>
            <a:off x="8778240" y="5285232"/>
            <a:ext cx="1188720" cy="27432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&lt; 200</a:t>
            </a:r>
            <a:endParaRPr lang="en-US" sz="1000" dirty="0"/>
          </a:p>
        </p:txBody>
      </p:sp>
      <p:sp>
        <p:nvSpPr>
          <p:cNvPr id="46" name="Shape 44"/>
          <p:cNvSpPr/>
          <p:nvPr/>
        </p:nvSpPr>
        <p:spPr>
          <a:xfrm>
            <a:off x="10058400" y="5285232"/>
            <a:ext cx="1005840" cy="256032"/>
          </a:xfrm>
          <a:prstGeom prst="roundRect">
            <a:avLst>
              <a:gd name="adj" fmla="val 35714"/>
            </a:avLst>
          </a:prstGeom>
          <a:solidFill>
            <a:srgbClr val="2B1B26"/>
          </a:solidFill>
          <a:ln w="12700">
            <a:solidFill>
              <a:srgbClr val="F59E0B"/>
            </a:solidFill>
            <a:prstDash val="solid"/>
          </a:ln>
        </p:spPr>
      </p:sp>
      <p:sp>
        <p:nvSpPr>
          <p:cNvPr id="47" name="Text 45"/>
          <p:cNvSpPr/>
          <p:nvPr/>
        </p:nvSpPr>
        <p:spPr>
          <a:xfrm>
            <a:off x="10058400" y="5285232"/>
            <a:ext cx="1005840" cy="256032"/>
          </a:xfrm>
          <a:prstGeom prst="rect">
            <a:avLst/>
          </a:prstGeom>
          <a:noFill/>
          <a:ln/>
        </p:spPr>
        <p:txBody>
          <a:bodyPr wrap="square" rtlCol="0" anchor="ctr"/>
          <a:lstStyle/>
          <a:p>
            <a:pPr algn="ctr" indent="0" marL="0">
              <a:buNone/>
            </a:pPr>
            <a:r>
              <a:rPr lang="en-US" sz="900" b="1" dirty="0">
                <a:solidFill>
                  <a:srgbClr val="F59E0B"/>
                </a:solidFill>
                <a:latin typeface="Arial" pitchFamily="34" charset="0"/>
                <a:ea typeface="Arial" pitchFamily="34" charset="-122"/>
                <a:cs typeface="Arial" pitchFamily="34" charset="-120"/>
              </a:rPr>
              <a:t>HIGH</a:t>
            </a:r>
            <a:endParaRPr lang="en-US" sz="900" dirty="0"/>
          </a:p>
        </p:txBody>
      </p:sp>
      <p:sp>
        <p:nvSpPr>
          <p:cNvPr id="48" name="Text 46"/>
          <p:cNvSpPr/>
          <p:nvPr/>
        </p:nvSpPr>
        <p:spPr>
          <a:xfrm>
            <a:off x="6492240" y="5596128"/>
            <a:ext cx="4663440" cy="228600"/>
          </a:xfrm>
          <a:prstGeom prst="rect">
            <a:avLst/>
          </a:prstGeom>
          <a:noFill/>
          <a:ln/>
        </p:spPr>
        <p:txBody>
          <a:bodyPr wrap="square" rtlCol="0" anchor="ctr"/>
          <a:lstStyle/>
          <a:p>
            <a:pPr indent="0" marL="0">
              <a:buNone/>
            </a:pPr>
            <a:r>
              <a:rPr lang="en-US" sz="850" dirty="0">
                <a:solidFill>
                  <a:srgbClr val="38BDF8"/>
                </a:solidFill>
                <a:latin typeface="Arial" pitchFamily="34" charset="0"/>
                <a:ea typeface="Arial" pitchFamily="34" charset="-122"/>
                <a:cs typeface="Arial" pitchFamily="34" charset="-120"/>
              </a:rPr>
              <a:t>Locked Quote: "Total Cholesterol 228" ✓</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731520" y="411480"/>
            <a:ext cx="2377440" cy="320040"/>
          </a:xfrm>
          <a:prstGeom prst="roundRect">
            <a:avLst>
              <a:gd name="adj" fmla="val 42857"/>
            </a:avLst>
          </a:prstGeom>
          <a:solidFill>
            <a:srgbClr val="132E48"/>
          </a:solidFill>
          <a:ln w="12700">
            <a:solidFill>
              <a:srgbClr val="38BDF8"/>
            </a:solidFill>
            <a:prstDash val="solid"/>
          </a:ln>
        </p:spPr>
      </p:sp>
      <p:sp>
        <p:nvSpPr>
          <p:cNvPr id="3" name="Text 1"/>
          <p:cNvSpPr/>
          <p:nvPr/>
        </p:nvSpPr>
        <p:spPr>
          <a:xfrm>
            <a:off x="731520" y="411480"/>
            <a:ext cx="2377440" cy="32004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MODULE DEEP-DIVE 2</a:t>
            </a:r>
            <a:endParaRPr lang="en-US" sz="1000" dirty="0"/>
          </a:p>
        </p:txBody>
      </p:sp>
      <p:sp>
        <p:nvSpPr>
          <p:cNvPr id="4" name="Text 2"/>
          <p:cNvSpPr/>
          <p:nvPr/>
        </p:nvSpPr>
        <p:spPr>
          <a:xfrm>
            <a:off x="731520" y="777240"/>
            <a:ext cx="10515600" cy="548640"/>
          </a:xfrm>
          <a:prstGeom prst="rect">
            <a:avLst/>
          </a:prstGeom>
          <a:noFill/>
          <a:ln/>
        </p:spPr>
        <p:txBody>
          <a:bodyPr wrap="square" rtlCol="0" anchor="ctr"/>
          <a:lstStyle/>
          <a:p>
            <a:pPr indent="0" marL="0">
              <a:buNone/>
            </a:pPr>
            <a:r>
              <a:rPr lang="en-US" sz="2400" b="1" dirty="0">
                <a:solidFill>
                  <a:srgbClr val="F8FAFC"/>
                </a:solidFill>
                <a:latin typeface="Arial" pitchFamily="34" charset="0"/>
                <a:ea typeface="Arial" pitchFamily="34" charset="-122"/>
                <a:cs typeface="Arial" pitchFamily="34" charset="-120"/>
              </a:rPr>
              <a:t>Medicine Lens &amp; Symmetrical Drug-Drug Interaction Matrix</a:t>
            </a:r>
            <a:endParaRPr lang="en-US" sz="2400" dirty="0"/>
          </a:p>
        </p:txBody>
      </p:sp>
      <p:sp>
        <p:nvSpPr>
          <p:cNvPr id="5" name="Text 3"/>
          <p:cNvSpPr/>
          <p:nvPr/>
        </p:nvSpPr>
        <p:spPr>
          <a:xfrm>
            <a:off x="731520" y="128016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Packaging OCR, openFDA monograph mapping, and commutative safety checks</a:t>
            </a:r>
            <a:endParaRPr lang="en-US" sz="1300" dirty="0"/>
          </a:p>
        </p:txBody>
      </p:sp>
      <p:sp>
        <p:nvSpPr>
          <p:cNvPr id="6" name="Shape 4"/>
          <p:cNvSpPr/>
          <p:nvPr/>
        </p:nvSpPr>
        <p:spPr>
          <a:xfrm>
            <a:off x="731520" y="1828800"/>
            <a:ext cx="3383280" cy="2011680"/>
          </a:xfrm>
          <a:prstGeom prst="roundRect">
            <a:avLst>
              <a:gd name="adj" fmla="val 5455"/>
            </a:avLst>
          </a:prstGeom>
          <a:solidFill>
            <a:srgbClr val="1C2541"/>
          </a:solidFill>
          <a:ln w="12700">
            <a:solidFill>
              <a:srgbClr val="3A506B"/>
            </a:solidFill>
            <a:prstDash val="solid"/>
          </a:ln>
        </p:spPr>
      </p:sp>
      <p:sp>
        <p:nvSpPr>
          <p:cNvPr id="7" name="Text 5"/>
          <p:cNvSpPr/>
          <p:nvPr/>
        </p:nvSpPr>
        <p:spPr>
          <a:xfrm>
            <a:off x="914400" y="1965960"/>
            <a:ext cx="3017520" cy="411480"/>
          </a:xfrm>
          <a:prstGeom prst="rect">
            <a:avLst/>
          </a:prstGeom>
          <a:noFill/>
          <a:ln/>
        </p:spPr>
        <p:txBody>
          <a:bodyPr wrap="square" rtlCol="0" anchor="ctr"/>
          <a:lstStyle/>
          <a:p>
            <a:pPr indent="0" marL="0">
              <a:buNone/>
            </a:pPr>
            <a:r>
              <a:rPr lang="en-US" sz="1250" b="1" dirty="0">
                <a:solidFill>
                  <a:srgbClr val="F8FAFC"/>
                </a:solidFill>
                <a:latin typeface="Arial" pitchFamily="34" charset="0"/>
                <a:ea typeface="Arial" pitchFamily="34" charset="-122"/>
                <a:cs typeface="Arial" pitchFamily="34" charset="-120"/>
              </a:rPr>
              <a:t>1. Packaging Active Ingredient OCR</a:t>
            </a:r>
            <a:endParaRPr lang="en-US" sz="1250" dirty="0"/>
          </a:p>
        </p:txBody>
      </p:sp>
      <p:sp>
        <p:nvSpPr>
          <p:cNvPr id="8" name="Shape 6"/>
          <p:cNvSpPr/>
          <p:nvPr/>
        </p:nvSpPr>
        <p:spPr>
          <a:xfrm>
            <a:off x="914400" y="2423160"/>
            <a:ext cx="3017520" cy="256032"/>
          </a:xfrm>
          <a:prstGeom prst="roundRect">
            <a:avLst>
              <a:gd name="adj" fmla="val 28571"/>
            </a:avLst>
          </a:prstGeom>
          <a:solidFill>
            <a:srgbClr val="132E48"/>
          </a:solidFill>
          <a:ln w="12700">
            <a:solidFill>
              <a:srgbClr val="38BDF8"/>
            </a:solidFill>
            <a:prstDash val="solid"/>
          </a:ln>
        </p:spPr>
      </p:sp>
      <p:sp>
        <p:nvSpPr>
          <p:cNvPr id="9" name="Text 7"/>
          <p:cNvSpPr/>
          <p:nvPr/>
        </p:nvSpPr>
        <p:spPr>
          <a:xfrm>
            <a:off x="914400" y="2423160"/>
            <a:ext cx="3017520" cy="256032"/>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openFDA Grounded</a:t>
            </a:r>
            <a:endParaRPr lang="en-US" sz="850" dirty="0"/>
          </a:p>
        </p:txBody>
      </p:sp>
      <p:sp>
        <p:nvSpPr>
          <p:cNvPr id="10" name="Text 8"/>
          <p:cNvSpPr/>
          <p:nvPr/>
        </p:nvSpPr>
        <p:spPr>
          <a:xfrm>
            <a:off x="914400" y="2788920"/>
            <a:ext cx="3017520" cy="91440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Extracts chemical drug names and concentrations directly from photos of blister packs and boxes. Eliminates dangerous brand confusion by resolving aliases (e.g., Tylenol -&gt; Acetaminophen, Advil -&gt; Ibuprofen).</a:t>
            </a:r>
            <a:endParaRPr lang="en-US" sz="1000" dirty="0"/>
          </a:p>
        </p:txBody>
      </p:sp>
      <p:sp>
        <p:nvSpPr>
          <p:cNvPr id="11" name="Shape 9"/>
          <p:cNvSpPr/>
          <p:nvPr/>
        </p:nvSpPr>
        <p:spPr>
          <a:xfrm>
            <a:off x="4297680" y="1828800"/>
            <a:ext cx="3383280" cy="2011680"/>
          </a:xfrm>
          <a:prstGeom prst="roundRect">
            <a:avLst>
              <a:gd name="adj" fmla="val 5455"/>
            </a:avLst>
          </a:prstGeom>
          <a:solidFill>
            <a:srgbClr val="1C2541"/>
          </a:solidFill>
          <a:ln w="12700">
            <a:solidFill>
              <a:srgbClr val="3A506B"/>
            </a:solidFill>
            <a:prstDash val="solid"/>
          </a:ln>
        </p:spPr>
      </p:sp>
      <p:sp>
        <p:nvSpPr>
          <p:cNvPr id="12" name="Text 10"/>
          <p:cNvSpPr/>
          <p:nvPr/>
        </p:nvSpPr>
        <p:spPr>
          <a:xfrm>
            <a:off x="4480560" y="1965960"/>
            <a:ext cx="3017520" cy="411480"/>
          </a:xfrm>
          <a:prstGeom prst="rect">
            <a:avLst/>
          </a:prstGeom>
          <a:noFill/>
          <a:ln/>
        </p:spPr>
        <p:txBody>
          <a:bodyPr wrap="square" rtlCol="0" anchor="ctr"/>
          <a:lstStyle/>
          <a:p>
            <a:pPr indent="0" marL="0">
              <a:buNone/>
            </a:pPr>
            <a:r>
              <a:rPr lang="en-US" sz="1250" b="1" dirty="0">
                <a:solidFill>
                  <a:srgbClr val="F8FAFC"/>
                </a:solidFill>
                <a:latin typeface="Arial" pitchFamily="34" charset="0"/>
                <a:ea typeface="Arial" pitchFamily="34" charset="-122"/>
                <a:cs typeface="Arial" pitchFamily="34" charset="-120"/>
              </a:rPr>
              <a:t>2. Symmetrical Interaction Matrix</a:t>
            </a:r>
            <a:endParaRPr lang="en-US" sz="1250" dirty="0"/>
          </a:p>
        </p:txBody>
      </p:sp>
      <p:sp>
        <p:nvSpPr>
          <p:cNvPr id="13" name="Shape 11"/>
          <p:cNvSpPr/>
          <p:nvPr/>
        </p:nvSpPr>
        <p:spPr>
          <a:xfrm>
            <a:off x="4480560" y="2423160"/>
            <a:ext cx="3017520" cy="256032"/>
          </a:xfrm>
          <a:prstGeom prst="roundRect">
            <a:avLst>
              <a:gd name="adj" fmla="val 28571"/>
            </a:avLst>
          </a:prstGeom>
          <a:solidFill>
            <a:srgbClr val="132E48"/>
          </a:solidFill>
          <a:ln w="12700">
            <a:solidFill>
              <a:srgbClr val="38BDF8"/>
            </a:solidFill>
            <a:prstDash val="solid"/>
          </a:ln>
        </p:spPr>
      </p:sp>
      <p:sp>
        <p:nvSpPr>
          <p:cNvPr id="14" name="Text 12"/>
          <p:cNvSpPr/>
          <p:nvPr/>
        </p:nvSpPr>
        <p:spPr>
          <a:xfrm>
            <a:off x="4480560" y="2423160"/>
            <a:ext cx="3017520" cy="256032"/>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makePairKey(A, B) = makePairKey(B, A)</a:t>
            </a:r>
            <a:endParaRPr lang="en-US" sz="850" dirty="0"/>
          </a:p>
        </p:txBody>
      </p:sp>
      <p:sp>
        <p:nvSpPr>
          <p:cNvPr id="15" name="Text 13"/>
          <p:cNvSpPr/>
          <p:nvPr/>
        </p:nvSpPr>
        <p:spPr>
          <a:xfrm>
            <a:off x="4480560" y="2788920"/>
            <a:ext cx="3017520" cy="91440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Drug interaction evaluation is mathematically commutative. The system guarantees that checking Drug A + Drug B produces the exact same clinical warning as Drug B + Drug A without duplicate or missing edges.</a:t>
            </a:r>
            <a:endParaRPr lang="en-US" sz="1000" dirty="0"/>
          </a:p>
        </p:txBody>
      </p:sp>
      <p:sp>
        <p:nvSpPr>
          <p:cNvPr id="16" name="Shape 14"/>
          <p:cNvSpPr/>
          <p:nvPr/>
        </p:nvSpPr>
        <p:spPr>
          <a:xfrm>
            <a:off x="7863840" y="1828800"/>
            <a:ext cx="3383280" cy="2011680"/>
          </a:xfrm>
          <a:prstGeom prst="roundRect">
            <a:avLst>
              <a:gd name="adj" fmla="val 5455"/>
            </a:avLst>
          </a:prstGeom>
          <a:solidFill>
            <a:srgbClr val="1C2541"/>
          </a:solidFill>
          <a:ln w="12700">
            <a:solidFill>
              <a:srgbClr val="3A506B"/>
            </a:solidFill>
            <a:prstDash val="solid"/>
          </a:ln>
        </p:spPr>
      </p:sp>
      <p:sp>
        <p:nvSpPr>
          <p:cNvPr id="17" name="Text 15"/>
          <p:cNvSpPr/>
          <p:nvPr/>
        </p:nvSpPr>
        <p:spPr>
          <a:xfrm>
            <a:off x="8046720" y="1965960"/>
            <a:ext cx="3017520" cy="411480"/>
          </a:xfrm>
          <a:prstGeom prst="rect">
            <a:avLst/>
          </a:prstGeom>
          <a:noFill/>
          <a:ln/>
        </p:spPr>
        <p:txBody>
          <a:bodyPr wrap="square" rtlCol="0" anchor="ctr"/>
          <a:lstStyle/>
          <a:p>
            <a:pPr indent="0" marL="0">
              <a:buNone/>
            </a:pPr>
            <a:r>
              <a:rPr lang="en-US" sz="1250" b="1" dirty="0">
                <a:solidFill>
                  <a:srgbClr val="F8FAFC"/>
                </a:solidFill>
                <a:latin typeface="Arial" pitchFamily="34" charset="0"/>
                <a:ea typeface="Arial" pitchFamily="34" charset="-122"/>
                <a:cs typeface="Arial" pitchFamily="34" charset="-120"/>
              </a:rPr>
              <a:t>3. Neutral Non-Reassurance</a:t>
            </a:r>
            <a:endParaRPr lang="en-US" sz="1250" dirty="0"/>
          </a:p>
        </p:txBody>
      </p:sp>
      <p:sp>
        <p:nvSpPr>
          <p:cNvPr id="18" name="Shape 16"/>
          <p:cNvSpPr/>
          <p:nvPr/>
        </p:nvSpPr>
        <p:spPr>
          <a:xfrm>
            <a:off x="8046720" y="2423160"/>
            <a:ext cx="3017520" cy="256032"/>
          </a:xfrm>
          <a:prstGeom prst="roundRect">
            <a:avLst>
              <a:gd name="adj" fmla="val 28571"/>
            </a:avLst>
          </a:prstGeom>
          <a:solidFill>
            <a:srgbClr val="132E48"/>
          </a:solidFill>
          <a:ln w="12700">
            <a:solidFill>
              <a:srgbClr val="38BDF8"/>
            </a:solidFill>
            <a:prstDash val="solid"/>
          </a:ln>
        </p:spPr>
      </p:sp>
      <p:sp>
        <p:nvSpPr>
          <p:cNvPr id="19" name="Text 17"/>
          <p:cNvSpPr/>
          <p:nvPr/>
        </p:nvSpPr>
        <p:spPr>
          <a:xfrm>
            <a:off x="8046720" y="2423160"/>
            <a:ext cx="3017520" cy="256032"/>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Clinical Safety Principle</a:t>
            </a:r>
            <a:endParaRPr lang="en-US" sz="850" dirty="0"/>
          </a:p>
        </p:txBody>
      </p:sp>
      <p:sp>
        <p:nvSpPr>
          <p:cNvPr id="20" name="Text 18"/>
          <p:cNvSpPr/>
          <p:nvPr/>
        </p:nvSpPr>
        <p:spPr>
          <a:xfrm>
            <a:off x="8046720" y="2788920"/>
            <a:ext cx="3017520" cy="91440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'Absence of evidence is not evidence of absence.' If two medications have no recorded interaction in the FDA monograph matrix, MediScan issues a neutral cautionary notice rather than a false safe reassurance.</a:t>
            </a:r>
            <a:endParaRPr lang="en-US" sz="1000" dirty="0"/>
          </a:p>
        </p:txBody>
      </p:sp>
      <p:sp>
        <p:nvSpPr>
          <p:cNvPr id="21" name="Shape 19"/>
          <p:cNvSpPr/>
          <p:nvPr/>
        </p:nvSpPr>
        <p:spPr>
          <a:xfrm>
            <a:off x="731520" y="4069080"/>
            <a:ext cx="10698480" cy="2011680"/>
          </a:xfrm>
          <a:prstGeom prst="roundRect">
            <a:avLst>
              <a:gd name="adj" fmla="val 5455"/>
            </a:avLst>
          </a:prstGeom>
          <a:solidFill>
            <a:srgbClr val="111C38"/>
          </a:solidFill>
          <a:ln w="12700">
            <a:solidFill>
              <a:srgbClr val="0D9488"/>
            </a:solidFill>
            <a:prstDash val="solid"/>
          </a:ln>
        </p:spPr>
      </p:sp>
      <p:sp>
        <p:nvSpPr>
          <p:cNvPr id="22" name="Text 20"/>
          <p:cNvSpPr/>
          <p:nvPr/>
        </p:nvSpPr>
        <p:spPr>
          <a:xfrm>
            <a:off x="1005840" y="4206240"/>
            <a:ext cx="9601200" cy="274320"/>
          </a:xfrm>
          <a:prstGeom prst="rect">
            <a:avLst/>
          </a:prstGeom>
          <a:noFill/>
          <a:ln/>
        </p:spPr>
        <p:txBody>
          <a:bodyPr wrap="square" rtlCol="0" anchor="ctr"/>
          <a:lstStyle/>
          <a:p>
            <a:pPr indent="0" marL="0">
              <a:buNone/>
            </a:pPr>
            <a:r>
              <a:rPr lang="en-US" sz="1150" b="1" dirty="0">
                <a:solidFill>
                  <a:srgbClr val="14B8A6"/>
                </a:solidFill>
                <a:latin typeface="Arial" pitchFamily="34" charset="0"/>
                <a:ea typeface="Arial" pitchFamily="34" charset="-122"/>
                <a:cs typeface="Arial" pitchFamily="34" charset="-120"/>
              </a:rPr>
              <a:t>VALIDATED CLINICAL SEVERITY TIERS &amp; BIOLOGICAL MECHANISMS</a:t>
            </a:r>
            <a:endParaRPr lang="en-US" sz="1150" dirty="0"/>
          </a:p>
        </p:txBody>
      </p:sp>
      <p:sp>
        <p:nvSpPr>
          <p:cNvPr id="23" name="Shape 21"/>
          <p:cNvSpPr/>
          <p:nvPr/>
        </p:nvSpPr>
        <p:spPr>
          <a:xfrm>
            <a:off x="1005840" y="4526280"/>
            <a:ext cx="3246120" cy="1371600"/>
          </a:xfrm>
          <a:prstGeom prst="roundRect">
            <a:avLst>
              <a:gd name="adj" fmla="val 5333"/>
            </a:avLst>
          </a:prstGeom>
          <a:solidFill>
            <a:srgbClr val="2D141E"/>
          </a:solidFill>
          <a:ln w="12700">
            <a:solidFill>
              <a:srgbClr val="F43F5E"/>
            </a:solidFill>
            <a:prstDash val="solid"/>
          </a:ln>
        </p:spPr>
      </p:sp>
      <p:sp>
        <p:nvSpPr>
          <p:cNvPr id="24" name="Text 22"/>
          <p:cNvSpPr/>
          <p:nvPr/>
        </p:nvSpPr>
        <p:spPr>
          <a:xfrm>
            <a:off x="1143000" y="4617720"/>
            <a:ext cx="2971800" cy="228600"/>
          </a:xfrm>
          <a:prstGeom prst="rect">
            <a:avLst/>
          </a:prstGeom>
          <a:noFill/>
          <a:ln/>
        </p:spPr>
        <p:txBody>
          <a:bodyPr wrap="square" rtlCol="0" anchor="ctr"/>
          <a:lstStyle/>
          <a:p>
            <a:pPr indent="0" marL="0">
              <a:buNone/>
            </a:pPr>
            <a:r>
              <a:rPr lang="en-US" sz="1000" b="1" dirty="0">
                <a:solidFill>
                  <a:srgbClr val="F43F5E"/>
                </a:solidFill>
                <a:latin typeface="Arial" pitchFamily="34" charset="0"/>
                <a:ea typeface="Arial" pitchFamily="34" charset="-122"/>
                <a:cs typeface="Arial" pitchFamily="34" charset="-120"/>
              </a:rPr>
              <a:t>MAJOR RISK</a:t>
            </a:r>
            <a:endParaRPr lang="en-US" sz="1000" dirty="0"/>
          </a:p>
        </p:txBody>
      </p:sp>
      <p:sp>
        <p:nvSpPr>
          <p:cNvPr id="25" name="Text 23"/>
          <p:cNvSpPr/>
          <p:nvPr/>
        </p:nvSpPr>
        <p:spPr>
          <a:xfrm>
            <a:off x="1143000" y="4846320"/>
            <a:ext cx="2971800" cy="22860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Aspirin + Ibuprofen</a:t>
            </a:r>
            <a:endParaRPr lang="en-US" sz="1100" dirty="0"/>
          </a:p>
        </p:txBody>
      </p:sp>
      <p:sp>
        <p:nvSpPr>
          <p:cNvPr id="26" name="Text 24"/>
          <p:cNvSpPr/>
          <p:nvPr/>
        </p:nvSpPr>
        <p:spPr>
          <a:xfrm>
            <a:off x="1143000" y="5120640"/>
            <a:ext cx="2971800" cy="68580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Additive COX-1 inhibition exponentially spikes gastrointestinal bleeding &amp; ulcer risk.</a:t>
            </a:r>
            <a:endParaRPr lang="en-US" sz="950" dirty="0"/>
          </a:p>
        </p:txBody>
      </p:sp>
      <p:sp>
        <p:nvSpPr>
          <p:cNvPr id="27" name="Shape 25"/>
          <p:cNvSpPr/>
          <p:nvPr/>
        </p:nvSpPr>
        <p:spPr>
          <a:xfrm>
            <a:off x="4480560" y="4526280"/>
            <a:ext cx="3246120" cy="1371600"/>
          </a:xfrm>
          <a:prstGeom prst="roundRect">
            <a:avLst>
              <a:gd name="adj" fmla="val 5333"/>
            </a:avLst>
          </a:prstGeom>
          <a:solidFill>
            <a:srgbClr val="2D2214"/>
          </a:solidFill>
          <a:ln w="12700">
            <a:solidFill>
              <a:srgbClr val="F59E0B"/>
            </a:solidFill>
            <a:prstDash val="solid"/>
          </a:ln>
        </p:spPr>
      </p:sp>
      <p:sp>
        <p:nvSpPr>
          <p:cNvPr id="28" name="Text 26"/>
          <p:cNvSpPr/>
          <p:nvPr/>
        </p:nvSpPr>
        <p:spPr>
          <a:xfrm>
            <a:off x="4617720" y="4617720"/>
            <a:ext cx="2971800" cy="228600"/>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MODERATE RISK</a:t>
            </a:r>
            <a:endParaRPr lang="en-US" sz="1000" dirty="0"/>
          </a:p>
        </p:txBody>
      </p:sp>
      <p:sp>
        <p:nvSpPr>
          <p:cNvPr id="29" name="Text 27"/>
          <p:cNvSpPr/>
          <p:nvPr/>
        </p:nvSpPr>
        <p:spPr>
          <a:xfrm>
            <a:off x="4617720" y="4846320"/>
            <a:ext cx="2971800" cy="22860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Paracetamol + Alcohol/Cold Combos</a:t>
            </a:r>
            <a:endParaRPr lang="en-US" sz="1100" dirty="0"/>
          </a:p>
        </p:txBody>
      </p:sp>
      <p:sp>
        <p:nvSpPr>
          <p:cNvPr id="30" name="Text 28"/>
          <p:cNvSpPr/>
          <p:nvPr/>
        </p:nvSpPr>
        <p:spPr>
          <a:xfrm>
            <a:off x="4617720" y="5120640"/>
            <a:ext cx="2971800" cy="68580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Cumulative hepatotoxic load from hidden acetaminophen in multi-symptom cold syrups.</a:t>
            </a:r>
            <a:endParaRPr lang="en-US" sz="950" dirty="0"/>
          </a:p>
        </p:txBody>
      </p:sp>
      <p:sp>
        <p:nvSpPr>
          <p:cNvPr id="31" name="Shape 29"/>
          <p:cNvSpPr/>
          <p:nvPr/>
        </p:nvSpPr>
        <p:spPr>
          <a:xfrm>
            <a:off x="7955280" y="4526280"/>
            <a:ext cx="3246120" cy="1371600"/>
          </a:xfrm>
          <a:prstGeom prst="roundRect">
            <a:avLst>
              <a:gd name="adj" fmla="val 5333"/>
            </a:avLst>
          </a:prstGeom>
          <a:solidFill>
            <a:srgbClr val="132E48"/>
          </a:solidFill>
          <a:ln w="12700">
            <a:solidFill>
              <a:srgbClr val="38BDF8"/>
            </a:solidFill>
            <a:prstDash val="solid"/>
          </a:ln>
        </p:spPr>
      </p:sp>
      <p:sp>
        <p:nvSpPr>
          <p:cNvPr id="32" name="Text 30"/>
          <p:cNvSpPr/>
          <p:nvPr/>
        </p:nvSpPr>
        <p:spPr>
          <a:xfrm>
            <a:off x="8092440" y="4617720"/>
            <a:ext cx="2971800" cy="22860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UNKNOWN / UNRECORDED</a:t>
            </a:r>
            <a:endParaRPr lang="en-US" sz="1000" dirty="0"/>
          </a:p>
        </p:txBody>
      </p:sp>
      <p:sp>
        <p:nvSpPr>
          <p:cNvPr id="33" name="Text 31"/>
          <p:cNvSpPr/>
          <p:nvPr/>
        </p:nvSpPr>
        <p:spPr>
          <a:xfrm>
            <a:off x="8092440" y="4846320"/>
            <a:ext cx="2971800" cy="22860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Novel OTC + Dietary Supplements</a:t>
            </a:r>
            <a:endParaRPr lang="en-US" sz="1100" dirty="0"/>
          </a:p>
        </p:txBody>
      </p:sp>
      <p:sp>
        <p:nvSpPr>
          <p:cNvPr id="34" name="Text 32"/>
          <p:cNvSpPr/>
          <p:nvPr/>
        </p:nvSpPr>
        <p:spPr>
          <a:xfrm>
            <a:off x="8092440" y="5120640"/>
            <a:ext cx="2971800" cy="68580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System triggers explicit warning: 'Not verified safe. Always consult your pharmacist.'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731520" y="411480"/>
            <a:ext cx="2377440" cy="320040"/>
          </a:xfrm>
          <a:prstGeom prst="roundRect">
            <a:avLst>
              <a:gd name="adj" fmla="val 42857"/>
            </a:avLst>
          </a:prstGeom>
          <a:solidFill>
            <a:srgbClr val="132E48"/>
          </a:solidFill>
          <a:ln w="12700">
            <a:solidFill>
              <a:srgbClr val="38BDF8"/>
            </a:solidFill>
            <a:prstDash val="solid"/>
          </a:ln>
        </p:spPr>
      </p:sp>
      <p:sp>
        <p:nvSpPr>
          <p:cNvPr id="3" name="Text 1"/>
          <p:cNvSpPr/>
          <p:nvPr/>
        </p:nvSpPr>
        <p:spPr>
          <a:xfrm>
            <a:off x="731520" y="411480"/>
            <a:ext cx="2377440" cy="32004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PRIVACY &amp; CLINICAL EXPORT</a:t>
            </a:r>
            <a:endParaRPr lang="en-US" sz="1000" dirty="0"/>
          </a:p>
        </p:txBody>
      </p:sp>
      <p:sp>
        <p:nvSpPr>
          <p:cNvPr id="4" name="Text 2"/>
          <p:cNvSpPr/>
          <p:nvPr/>
        </p:nvSpPr>
        <p:spPr>
          <a:xfrm>
            <a:off x="731520" y="777240"/>
            <a:ext cx="10515600" cy="548640"/>
          </a:xfrm>
          <a:prstGeom prst="rect">
            <a:avLst/>
          </a:prstGeom>
          <a:noFill/>
          <a:ln/>
        </p:spPr>
        <p:txBody>
          <a:bodyPr wrap="square" rtlCol="0" anchor="ctr"/>
          <a:lstStyle/>
          <a:p>
            <a:pPr indent="0" marL="0">
              <a:buNone/>
            </a:pPr>
            <a:r>
              <a:rPr lang="en-US" sz="2400" b="1" dirty="0">
                <a:solidFill>
                  <a:srgbClr val="F8FAFC"/>
                </a:solidFill>
                <a:latin typeface="Arial" pitchFamily="34" charset="0"/>
                <a:ea typeface="Arial" pitchFamily="34" charset="-122"/>
                <a:cs typeface="Arial" pitchFamily="34" charset="-120"/>
              </a:rPr>
              <a:t>Zero-PII Verification ID &amp; Physician-Ready Visit Brief</a:t>
            </a:r>
            <a:endParaRPr lang="en-US" sz="2400" dirty="0"/>
          </a:p>
        </p:txBody>
      </p:sp>
      <p:sp>
        <p:nvSpPr>
          <p:cNvPr id="5" name="Text 3"/>
          <p:cNvSpPr/>
          <p:nvPr/>
        </p:nvSpPr>
        <p:spPr>
          <a:xfrm>
            <a:off x="731520" y="128016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Cryptographic tamper detection and actionable clinical consultations</a:t>
            </a:r>
            <a:endParaRPr lang="en-US" sz="1300" dirty="0"/>
          </a:p>
        </p:txBody>
      </p:sp>
      <p:sp>
        <p:nvSpPr>
          <p:cNvPr id="6" name="Shape 4"/>
          <p:cNvSpPr/>
          <p:nvPr/>
        </p:nvSpPr>
        <p:spPr>
          <a:xfrm>
            <a:off x="731520" y="1828800"/>
            <a:ext cx="5120640" cy="4389120"/>
          </a:xfrm>
          <a:prstGeom prst="roundRect">
            <a:avLst>
              <a:gd name="adj" fmla="val 2500"/>
            </a:avLst>
          </a:prstGeom>
          <a:solidFill>
            <a:srgbClr val="1C2541"/>
          </a:solidFill>
          <a:ln w="12700">
            <a:solidFill>
              <a:srgbClr val="38BDF8"/>
            </a:solidFill>
            <a:prstDash val="solid"/>
          </a:ln>
        </p:spPr>
      </p:sp>
      <p:sp>
        <p:nvSpPr>
          <p:cNvPr id="7" name="Text 5"/>
          <p:cNvSpPr/>
          <p:nvPr/>
        </p:nvSpPr>
        <p:spPr>
          <a:xfrm>
            <a:off x="1005840" y="2011680"/>
            <a:ext cx="4572000" cy="320040"/>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CRYPTOGRAPHIC INTEGRITY &amp; VERIFICATION LAB</a:t>
            </a:r>
            <a:endParaRPr lang="en-US" sz="1200" dirty="0"/>
          </a:p>
        </p:txBody>
      </p:sp>
      <p:sp>
        <p:nvSpPr>
          <p:cNvPr id="8" name="Text 6"/>
          <p:cNvSpPr/>
          <p:nvPr/>
        </p:nvSpPr>
        <p:spPr>
          <a:xfrm>
            <a:off x="1005840" y="2423160"/>
            <a:ext cx="4572000" cy="27432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Deterministic Verification ID (MS-XXXXXXXX)</a:t>
            </a:r>
            <a:endParaRPr lang="en-US" sz="1100" dirty="0"/>
          </a:p>
        </p:txBody>
      </p:sp>
      <p:sp>
        <p:nvSpPr>
          <p:cNvPr id="9" name="Text 7"/>
          <p:cNvSpPr/>
          <p:nvPr/>
        </p:nvSpPr>
        <p:spPr>
          <a:xfrm>
            <a:off x="1188720" y="2679192"/>
            <a:ext cx="4389120" cy="59436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Derived via FNV-1a 32-bit hashing over finding counts, report category, and timestamp. Never hashes or stores patient names, emails, or MRNs.</a:t>
            </a:r>
            <a:endParaRPr lang="en-US" sz="1000" dirty="0"/>
          </a:p>
        </p:txBody>
      </p:sp>
      <p:sp>
        <p:nvSpPr>
          <p:cNvPr id="10" name="Text 8"/>
          <p:cNvSpPr/>
          <p:nvPr/>
        </p:nvSpPr>
        <p:spPr>
          <a:xfrm>
            <a:off x="1005840" y="3337560"/>
            <a:ext cx="4572000" cy="27432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Canonical Evidence Fingerprinting</a:t>
            </a:r>
            <a:endParaRPr lang="en-US" sz="1100" dirty="0"/>
          </a:p>
        </p:txBody>
      </p:sp>
      <p:sp>
        <p:nvSpPr>
          <p:cNvPr id="11" name="Text 9"/>
          <p:cNvSpPr/>
          <p:nvPr/>
        </p:nvSpPr>
        <p:spPr>
          <a:xfrm>
            <a:off x="1188720" y="3593592"/>
            <a:ext cx="4389120" cy="59436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Computes a canonical string hash: 'testName|valueText|status|quote'. Ensures end-to-end immutability from OCR to final render.</a:t>
            </a:r>
            <a:endParaRPr lang="en-US" sz="1000" dirty="0"/>
          </a:p>
        </p:txBody>
      </p:sp>
      <p:sp>
        <p:nvSpPr>
          <p:cNvPr id="12" name="Text 10"/>
          <p:cNvSpPr/>
          <p:nvPr/>
        </p:nvSpPr>
        <p:spPr>
          <a:xfrm>
            <a:off x="1005840" y="4251960"/>
            <a:ext cx="4572000" cy="27432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Interactive Tamper Detection Lab</a:t>
            </a:r>
            <a:endParaRPr lang="en-US" sz="1100" dirty="0"/>
          </a:p>
        </p:txBody>
      </p:sp>
      <p:sp>
        <p:nvSpPr>
          <p:cNvPr id="13" name="Text 11"/>
          <p:cNvSpPr/>
          <p:nvPr/>
        </p:nvSpPr>
        <p:spPr>
          <a:xfrm>
            <a:off x="1188720" y="4507992"/>
            <a:ext cx="4389120" cy="59436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Built-in live auditor screen: simulates intentional text edits (e.g., changing 10.2 to 14.0). Shows how cryptographic seals immediately fail verification.</a:t>
            </a:r>
            <a:endParaRPr lang="en-US" sz="1000" dirty="0"/>
          </a:p>
        </p:txBody>
      </p:sp>
      <p:sp>
        <p:nvSpPr>
          <p:cNvPr id="14" name="Text 12"/>
          <p:cNvSpPr/>
          <p:nvPr/>
        </p:nvSpPr>
        <p:spPr>
          <a:xfrm>
            <a:off x="1005840" y="5166360"/>
            <a:ext cx="4572000" cy="27432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Zero Memory Footprint &amp; Guest Mode</a:t>
            </a:r>
            <a:endParaRPr lang="en-US" sz="1100" dirty="0"/>
          </a:p>
        </p:txBody>
      </p:sp>
      <p:sp>
        <p:nvSpPr>
          <p:cNvPr id="15" name="Text 13"/>
          <p:cNvSpPr/>
          <p:nvPr/>
        </p:nvSpPr>
        <p:spPr>
          <a:xfrm>
            <a:off x="1188720" y="5422392"/>
            <a:ext cx="4389120" cy="59436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Ephemeral in-memory processing. Full functionality accessible offline with zero account creation required.</a:t>
            </a:r>
            <a:endParaRPr lang="en-US" sz="1000" dirty="0"/>
          </a:p>
        </p:txBody>
      </p:sp>
      <p:sp>
        <p:nvSpPr>
          <p:cNvPr id="16" name="Shape 14"/>
          <p:cNvSpPr/>
          <p:nvPr/>
        </p:nvSpPr>
        <p:spPr>
          <a:xfrm>
            <a:off x="6217920" y="1828800"/>
            <a:ext cx="5212080" cy="4389120"/>
          </a:xfrm>
          <a:prstGeom prst="roundRect">
            <a:avLst>
              <a:gd name="adj" fmla="val 2500"/>
            </a:avLst>
          </a:prstGeom>
          <a:solidFill>
            <a:srgbClr val="111C38"/>
          </a:solidFill>
          <a:ln w="12700">
            <a:solidFill>
              <a:srgbClr val="0D9488"/>
            </a:solidFill>
            <a:prstDash val="solid"/>
          </a:ln>
        </p:spPr>
      </p:sp>
      <p:sp>
        <p:nvSpPr>
          <p:cNvPr id="17" name="Text 15"/>
          <p:cNvSpPr/>
          <p:nvPr/>
        </p:nvSpPr>
        <p:spPr>
          <a:xfrm>
            <a:off x="6492240" y="2011680"/>
            <a:ext cx="4663440" cy="320040"/>
          </a:xfrm>
          <a:prstGeom prst="rect">
            <a:avLst/>
          </a:prstGeom>
          <a:noFill/>
          <a:ln/>
        </p:spPr>
        <p:txBody>
          <a:bodyPr wrap="square" rtlCol="0" anchor="ctr"/>
          <a:lstStyle/>
          <a:p>
            <a:pPr indent="0" marL="0">
              <a:buNone/>
            </a:pPr>
            <a:r>
              <a:rPr lang="en-US" sz="1200" b="1" dirty="0">
                <a:solidFill>
                  <a:srgbClr val="14B8A6"/>
                </a:solidFill>
                <a:latin typeface="Arial" pitchFamily="34" charset="0"/>
                <a:ea typeface="Arial" pitchFamily="34" charset="-122"/>
                <a:cs typeface="Arial" pitchFamily="34" charset="-120"/>
              </a:rPr>
              <a:t>PHYSICIAN-READY DOCTOR VISIT BRIEF</a:t>
            </a:r>
            <a:endParaRPr lang="en-US" sz="1200" dirty="0"/>
          </a:p>
        </p:txBody>
      </p:sp>
      <p:sp>
        <p:nvSpPr>
          <p:cNvPr id="18" name="Text 16"/>
          <p:cNvSpPr/>
          <p:nvPr/>
        </p:nvSpPr>
        <p:spPr>
          <a:xfrm>
            <a:off x="6492240" y="2377440"/>
            <a:ext cx="4663440" cy="548640"/>
          </a:xfrm>
          <a:prstGeom prst="rect">
            <a:avLst/>
          </a:prstGeom>
          <a:noFill/>
          <a:ln/>
        </p:spPr>
        <p:txBody>
          <a:bodyPr wrap="square" rtlCol="0" anchor="ctr"/>
          <a:lstStyle/>
          <a:p>
            <a:pPr indent="0" marL="0">
              <a:buNone/>
            </a:pPr>
            <a:r>
              <a:rPr lang="en-US" sz="1050" dirty="0">
                <a:solidFill>
                  <a:srgbClr val="94A3B8"/>
                </a:solidFill>
                <a:latin typeface="Arial" pitchFamily="34" charset="0"/>
                <a:ea typeface="Arial" pitchFamily="34" charset="-122"/>
                <a:cs typeface="Arial" pitchFamily="34" charset="-120"/>
              </a:rPr>
              <a:t>Empowering patients to have high-efficiency, targeted discussions with their healthcare providers without overwhelming clinical jargon.</a:t>
            </a:r>
            <a:endParaRPr lang="en-US" sz="1050" dirty="0"/>
          </a:p>
        </p:txBody>
      </p:sp>
      <p:sp>
        <p:nvSpPr>
          <p:cNvPr id="19" name="Shape 17"/>
          <p:cNvSpPr/>
          <p:nvPr/>
        </p:nvSpPr>
        <p:spPr>
          <a:xfrm>
            <a:off x="6492240" y="3017520"/>
            <a:ext cx="4663440" cy="640080"/>
          </a:xfrm>
          <a:prstGeom prst="roundRect">
            <a:avLst>
              <a:gd name="adj" fmla="val 11429"/>
            </a:avLst>
          </a:prstGeom>
          <a:solidFill>
            <a:srgbClr val="192749"/>
          </a:solidFill>
          <a:ln w="12700">
            <a:solidFill>
              <a:srgbClr val="2A3D6B"/>
            </a:solidFill>
            <a:prstDash val="solid"/>
          </a:ln>
        </p:spPr>
      </p:sp>
      <p:sp>
        <p:nvSpPr>
          <p:cNvPr id="20" name="Text 18"/>
          <p:cNvSpPr/>
          <p:nvPr/>
        </p:nvSpPr>
        <p:spPr>
          <a:xfrm>
            <a:off x="6629400" y="3090672"/>
            <a:ext cx="4389120" cy="256032"/>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Flagged Biomarker Digest</a:t>
            </a:r>
            <a:endParaRPr lang="en-US" sz="1100" dirty="0"/>
          </a:p>
        </p:txBody>
      </p:sp>
      <p:sp>
        <p:nvSpPr>
          <p:cNvPr id="21" name="Text 19"/>
          <p:cNvSpPr/>
          <p:nvPr/>
        </p:nvSpPr>
        <p:spPr>
          <a:xfrm>
            <a:off x="6858000" y="3328416"/>
            <a:ext cx="4114800" cy="274320"/>
          </a:xfrm>
          <a:prstGeom prst="rect">
            <a:avLst/>
          </a:prstGeom>
          <a:noFill/>
          <a:ln/>
        </p:spPr>
        <p:txBody>
          <a:bodyPr wrap="square" rtlCol="0" anchor="ctr"/>
          <a:lstStyle/>
          <a:p>
            <a:pPr indent="0" marL="0">
              <a:buNone/>
            </a:pPr>
            <a:r>
              <a:rPr lang="en-US" sz="950" dirty="0">
                <a:solidFill>
                  <a:srgbClr val="38BDF8"/>
                </a:solidFill>
                <a:latin typeface="Arial" pitchFamily="34" charset="0"/>
                <a:ea typeface="Arial" pitchFamily="34" charset="-122"/>
                <a:cs typeface="Arial" pitchFamily="34" charset="-120"/>
              </a:rPr>
              <a:t>Isolates out-of-range findings with laboratory reference context.</a:t>
            </a:r>
            <a:endParaRPr lang="en-US" sz="950" dirty="0"/>
          </a:p>
        </p:txBody>
      </p:sp>
      <p:sp>
        <p:nvSpPr>
          <p:cNvPr id="22" name="Shape 20"/>
          <p:cNvSpPr/>
          <p:nvPr/>
        </p:nvSpPr>
        <p:spPr>
          <a:xfrm>
            <a:off x="6492240" y="3749040"/>
            <a:ext cx="4663440" cy="640080"/>
          </a:xfrm>
          <a:prstGeom prst="roundRect">
            <a:avLst>
              <a:gd name="adj" fmla="val 11429"/>
            </a:avLst>
          </a:prstGeom>
          <a:solidFill>
            <a:srgbClr val="192749"/>
          </a:solidFill>
          <a:ln w="12700">
            <a:solidFill>
              <a:srgbClr val="2A3D6B"/>
            </a:solidFill>
            <a:prstDash val="solid"/>
          </a:ln>
        </p:spPr>
      </p:sp>
      <p:sp>
        <p:nvSpPr>
          <p:cNvPr id="23" name="Text 21"/>
          <p:cNvSpPr/>
          <p:nvPr/>
        </p:nvSpPr>
        <p:spPr>
          <a:xfrm>
            <a:off x="6629400" y="3822192"/>
            <a:ext cx="4389120" cy="256032"/>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Active Medication Snapshot</a:t>
            </a:r>
            <a:endParaRPr lang="en-US" sz="1100" dirty="0"/>
          </a:p>
        </p:txBody>
      </p:sp>
      <p:sp>
        <p:nvSpPr>
          <p:cNvPr id="24" name="Text 22"/>
          <p:cNvSpPr/>
          <p:nvPr/>
        </p:nvSpPr>
        <p:spPr>
          <a:xfrm>
            <a:off x="6858000" y="4059936"/>
            <a:ext cx="4114800" cy="274320"/>
          </a:xfrm>
          <a:prstGeom prst="rect">
            <a:avLst/>
          </a:prstGeom>
          <a:noFill/>
          <a:ln/>
        </p:spPr>
        <p:txBody>
          <a:bodyPr wrap="square" rtlCol="0" anchor="ctr"/>
          <a:lstStyle/>
          <a:p>
            <a:pPr indent="0" marL="0">
              <a:buNone/>
            </a:pPr>
            <a:r>
              <a:rPr lang="en-US" sz="950" dirty="0">
                <a:solidFill>
                  <a:srgbClr val="38BDF8"/>
                </a:solidFill>
                <a:latin typeface="Arial" pitchFamily="34" charset="0"/>
                <a:ea typeface="Arial" pitchFamily="34" charset="-122"/>
                <a:cs typeface="Arial" pitchFamily="34" charset="-120"/>
              </a:rPr>
              <a:t>Lists all detected OTC active ingredients and interaction flags.</a:t>
            </a:r>
            <a:endParaRPr lang="en-US" sz="950" dirty="0"/>
          </a:p>
        </p:txBody>
      </p:sp>
      <p:sp>
        <p:nvSpPr>
          <p:cNvPr id="25" name="Shape 23"/>
          <p:cNvSpPr/>
          <p:nvPr/>
        </p:nvSpPr>
        <p:spPr>
          <a:xfrm>
            <a:off x="6492240" y="4480560"/>
            <a:ext cx="4663440" cy="640080"/>
          </a:xfrm>
          <a:prstGeom prst="roundRect">
            <a:avLst>
              <a:gd name="adj" fmla="val 11429"/>
            </a:avLst>
          </a:prstGeom>
          <a:solidFill>
            <a:srgbClr val="192749"/>
          </a:solidFill>
          <a:ln w="12700">
            <a:solidFill>
              <a:srgbClr val="2A3D6B"/>
            </a:solidFill>
            <a:prstDash val="solid"/>
          </a:ln>
        </p:spPr>
      </p:sp>
      <p:sp>
        <p:nvSpPr>
          <p:cNvPr id="26" name="Text 24"/>
          <p:cNvSpPr/>
          <p:nvPr/>
        </p:nvSpPr>
        <p:spPr>
          <a:xfrm>
            <a:off x="6629400" y="4553712"/>
            <a:ext cx="4389120" cy="256032"/>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Curated Doctor Questions</a:t>
            </a:r>
            <a:endParaRPr lang="en-US" sz="1100" dirty="0"/>
          </a:p>
        </p:txBody>
      </p:sp>
      <p:sp>
        <p:nvSpPr>
          <p:cNvPr id="27" name="Text 25"/>
          <p:cNvSpPr/>
          <p:nvPr/>
        </p:nvSpPr>
        <p:spPr>
          <a:xfrm>
            <a:off x="6858000" y="4791456"/>
            <a:ext cx="4114800" cy="274320"/>
          </a:xfrm>
          <a:prstGeom prst="rect">
            <a:avLst/>
          </a:prstGeom>
          <a:noFill/>
          <a:ln/>
        </p:spPr>
        <p:txBody>
          <a:bodyPr wrap="square" rtlCol="0" anchor="ctr"/>
          <a:lstStyle/>
          <a:p>
            <a:pPr indent="0" marL="0">
              <a:buNone/>
            </a:pPr>
            <a:r>
              <a:rPr lang="en-US" sz="950" dirty="0">
                <a:solidFill>
                  <a:srgbClr val="38BDF8"/>
                </a:solidFill>
                <a:latin typeface="Arial" pitchFamily="34" charset="0"/>
                <a:ea typeface="Arial" pitchFamily="34" charset="-122"/>
                <a:cs typeface="Arial" pitchFamily="34" charset="-120"/>
              </a:rPr>
              <a:t>Generates tailored questions for the patient to ask their physician.</a:t>
            </a:r>
            <a:endParaRPr lang="en-US" sz="950" dirty="0"/>
          </a:p>
        </p:txBody>
      </p:sp>
      <p:sp>
        <p:nvSpPr>
          <p:cNvPr id="28" name="Shape 26"/>
          <p:cNvSpPr/>
          <p:nvPr/>
        </p:nvSpPr>
        <p:spPr>
          <a:xfrm>
            <a:off x="6492240" y="5349240"/>
            <a:ext cx="4663440" cy="685800"/>
          </a:xfrm>
          <a:prstGeom prst="roundRect">
            <a:avLst>
              <a:gd name="adj" fmla="val 10667"/>
            </a:avLst>
          </a:prstGeom>
          <a:solidFill>
            <a:srgbClr val="132E48"/>
          </a:solidFill>
          <a:ln w="12700">
            <a:solidFill>
              <a:srgbClr val="38BDF8"/>
            </a:solidFill>
            <a:prstDash val="solid"/>
          </a:ln>
        </p:spPr>
      </p:sp>
      <p:sp>
        <p:nvSpPr>
          <p:cNvPr id="29" name="Text 27"/>
          <p:cNvSpPr/>
          <p:nvPr/>
        </p:nvSpPr>
        <p:spPr>
          <a:xfrm>
            <a:off x="6629400" y="5413248"/>
            <a:ext cx="4389120" cy="22860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MULTI-FORMAT EXPORT ENGINE:</a:t>
            </a:r>
            <a:endParaRPr lang="en-US" sz="950" dirty="0"/>
          </a:p>
        </p:txBody>
      </p:sp>
      <p:sp>
        <p:nvSpPr>
          <p:cNvPr id="30" name="Text 28"/>
          <p:cNvSpPr/>
          <p:nvPr/>
        </p:nvSpPr>
        <p:spPr>
          <a:xfrm>
            <a:off x="6629400" y="5650992"/>
            <a:ext cx="4389120" cy="320040"/>
          </a:xfrm>
          <a:prstGeom prst="rect">
            <a:avLst/>
          </a:prstGeom>
          <a:noFill/>
          <a:ln/>
        </p:spPr>
        <p:txBody>
          <a:bodyPr wrap="square" rtlCol="0" anchor="ctr"/>
          <a:lstStyle/>
          <a:p>
            <a:pPr indent="0" marL="0">
              <a:buNone/>
            </a:pPr>
            <a:r>
              <a:rPr lang="en-US" sz="900" dirty="0">
                <a:solidFill>
                  <a:srgbClr val="F8FAFC"/>
                </a:solidFill>
                <a:latin typeface="Arial" pitchFamily="34" charset="0"/>
                <a:ea typeface="Arial" pitchFamily="34" charset="-122"/>
                <a:cs typeface="Arial" pitchFamily="34" charset="-120"/>
              </a:rPr>
              <a:t>• Markdown (.md) for personal notes  • CSV (.csv) for EMRs  • JSON payload for EHR APIs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731520" y="411480"/>
            <a:ext cx="2377440" cy="320040"/>
          </a:xfrm>
          <a:prstGeom prst="roundRect">
            <a:avLst>
              <a:gd name="adj" fmla="val 42857"/>
            </a:avLst>
          </a:prstGeom>
          <a:solidFill>
            <a:srgbClr val="132E48"/>
          </a:solidFill>
          <a:ln w="12700">
            <a:solidFill>
              <a:srgbClr val="38BDF8"/>
            </a:solidFill>
            <a:prstDash val="solid"/>
          </a:ln>
        </p:spPr>
      </p:sp>
      <p:sp>
        <p:nvSpPr>
          <p:cNvPr id="3" name="Text 1"/>
          <p:cNvSpPr/>
          <p:nvPr/>
        </p:nvSpPr>
        <p:spPr>
          <a:xfrm>
            <a:off x="731520" y="411480"/>
            <a:ext cx="2377440" cy="32004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QUALITY &amp; VALIDATION</a:t>
            </a:r>
            <a:endParaRPr lang="en-US" sz="1000" dirty="0"/>
          </a:p>
        </p:txBody>
      </p:sp>
      <p:sp>
        <p:nvSpPr>
          <p:cNvPr id="4" name="Text 2"/>
          <p:cNvSpPr/>
          <p:nvPr/>
        </p:nvSpPr>
        <p:spPr>
          <a:xfrm>
            <a:off x="731520" y="777240"/>
            <a:ext cx="10515600" cy="548640"/>
          </a:xfrm>
          <a:prstGeom prst="rect">
            <a:avLst/>
          </a:prstGeom>
          <a:noFill/>
          <a:ln/>
        </p:spPr>
        <p:txBody>
          <a:bodyPr wrap="square" rtlCol="0" anchor="ctr"/>
          <a:lstStyle/>
          <a:p>
            <a:pPr indent="0" marL="0">
              <a:buNone/>
            </a:pPr>
            <a:r>
              <a:rPr lang="en-US" sz="2400" b="1" dirty="0">
                <a:solidFill>
                  <a:srgbClr val="F8FAFC"/>
                </a:solidFill>
                <a:latin typeface="Arial" pitchFamily="34" charset="0"/>
                <a:ea typeface="Arial" pitchFamily="34" charset="-122"/>
                <a:cs typeface="Arial" pitchFamily="34" charset="-120"/>
              </a:rPr>
              <a:t>Rigorous Automated Testing &amp; Verification Metrics</a:t>
            </a:r>
            <a:endParaRPr lang="en-US" sz="2400" dirty="0"/>
          </a:p>
        </p:txBody>
      </p:sp>
      <p:sp>
        <p:nvSpPr>
          <p:cNvPr id="5" name="Text 3"/>
          <p:cNvSpPr/>
          <p:nvPr/>
        </p:nvSpPr>
        <p:spPr>
          <a:xfrm>
            <a:off x="731520" y="128016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100% automated test coverage validating safety, quote integrity, and zero regressions</a:t>
            </a:r>
            <a:endParaRPr lang="en-US" sz="1300" dirty="0"/>
          </a:p>
        </p:txBody>
      </p:sp>
      <p:sp>
        <p:nvSpPr>
          <p:cNvPr id="6" name="Shape 4"/>
          <p:cNvSpPr/>
          <p:nvPr/>
        </p:nvSpPr>
        <p:spPr>
          <a:xfrm>
            <a:off x="731520" y="1828800"/>
            <a:ext cx="2560320" cy="1234440"/>
          </a:xfrm>
          <a:prstGeom prst="roundRect">
            <a:avLst>
              <a:gd name="adj" fmla="val 7407"/>
            </a:avLst>
          </a:prstGeom>
          <a:solidFill>
            <a:srgbClr val="1C2541"/>
          </a:solidFill>
          <a:ln w="19050">
            <a:solidFill>
              <a:srgbClr val="10B981"/>
            </a:solidFill>
            <a:prstDash val="solid"/>
          </a:ln>
        </p:spPr>
      </p:sp>
      <p:sp>
        <p:nvSpPr>
          <p:cNvPr id="7" name="Text 5"/>
          <p:cNvSpPr/>
          <p:nvPr/>
        </p:nvSpPr>
        <p:spPr>
          <a:xfrm>
            <a:off x="822960" y="1920240"/>
            <a:ext cx="2377440" cy="228600"/>
          </a:xfrm>
          <a:prstGeom prst="rect">
            <a:avLst/>
          </a:prstGeom>
          <a:noFill/>
          <a:ln/>
        </p:spPr>
        <p:txBody>
          <a:bodyPr wrap="square" rtlCol="0" anchor="ctr"/>
          <a:lstStyle/>
          <a:p>
            <a:pPr algn="ctr" indent="0" marL="0">
              <a:buNone/>
            </a:pPr>
            <a:r>
              <a:rPr lang="en-US" sz="900" b="1" dirty="0">
                <a:solidFill>
                  <a:srgbClr val="94A3B8"/>
                </a:solidFill>
                <a:latin typeface="Arial" pitchFamily="34" charset="0"/>
                <a:ea typeface="Arial" pitchFamily="34" charset="-122"/>
                <a:cs typeface="Arial" pitchFamily="34" charset="-120"/>
              </a:rPr>
              <a:t>TEST SUITES</a:t>
            </a:r>
            <a:endParaRPr lang="en-US" sz="900" dirty="0"/>
          </a:p>
        </p:txBody>
      </p:sp>
      <p:sp>
        <p:nvSpPr>
          <p:cNvPr id="8" name="Text 6"/>
          <p:cNvSpPr/>
          <p:nvPr/>
        </p:nvSpPr>
        <p:spPr>
          <a:xfrm>
            <a:off x="822960" y="2148840"/>
            <a:ext cx="2377440" cy="457200"/>
          </a:xfrm>
          <a:prstGeom prst="rect">
            <a:avLst/>
          </a:prstGeom>
          <a:noFill/>
          <a:ln/>
        </p:spPr>
        <p:txBody>
          <a:bodyPr wrap="square" rtlCol="0" anchor="ctr"/>
          <a:lstStyle/>
          <a:p>
            <a:pPr algn="ctr" indent="0" marL="0">
              <a:buNone/>
            </a:pPr>
            <a:r>
              <a:rPr lang="en-US" sz="2200" b="1" dirty="0">
                <a:solidFill>
                  <a:srgbClr val="10B981"/>
                </a:solidFill>
                <a:latin typeface="Arial" pitchFamily="34" charset="0"/>
                <a:ea typeface="Arial" pitchFamily="34" charset="-122"/>
                <a:cs typeface="Arial" pitchFamily="34" charset="-120"/>
              </a:rPr>
              <a:t>19 / 19</a:t>
            </a:r>
            <a:endParaRPr lang="en-US" sz="2200" dirty="0"/>
          </a:p>
        </p:txBody>
      </p:sp>
      <p:sp>
        <p:nvSpPr>
          <p:cNvPr id="9" name="Text 7"/>
          <p:cNvSpPr/>
          <p:nvPr/>
        </p:nvSpPr>
        <p:spPr>
          <a:xfrm>
            <a:off x="822960" y="2651760"/>
            <a:ext cx="2377440" cy="274320"/>
          </a:xfrm>
          <a:prstGeom prst="rect">
            <a:avLst/>
          </a:prstGeom>
          <a:noFill/>
          <a:ln/>
        </p:spPr>
        <p:txBody>
          <a:bodyPr wrap="square" rtlCol="0" anchor="ctr"/>
          <a:lstStyle/>
          <a:p>
            <a:pPr algn="ctr" indent="0" marL="0">
              <a:buNone/>
            </a:pPr>
            <a:r>
              <a:rPr lang="en-US" sz="950" dirty="0">
                <a:solidFill>
                  <a:srgbClr val="F8FAFC"/>
                </a:solidFill>
                <a:latin typeface="Arial" pitchFamily="34" charset="0"/>
                <a:ea typeface="Arial" pitchFamily="34" charset="-122"/>
                <a:cs typeface="Arial" pitchFamily="34" charset="-120"/>
              </a:rPr>
              <a:t>100% Passing</a:t>
            </a:r>
            <a:endParaRPr lang="en-US" sz="950" dirty="0"/>
          </a:p>
        </p:txBody>
      </p:sp>
      <p:sp>
        <p:nvSpPr>
          <p:cNvPr id="10" name="Shape 8"/>
          <p:cNvSpPr/>
          <p:nvPr/>
        </p:nvSpPr>
        <p:spPr>
          <a:xfrm>
            <a:off x="3429000" y="1828800"/>
            <a:ext cx="2560320" cy="1234440"/>
          </a:xfrm>
          <a:prstGeom prst="roundRect">
            <a:avLst>
              <a:gd name="adj" fmla="val 7407"/>
            </a:avLst>
          </a:prstGeom>
          <a:solidFill>
            <a:srgbClr val="1C2541"/>
          </a:solidFill>
          <a:ln w="19050">
            <a:solidFill>
              <a:srgbClr val="38BDF8"/>
            </a:solidFill>
            <a:prstDash val="solid"/>
          </a:ln>
        </p:spPr>
      </p:sp>
      <p:sp>
        <p:nvSpPr>
          <p:cNvPr id="11" name="Text 9"/>
          <p:cNvSpPr/>
          <p:nvPr/>
        </p:nvSpPr>
        <p:spPr>
          <a:xfrm>
            <a:off x="3520440" y="1920240"/>
            <a:ext cx="2377440" cy="228600"/>
          </a:xfrm>
          <a:prstGeom prst="rect">
            <a:avLst/>
          </a:prstGeom>
          <a:noFill/>
          <a:ln/>
        </p:spPr>
        <p:txBody>
          <a:bodyPr wrap="square" rtlCol="0" anchor="ctr"/>
          <a:lstStyle/>
          <a:p>
            <a:pPr algn="ctr" indent="0" marL="0">
              <a:buNone/>
            </a:pPr>
            <a:r>
              <a:rPr lang="en-US" sz="900" b="1" dirty="0">
                <a:solidFill>
                  <a:srgbClr val="94A3B8"/>
                </a:solidFill>
                <a:latin typeface="Arial" pitchFamily="34" charset="0"/>
                <a:ea typeface="Arial" pitchFamily="34" charset="-122"/>
                <a:cs typeface="Arial" pitchFamily="34" charset="-120"/>
              </a:rPr>
              <a:t>AUTOMATED TESTS</a:t>
            </a:r>
            <a:endParaRPr lang="en-US" sz="900" dirty="0"/>
          </a:p>
        </p:txBody>
      </p:sp>
      <p:sp>
        <p:nvSpPr>
          <p:cNvPr id="12" name="Text 10"/>
          <p:cNvSpPr/>
          <p:nvPr/>
        </p:nvSpPr>
        <p:spPr>
          <a:xfrm>
            <a:off x="3520440" y="2148840"/>
            <a:ext cx="2377440" cy="457200"/>
          </a:xfrm>
          <a:prstGeom prst="rect">
            <a:avLst/>
          </a:prstGeom>
          <a:noFill/>
          <a:ln/>
        </p:spPr>
        <p:txBody>
          <a:bodyPr wrap="square" rtlCol="0" anchor="ctr"/>
          <a:lstStyle/>
          <a:p>
            <a:pPr algn="ctr" indent="0" marL="0">
              <a:buNone/>
            </a:pPr>
            <a:r>
              <a:rPr lang="en-US" sz="2200" b="1" dirty="0">
                <a:solidFill>
                  <a:srgbClr val="38BDF8"/>
                </a:solidFill>
                <a:latin typeface="Arial" pitchFamily="34" charset="0"/>
                <a:ea typeface="Arial" pitchFamily="34" charset="-122"/>
                <a:cs typeface="Arial" pitchFamily="34" charset="-120"/>
              </a:rPr>
              <a:t>201 Tests</a:t>
            </a:r>
            <a:endParaRPr lang="en-US" sz="2200" dirty="0"/>
          </a:p>
        </p:txBody>
      </p:sp>
      <p:sp>
        <p:nvSpPr>
          <p:cNvPr id="13" name="Text 11"/>
          <p:cNvSpPr/>
          <p:nvPr/>
        </p:nvSpPr>
        <p:spPr>
          <a:xfrm>
            <a:off x="3520440" y="2651760"/>
            <a:ext cx="2377440" cy="274320"/>
          </a:xfrm>
          <a:prstGeom prst="rect">
            <a:avLst/>
          </a:prstGeom>
          <a:noFill/>
          <a:ln/>
        </p:spPr>
        <p:txBody>
          <a:bodyPr wrap="square" rtlCol="0" anchor="ctr"/>
          <a:lstStyle/>
          <a:p>
            <a:pPr algn="ctr" indent="0" marL="0">
              <a:buNone/>
            </a:pPr>
            <a:r>
              <a:rPr lang="en-US" sz="950" dirty="0">
                <a:solidFill>
                  <a:srgbClr val="F8FAFC"/>
                </a:solidFill>
                <a:latin typeface="Arial" pitchFamily="34" charset="0"/>
                <a:ea typeface="Arial" pitchFamily="34" charset="-122"/>
                <a:cs typeface="Arial" pitchFamily="34" charset="-120"/>
              </a:rPr>
              <a:t>Vitest Fast Execution</a:t>
            </a:r>
            <a:endParaRPr lang="en-US" sz="950" dirty="0"/>
          </a:p>
        </p:txBody>
      </p:sp>
      <p:sp>
        <p:nvSpPr>
          <p:cNvPr id="14" name="Shape 12"/>
          <p:cNvSpPr/>
          <p:nvPr/>
        </p:nvSpPr>
        <p:spPr>
          <a:xfrm>
            <a:off x="6126480" y="1828800"/>
            <a:ext cx="2560320" cy="1234440"/>
          </a:xfrm>
          <a:prstGeom prst="roundRect">
            <a:avLst>
              <a:gd name="adj" fmla="val 7407"/>
            </a:avLst>
          </a:prstGeom>
          <a:solidFill>
            <a:srgbClr val="1C2541"/>
          </a:solidFill>
          <a:ln w="19050">
            <a:solidFill>
              <a:srgbClr val="10B981"/>
            </a:solidFill>
            <a:prstDash val="solid"/>
          </a:ln>
        </p:spPr>
      </p:sp>
      <p:sp>
        <p:nvSpPr>
          <p:cNvPr id="15" name="Text 13"/>
          <p:cNvSpPr/>
          <p:nvPr/>
        </p:nvSpPr>
        <p:spPr>
          <a:xfrm>
            <a:off x="6217920" y="1920240"/>
            <a:ext cx="2377440" cy="228600"/>
          </a:xfrm>
          <a:prstGeom prst="rect">
            <a:avLst/>
          </a:prstGeom>
          <a:noFill/>
          <a:ln/>
        </p:spPr>
        <p:txBody>
          <a:bodyPr wrap="square" rtlCol="0" anchor="ctr"/>
          <a:lstStyle/>
          <a:p>
            <a:pPr algn="ctr" indent="0" marL="0">
              <a:buNone/>
            </a:pPr>
            <a:r>
              <a:rPr lang="en-US" sz="900" b="1" dirty="0">
                <a:solidFill>
                  <a:srgbClr val="94A3B8"/>
                </a:solidFill>
                <a:latin typeface="Arial" pitchFamily="34" charset="0"/>
                <a:ea typeface="Arial" pitchFamily="34" charset="-122"/>
                <a:cs typeface="Arial" pitchFamily="34" charset="-120"/>
              </a:rPr>
              <a:t>TYPESCRIPT ERRORS</a:t>
            </a:r>
            <a:endParaRPr lang="en-US" sz="900" dirty="0"/>
          </a:p>
        </p:txBody>
      </p:sp>
      <p:sp>
        <p:nvSpPr>
          <p:cNvPr id="16" name="Text 14"/>
          <p:cNvSpPr/>
          <p:nvPr/>
        </p:nvSpPr>
        <p:spPr>
          <a:xfrm>
            <a:off x="6217920" y="2148840"/>
            <a:ext cx="2377440" cy="457200"/>
          </a:xfrm>
          <a:prstGeom prst="rect">
            <a:avLst/>
          </a:prstGeom>
          <a:noFill/>
          <a:ln/>
        </p:spPr>
        <p:txBody>
          <a:bodyPr wrap="square" rtlCol="0" anchor="ctr"/>
          <a:lstStyle/>
          <a:p>
            <a:pPr algn="ctr" indent="0" marL="0">
              <a:buNone/>
            </a:pPr>
            <a:r>
              <a:rPr lang="en-US" sz="2200" b="1" dirty="0">
                <a:solidFill>
                  <a:srgbClr val="10B981"/>
                </a:solidFill>
                <a:latin typeface="Arial" pitchFamily="34" charset="0"/>
                <a:ea typeface="Arial" pitchFamily="34" charset="-122"/>
                <a:cs typeface="Arial" pitchFamily="34" charset="-120"/>
              </a:rPr>
              <a:t>0 Errors</a:t>
            </a:r>
            <a:endParaRPr lang="en-US" sz="2200" dirty="0"/>
          </a:p>
        </p:txBody>
      </p:sp>
      <p:sp>
        <p:nvSpPr>
          <p:cNvPr id="17" name="Text 15"/>
          <p:cNvSpPr/>
          <p:nvPr/>
        </p:nvSpPr>
        <p:spPr>
          <a:xfrm>
            <a:off x="6217920" y="2651760"/>
            <a:ext cx="2377440" cy="274320"/>
          </a:xfrm>
          <a:prstGeom prst="rect">
            <a:avLst/>
          </a:prstGeom>
          <a:noFill/>
          <a:ln/>
        </p:spPr>
        <p:txBody>
          <a:bodyPr wrap="square" rtlCol="0" anchor="ctr"/>
          <a:lstStyle/>
          <a:p>
            <a:pPr algn="ctr" indent="0" marL="0">
              <a:buNone/>
            </a:pPr>
            <a:r>
              <a:rPr lang="en-US" sz="950" dirty="0">
                <a:solidFill>
                  <a:srgbClr val="F8FAFC"/>
                </a:solidFill>
                <a:latin typeface="Arial" pitchFamily="34" charset="0"/>
                <a:ea typeface="Arial" pitchFamily="34" charset="-122"/>
                <a:cs typeface="Arial" pitchFamily="34" charset="-120"/>
              </a:rPr>
              <a:t>Strict Type Safety</a:t>
            </a:r>
            <a:endParaRPr lang="en-US" sz="950" dirty="0"/>
          </a:p>
        </p:txBody>
      </p:sp>
      <p:sp>
        <p:nvSpPr>
          <p:cNvPr id="18" name="Shape 16"/>
          <p:cNvSpPr/>
          <p:nvPr/>
        </p:nvSpPr>
        <p:spPr>
          <a:xfrm>
            <a:off x="8823960" y="1828800"/>
            <a:ext cx="2560320" cy="1234440"/>
          </a:xfrm>
          <a:prstGeom prst="roundRect">
            <a:avLst>
              <a:gd name="adj" fmla="val 7407"/>
            </a:avLst>
          </a:prstGeom>
          <a:solidFill>
            <a:srgbClr val="1C2541"/>
          </a:solidFill>
          <a:ln w="19050">
            <a:solidFill>
              <a:srgbClr val="38BDF8"/>
            </a:solidFill>
            <a:prstDash val="solid"/>
          </a:ln>
        </p:spPr>
      </p:sp>
      <p:sp>
        <p:nvSpPr>
          <p:cNvPr id="19" name="Text 17"/>
          <p:cNvSpPr/>
          <p:nvPr/>
        </p:nvSpPr>
        <p:spPr>
          <a:xfrm>
            <a:off x="8915400" y="1920240"/>
            <a:ext cx="2377440" cy="228600"/>
          </a:xfrm>
          <a:prstGeom prst="rect">
            <a:avLst/>
          </a:prstGeom>
          <a:noFill/>
          <a:ln/>
        </p:spPr>
        <p:txBody>
          <a:bodyPr wrap="square" rtlCol="0" anchor="ctr"/>
          <a:lstStyle/>
          <a:p>
            <a:pPr algn="ctr" indent="0" marL="0">
              <a:buNone/>
            </a:pPr>
            <a:r>
              <a:rPr lang="en-US" sz="900" b="1" dirty="0">
                <a:solidFill>
                  <a:srgbClr val="94A3B8"/>
                </a:solidFill>
                <a:latin typeface="Arial" pitchFamily="34" charset="0"/>
                <a:ea typeface="Arial" pitchFamily="34" charset="-122"/>
                <a:cs typeface="Arial" pitchFamily="34" charset="-120"/>
              </a:rPr>
              <a:t>EVIDENCE LOCK RATE</a:t>
            </a:r>
            <a:endParaRPr lang="en-US" sz="900" dirty="0"/>
          </a:p>
        </p:txBody>
      </p:sp>
      <p:sp>
        <p:nvSpPr>
          <p:cNvPr id="20" name="Text 18"/>
          <p:cNvSpPr/>
          <p:nvPr/>
        </p:nvSpPr>
        <p:spPr>
          <a:xfrm>
            <a:off x="8915400" y="2148840"/>
            <a:ext cx="2377440" cy="457200"/>
          </a:xfrm>
          <a:prstGeom prst="rect">
            <a:avLst/>
          </a:prstGeom>
          <a:noFill/>
          <a:ln/>
        </p:spPr>
        <p:txBody>
          <a:bodyPr wrap="square" rtlCol="0" anchor="ctr"/>
          <a:lstStyle/>
          <a:p>
            <a:pPr algn="ctr" indent="0" marL="0">
              <a:buNone/>
            </a:pPr>
            <a:r>
              <a:rPr lang="en-US" sz="2200" b="1" dirty="0">
                <a:solidFill>
                  <a:srgbClr val="38BDF8"/>
                </a:solidFill>
                <a:latin typeface="Arial" pitchFamily="34" charset="0"/>
                <a:ea typeface="Arial" pitchFamily="34" charset="-122"/>
                <a:cs typeface="Arial" pitchFamily="34" charset="-120"/>
              </a:rPr>
              <a:t>100%</a:t>
            </a:r>
            <a:endParaRPr lang="en-US" sz="2200" dirty="0"/>
          </a:p>
        </p:txBody>
      </p:sp>
      <p:sp>
        <p:nvSpPr>
          <p:cNvPr id="21" name="Text 19"/>
          <p:cNvSpPr/>
          <p:nvPr/>
        </p:nvSpPr>
        <p:spPr>
          <a:xfrm>
            <a:off x="8915400" y="2651760"/>
            <a:ext cx="2377440" cy="274320"/>
          </a:xfrm>
          <a:prstGeom prst="rect">
            <a:avLst/>
          </a:prstGeom>
          <a:noFill/>
          <a:ln/>
        </p:spPr>
        <p:txBody>
          <a:bodyPr wrap="square" rtlCol="0" anchor="ctr"/>
          <a:lstStyle/>
          <a:p>
            <a:pPr algn="ctr" indent="0" marL="0">
              <a:buNone/>
            </a:pPr>
            <a:r>
              <a:rPr lang="en-US" sz="950" dirty="0">
                <a:solidFill>
                  <a:srgbClr val="F8FAFC"/>
                </a:solidFill>
                <a:latin typeface="Arial" pitchFamily="34" charset="0"/>
                <a:ea typeface="Arial" pitchFamily="34" charset="-122"/>
                <a:cs typeface="Arial" pitchFamily="34" charset="-120"/>
              </a:rPr>
              <a:t>Verbatim Quote Match</a:t>
            </a:r>
            <a:endParaRPr lang="en-US" sz="950" dirty="0"/>
          </a:p>
        </p:txBody>
      </p:sp>
      <p:sp>
        <p:nvSpPr>
          <p:cNvPr id="22" name="Shape 20"/>
          <p:cNvSpPr/>
          <p:nvPr/>
        </p:nvSpPr>
        <p:spPr>
          <a:xfrm>
            <a:off x="731520" y="3246120"/>
            <a:ext cx="10698480" cy="2971800"/>
          </a:xfrm>
          <a:prstGeom prst="roundRect">
            <a:avLst>
              <a:gd name="adj" fmla="val 3692"/>
            </a:avLst>
          </a:prstGeom>
          <a:solidFill>
            <a:srgbClr val="111C38"/>
          </a:solidFill>
          <a:ln w="12700">
            <a:solidFill>
              <a:srgbClr val="3A506B"/>
            </a:solidFill>
            <a:prstDash val="solid"/>
          </a:ln>
        </p:spPr>
      </p:sp>
      <p:sp>
        <p:nvSpPr>
          <p:cNvPr id="23" name="Text 21"/>
          <p:cNvSpPr/>
          <p:nvPr/>
        </p:nvSpPr>
        <p:spPr>
          <a:xfrm>
            <a:off x="1005840" y="3429000"/>
            <a:ext cx="9601200" cy="274320"/>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KEY AUTOMATED VERIFICATION SUITES (VITEST)</a:t>
            </a:r>
            <a:endParaRPr lang="en-US" sz="1200" dirty="0"/>
          </a:p>
        </p:txBody>
      </p:sp>
      <p:sp>
        <p:nvSpPr>
          <p:cNvPr id="24" name="Text 22"/>
          <p:cNvSpPr/>
          <p:nvPr/>
        </p:nvSpPr>
        <p:spPr>
          <a:xfrm>
            <a:off x="1005840" y="3794760"/>
            <a:ext cx="2926080" cy="365760"/>
          </a:xfrm>
          <a:prstGeom prst="rect">
            <a:avLst/>
          </a:prstGeom>
          <a:noFill/>
          <a:ln/>
        </p:spPr>
        <p:txBody>
          <a:bodyPr wrap="square" rtlCol="0" anchor="ctr"/>
          <a:lstStyle/>
          <a:p>
            <a:pPr indent="0" marL="0">
              <a:buNone/>
            </a:pPr>
            <a:r>
              <a:rPr lang="en-US" sz="1000" b="1" dirty="0">
                <a:solidFill>
                  <a:srgbClr val="14B8A6"/>
                </a:solidFill>
                <a:latin typeface="Courier New" pitchFamily="34" charset="0"/>
                <a:ea typeface="Courier New" pitchFamily="34" charset="-122"/>
                <a:cs typeface="Courier New" pitchFamily="34" charset="-120"/>
              </a:rPr>
              <a:t>tests/report/engine.test.ts</a:t>
            </a:r>
            <a:endParaRPr lang="en-US" sz="1000" dirty="0"/>
          </a:p>
        </p:txBody>
      </p:sp>
      <p:sp>
        <p:nvSpPr>
          <p:cNvPr id="25" name="Shape 23"/>
          <p:cNvSpPr/>
          <p:nvPr/>
        </p:nvSpPr>
        <p:spPr>
          <a:xfrm>
            <a:off x="4023360" y="3813048"/>
            <a:ext cx="1005840" cy="256032"/>
          </a:xfrm>
          <a:prstGeom prst="roundRect">
            <a:avLst>
              <a:gd name="adj" fmla="val 28571"/>
            </a:avLst>
          </a:prstGeom>
          <a:solidFill>
            <a:srgbClr val="132E48"/>
          </a:solidFill>
          <a:ln w="12700">
            <a:solidFill>
              <a:srgbClr val="38BDF8"/>
            </a:solidFill>
            <a:prstDash val="solid"/>
          </a:ln>
        </p:spPr>
      </p:sp>
      <p:sp>
        <p:nvSpPr>
          <p:cNvPr id="26" name="Text 24"/>
          <p:cNvSpPr/>
          <p:nvPr/>
        </p:nvSpPr>
        <p:spPr>
          <a:xfrm>
            <a:off x="4023360" y="3813048"/>
            <a:ext cx="1005840" cy="256032"/>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69 tests</a:t>
            </a:r>
            <a:endParaRPr lang="en-US" sz="850" dirty="0"/>
          </a:p>
        </p:txBody>
      </p:sp>
      <p:sp>
        <p:nvSpPr>
          <p:cNvPr id="27" name="Text 25"/>
          <p:cNvSpPr/>
          <p:nvPr/>
        </p:nvSpPr>
        <p:spPr>
          <a:xfrm>
            <a:off x="5166360" y="3794760"/>
            <a:ext cx="6035040" cy="36576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Biomarker parsing, decimal boundary calculations, reference range normalization (HIGH/LOW/NORMAL/CRITICAL).</a:t>
            </a:r>
            <a:endParaRPr lang="en-US" sz="950" dirty="0"/>
          </a:p>
        </p:txBody>
      </p:sp>
      <p:sp>
        <p:nvSpPr>
          <p:cNvPr id="28" name="Text 26"/>
          <p:cNvSpPr/>
          <p:nvPr/>
        </p:nvSpPr>
        <p:spPr>
          <a:xfrm>
            <a:off x="1005840" y="4251960"/>
            <a:ext cx="2926080" cy="365760"/>
          </a:xfrm>
          <a:prstGeom prst="rect">
            <a:avLst/>
          </a:prstGeom>
          <a:noFill/>
          <a:ln/>
        </p:spPr>
        <p:txBody>
          <a:bodyPr wrap="square" rtlCol="0" anchor="ctr"/>
          <a:lstStyle/>
          <a:p>
            <a:pPr indent="0" marL="0">
              <a:buNone/>
            </a:pPr>
            <a:r>
              <a:rPr lang="en-US" sz="1000" b="1" dirty="0">
                <a:solidFill>
                  <a:srgbClr val="14B8A6"/>
                </a:solidFill>
                <a:latin typeface="Courier New" pitchFamily="34" charset="0"/>
                <a:ea typeface="Courier New" pitchFamily="34" charset="-122"/>
                <a:cs typeface="Courier New" pitchFamily="34" charset="-120"/>
              </a:rPr>
              <a:t>tests/report/evidence.test.ts</a:t>
            </a:r>
            <a:endParaRPr lang="en-US" sz="1000" dirty="0"/>
          </a:p>
        </p:txBody>
      </p:sp>
      <p:sp>
        <p:nvSpPr>
          <p:cNvPr id="29" name="Shape 27"/>
          <p:cNvSpPr/>
          <p:nvPr/>
        </p:nvSpPr>
        <p:spPr>
          <a:xfrm>
            <a:off x="4023360" y="4270248"/>
            <a:ext cx="1005840" cy="256032"/>
          </a:xfrm>
          <a:prstGeom prst="roundRect">
            <a:avLst>
              <a:gd name="adj" fmla="val 28571"/>
            </a:avLst>
          </a:prstGeom>
          <a:solidFill>
            <a:srgbClr val="132E48"/>
          </a:solidFill>
          <a:ln w="12700">
            <a:solidFill>
              <a:srgbClr val="38BDF8"/>
            </a:solidFill>
            <a:prstDash val="solid"/>
          </a:ln>
        </p:spPr>
      </p:sp>
      <p:sp>
        <p:nvSpPr>
          <p:cNvPr id="30" name="Text 28"/>
          <p:cNvSpPr/>
          <p:nvPr/>
        </p:nvSpPr>
        <p:spPr>
          <a:xfrm>
            <a:off x="4023360" y="4270248"/>
            <a:ext cx="1005840" cy="256032"/>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12 tests</a:t>
            </a:r>
            <a:endParaRPr lang="en-US" sz="850" dirty="0"/>
          </a:p>
        </p:txBody>
      </p:sp>
      <p:sp>
        <p:nvSpPr>
          <p:cNvPr id="31" name="Text 29"/>
          <p:cNvSpPr/>
          <p:nvPr/>
        </p:nvSpPr>
        <p:spPr>
          <a:xfrm>
            <a:off x="5166360" y="4251960"/>
            <a:ext cx="6035040" cy="36576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Substring character offset locking, quote tamper detection, and unverified finding rejection.</a:t>
            </a:r>
            <a:endParaRPr lang="en-US" sz="950" dirty="0"/>
          </a:p>
        </p:txBody>
      </p:sp>
      <p:sp>
        <p:nvSpPr>
          <p:cNvPr id="32" name="Text 30"/>
          <p:cNvSpPr/>
          <p:nvPr/>
        </p:nvSpPr>
        <p:spPr>
          <a:xfrm>
            <a:off x="1005840" y="4709160"/>
            <a:ext cx="2926080" cy="365760"/>
          </a:xfrm>
          <a:prstGeom prst="rect">
            <a:avLst/>
          </a:prstGeom>
          <a:noFill/>
          <a:ln/>
        </p:spPr>
        <p:txBody>
          <a:bodyPr wrap="square" rtlCol="0" anchor="ctr"/>
          <a:lstStyle/>
          <a:p>
            <a:pPr indent="0" marL="0">
              <a:buNone/>
            </a:pPr>
            <a:r>
              <a:rPr lang="en-US" sz="1000" b="1" dirty="0">
                <a:solidFill>
                  <a:srgbClr val="14B8A6"/>
                </a:solidFill>
                <a:latin typeface="Courier New" pitchFamily="34" charset="0"/>
                <a:ea typeface="Courier New" pitchFamily="34" charset="-122"/>
                <a:cs typeface="Courier New" pitchFamily="34" charset="-120"/>
              </a:rPr>
              <a:t>tests/medicine/interactions.test.ts</a:t>
            </a:r>
            <a:endParaRPr lang="en-US" sz="1000" dirty="0"/>
          </a:p>
        </p:txBody>
      </p:sp>
      <p:sp>
        <p:nvSpPr>
          <p:cNvPr id="33" name="Shape 31"/>
          <p:cNvSpPr/>
          <p:nvPr/>
        </p:nvSpPr>
        <p:spPr>
          <a:xfrm>
            <a:off x="4023360" y="4727448"/>
            <a:ext cx="1005840" cy="256032"/>
          </a:xfrm>
          <a:prstGeom prst="roundRect">
            <a:avLst>
              <a:gd name="adj" fmla="val 28571"/>
            </a:avLst>
          </a:prstGeom>
          <a:solidFill>
            <a:srgbClr val="132E48"/>
          </a:solidFill>
          <a:ln w="12700">
            <a:solidFill>
              <a:srgbClr val="38BDF8"/>
            </a:solidFill>
            <a:prstDash val="solid"/>
          </a:ln>
        </p:spPr>
      </p:sp>
      <p:sp>
        <p:nvSpPr>
          <p:cNvPr id="34" name="Text 32"/>
          <p:cNvSpPr/>
          <p:nvPr/>
        </p:nvSpPr>
        <p:spPr>
          <a:xfrm>
            <a:off x="4023360" y="4727448"/>
            <a:ext cx="1005840" cy="256032"/>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15 tests</a:t>
            </a:r>
            <a:endParaRPr lang="en-US" sz="850" dirty="0"/>
          </a:p>
        </p:txBody>
      </p:sp>
      <p:sp>
        <p:nvSpPr>
          <p:cNvPr id="35" name="Text 33"/>
          <p:cNvSpPr/>
          <p:nvPr/>
        </p:nvSpPr>
        <p:spPr>
          <a:xfrm>
            <a:off x="5166360" y="4709160"/>
            <a:ext cx="6035040" cy="36576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Symmetrical pair hashing makePairKey(A,B), alias resolution (Tylenol -&gt; paracetamol), severity categorization.</a:t>
            </a:r>
            <a:endParaRPr lang="en-US" sz="950" dirty="0"/>
          </a:p>
        </p:txBody>
      </p:sp>
      <p:sp>
        <p:nvSpPr>
          <p:cNvPr id="36" name="Text 34"/>
          <p:cNvSpPr/>
          <p:nvPr/>
        </p:nvSpPr>
        <p:spPr>
          <a:xfrm>
            <a:off x="1005840" y="5166360"/>
            <a:ext cx="2926080" cy="365760"/>
          </a:xfrm>
          <a:prstGeom prst="rect">
            <a:avLst/>
          </a:prstGeom>
          <a:noFill/>
          <a:ln/>
        </p:spPr>
        <p:txBody>
          <a:bodyPr wrap="square" rtlCol="0" anchor="ctr"/>
          <a:lstStyle/>
          <a:p>
            <a:pPr indent="0" marL="0">
              <a:buNone/>
            </a:pPr>
            <a:r>
              <a:rPr lang="en-US" sz="1000" b="1" dirty="0">
                <a:solidFill>
                  <a:srgbClr val="14B8A6"/>
                </a:solidFill>
                <a:latin typeface="Courier New" pitchFamily="34" charset="0"/>
                <a:ea typeface="Courier New" pitchFamily="34" charset="-122"/>
                <a:cs typeface="Courier New" pitchFamily="34" charset="-120"/>
              </a:rPr>
              <a:t>tests/report/summaryExport.test.ts</a:t>
            </a:r>
            <a:endParaRPr lang="en-US" sz="1000" dirty="0"/>
          </a:p>
        </p:txBody>
      </p:sp>
      <p:sp>
        <p:nvSpPr>
          <p:cNvPr id="37" name="Shape 35"/>
          <p:cNvSpPr/>
          <p:nvPr/>
        </p:nvSpPr>
        <p:spPr>
          <a:xfrm>
            <a:off x="4023360" y="5184648"/>
            <a:ext cx="1005840" cy="256032"/>
          </a:xfrm>
          <a:prstGeom prst="roundRect">
            <a:avLst>
              <a:gd name="adj" fmla="val 28571"/>
            </a:avLst>
          </a:prstGeom>
          <a:solidFill>
            <a:srgbClr val="132E48"/>
          </a:solidFill>
          <a:ln w="12700">
            <a:solidFill>
              <a:srgbClr val="38BDF8"/>
            </a:solidFill>
            <a:prstDash val="solid"/>
          </a:ln>
        </p:spPr>
      </p:sp>
      <p:sp>
        <p:nvSpPr>
          <p:cNvPr id="38" name="Text 36"/>
          <p:cNvSpPr/>
          <p:nvPr/>
        </p:nvSpPr>
        <p:spPr>
          <a:xfrm>
            <a:off x="4023360" y="5184648"/>
            <a:ext cx="1005840" cy="256032"/>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4 tests</a:t>
            </a:r>
            <a:endParaRPr lang="en-US" sz="850" dirty="0"/>
          </a:p>
        </p:txBody>
      </p:sp>
      <p:sp>
        <p:nvSpPr>
          <p:cNvPr id="39" name="Text 37"/>
          <p:cNvSpPr/>
          <p:nvPr/>
        </p:nvSpPr>
        <p:spPr>
          <a:xfrm>
            <a:off x="5166360" y="5166360"/>
            <a:ext cx="6035040" cy="36576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Deterministic Doctor Brief generation, Markdown formatting, CSV tabular correctness, JSON cryptographic payload.</a:t>
            </a:r>
            <a:endParaRPr lang="en-US" sz="950" dirty="0"/>
          </a:p>
        </p:txBody>
      </p:sp>
      <p:sp>
        <p:nvSpPr>
          <p:cNvPr id="40" name="Text 38"/>
          <p:cNvSpPr/>
          <p:nvPr/>
        </p:nvSpPr>
        <p:spPr>
          <a:xfrm>
            <a:off x="1005840" y="5623560"/>
            <a:ext cx="2926080" cy="365760"/>
          </a:xfrm>
          <a:prstGeom prst="rect">
            <a:avLst/>
          </a:prstGeom>
          <a:noFill/>
          <a:ln/>
        </p:spPr>
        <p:txBody>
          <a:bodyPr wrap="square" rtlCol="0" anchor="ctr"/>
          <a:lstStyle/>
          <a:p>
            <a:pPr indent="0" marL="0">
              <a:buNone/>
            </a:pPr>
            <a:r>
              <a:rPr lang="en-US" sz="1000" b="1" dirty="0">
                <a:solidFill>
                  <a:srgbClr val="14B8A6"/>
                </a:solidFill>
                <a:latin typeface="Courier New" pitchFamily="34" charset="0"/>
                <a:ea typeface="Courier New" pitchFamily="34" charset="-122"/>
                <a:cs typeface="Courier New" pitchFamily="34" charset="-120"/>
              </a:rPr>
              <a:t>tests/shared/model.server.test.ts</a:t>
            </a:r>
            <a:endParaRPr lang="en-US" sz="1000" dirty="0"/>
          </a:p>
        </p:txBody>
      </p:sp>
      <p:sp>
        <p:nvSpPr>
          <p:cNvPr id="41" name="Shape 39"/>
          <p:cNvSpPr/>
          <p:nvPr/>
        </p:nvSpPr>
        <p:spPr>
          <a:xfrm>
            <a:off x="4023360" y="5641848"/>
            <a:ext cx="1005840" cy="256032"/>
          </a:xfrm>
          <a:prstGeom prst="roundRect">
            <a:avLst>
              <a:gd name="adj" fmla="val 28571"/>
            </a:avLst>
          </a:prstGeom>
          <a:solidFill>
            <a:srgbClr val="132E48"/>
          </a:solidFill>
          <a:ln w="12700">
            <a:solidFill>
              <a:srgbClr val="38BDF8"/>
            </a:solidFill>
            <a:prstDash val="solid"/>
          </a:ln>
        </p:spPr>
      </p:sp>
      <p:sp>
        <p:nvSpPr>
          <p:cNvPr id="42" name="Text 40"/>
          <p:cNvSpPr/>
          <p:nvPr/>
        </p:nvSpPr>
        <p:spPr>
          <a:xfrm>
            <a:off x="4023360" y="5641848"/>
            <a:ext cx="1005840" cy="256032"/>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8 tests</a:t>
            </a:r>
            <a:endParaRPr lang="en-US" sz="850" dirty="0"/>
          </a:p>
        </p:txBody>
      </p:sp>
      <p:sp>
        <p:nvSpPr>
          <p:cNvPr id="43" name="Text 41"/>
          <p:cNvSpPr/>
          <p:nvPr/>
        </p:nvSpPr>
        <p:spPr>
          <a:xfrm>
            <a:off x="5166360" y="5623560"/>
            <a:ext cx="6035040" cy="365760"/>
          </a:xfrm>
          <a:prstGeom prst="rect">
            <a:avLst/>
          </a:prstGeom>
          <a:noFill/>
          <a:ln/>
        </p:spPr>
        <p:txBody>
          <a:bodyPr wrap="square" rtlCol="0" anchor="ctr"/>
          <a:lstStyle/>
          <a:p>
            <a:pPr indent="0" marL="0">
              <a:buNone/>
            </a:pPr>
            <a:r>
              <a:rPr lang="en-US" sz="950" dirty="0">
                <a:solidFill>
                  <a:srgbClr val="94A3B8"/>
                </a:solidFill>
                <a:latin typeface="Arial" pitchFamily="34" charset="0"/>
                <a:ea typeface="Arial" pitchFamily="34" charset="-122"/>
                <a:cs typeface="Arial" pitchFamily="34" charset="-120"/>
              </a:rPr>
              <a:t>Gemini multi-model fallback execution, automatic failover when primary models hit quota limits.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731520" y="411480"/>
            <a:ext cx="2377440" cy="320040"/>
          </a:xfrm>
          <a:prstGeom prst="roundRect">
            <a:avLst>
              <a:gd name="adj" fmla="val 42857"/>
            </a:avLst>
          </a:prstGeom>
          <a:solidFill>
            <a:srgbClr val="132E48"/>
          </a:solidFill>
          <a:ln w="12700">
            <a:solidFill>
              <a:srgbClr val="38BDF8"/>
            </a:solidFill>
            <a:prstDash val="solid"/>
          </a:ln>
        </p:spPr>
      </p:sp>
      <p:sp>
        <p:nvSpPr>
          <p:cNvPr id="3" name="Text 1"/>
          <p:cNvSpPr/>
          <p:nvPr/>
        </p:nvSpPr>
        <p:spPr>
          <a:xfrm>
            <a:off x="731520" y="411480"/>
            <a:ext cx="2377440" cy="320040"/>
          </a:xfrm>
          <a:prstGeom prst="rect">
            <a:avLst/>
          </a:prstGeom>
          <a:noFill/>
          <a:ln/>
        </p:spPr>
        <p:txBody>
          <a:bodyPr wrap="square" rtlCol="0" anchor="ctr"/>
          <a:lstStyle/>
          <a:p>
            <a:pPr algn="ctr" indent="0" marL="0">
              <a:buNone/>
            </a:pPr>
            <a:r>
              <a:rPr lang="en-US" sz="1000" b="1" dirty="0">
                <a:solidFill>
                  <a:srgbClr val="38BDF8"/>
                </a:solidFill>
                <a:latin typeface="Arial" pitchFamily="34" charset="0"/>
                <a:ea typeface="Arial" pitchFamily="34" charset="-122"/>
                <a:cs typeface="Arial" pitchFamily="34" charset="-120"/>
              </a:rPr>
              <a:t>SUMMARY &amp; NEXT STEPS</a:t>
            </a:r>
            <a:endParaRPr lang="en-US" sz="1000" dirty="0"/>
          </a:p>
        </p:txBody>
      </p:sp>
      <p:sp>
        <p:nvSpPr>
          <p:cNvPr id="4" name="Text 2"/>
          <p:cNvSpPr/>
          <p:nvPr/>
        </p:nvSpPr>
        <p:spPr>
          <a:xfrm>
            <a:off x="731520" y="777240"/>
            <a:ext cx="10515600" cy="548640"/>
          </a:xfrm>
          <a:prstGeom prst="rect">
            <a:avLst/>
          </a:prstGeom>
          <a:noFill/>
          <a:ln/>
        </p:spPr>
        <p:txBody>
          <a:bodyPr wrap="square" rtlCol="0" anchor="ctr"/>
          <a:lstStyle/>
          <a:p>
            <a:pPr indent="0" marL="0">
              <a:buNone/>
            </a:pPr>
            <a:r>
              <a:rPr lang="en-US" sz="2400" b="1" dirty="0">
                <a:solidFill>
                  <a:srgbClr val="F8FAFC"/>
                </a:solidFill>
                <a:latin typeface="Arial" pitchFamily="34" charset="0"/>
                <a:ea typeface="Arial" pitchFamily="34" charset="-122"/>
                <a:cs typeface="Arial" pitchFamily="34" charset="-120"/>
              </a:rPr>
              <a:t>Conclusion, Clinical Impact &amp; Future Horizon</a:t>
            </a:r>
            <a:endParaRPr lang="en-US" sz="2400" dirty="0"/>
          </a:p>
        </p:txBody>
      </p:sp>
      <p:sp>
        <p:nvSpPr>
          <p:cNvPr id="5" name="Text 3"/>
          <p:cNvSpPr/>
          <p:nvPr/>
        </p:nvSpPr>
        <p:spPr>
          <a:xfrm>
            <a:off x="731520" y="128016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Transforming healthcare data from intimidating paperwork into verified personal intelligence</a:t>
            </a:r>
            <a:endParaRPr lang="en-US" sz="1300" dirty="0"/>
          </a:p>
        </p:txBody>
      </p:sp>
      <p:sp>
        <p:nvSpPr>
          <p:cNvPr id="6" name="Shape 4"/>
          <p:cNvSpPr/>
          <p:nvPr/>
        </p:nvSpPr>
        <p:spPr>
          <a:xfrm>
            <a:off x="731520" y="1828800"/>
            <a:ext cx="5120640" cy="4389120"/>
          </a:xfrm>
          <a:prstGeom prst="roundRect">
            <a:avLst>
              <a:gd name="adj" fmla="val 2500"/>
            </a:avLst>
          </a:prstGeom>
          <a:solidFill>
            <a:srgbClr val="1C2541"/>
          </a:solidFill>
          <a:ln w="19050">
            <a:solidFill>
              <a:srgbClr val="0D9488"/>
            </a:solidFill>
            <a:prstDash val="solid"/>
          </a:ln>
        </p:spPr>
      </p:sp>
      <p:sp>
        <p:nvSpPr>
          <p:cNvPr id="7" name="Text 5"/>
          <p:cNvSpPr/>
          <p:nvPr/>
        </p:nvSpPr>
        <p:spPr>
          <a:xfrm>
            <a:off x="1005840" y="2011680"/>
            <a:ext cx="4572000" cy="320040"/>
          </a:xfrm>
          <a:prstGeom prst="rect">
            <a:avLst/>
          </a:prstGeom>
          <a:noFill/>
          <a:ln/>
        </p:spPr>
        <p:txBody>
          <a:bodyPr wrap="square" rtlCol="0" anchor="ctr"/>
          <a:lstStyle/>
          <a:p>
            <a:pPr indent="0" marL="0">
              <a:buNone/>
            </a:pPr>
            <a:r>
              <a:rPr lang="en-US" sz="1300" b="1" dirty="0">
                <a:solidFill>
                  <a:srgbClr val="14B8A6"/>
                </a:solidFill>
                <a:latin typeface="Arial" pitchFamily="34" charset="0"/>
                <a:ea typeface="Arial" pitchFamily="34" charset="-122"/>
                <a:cs typeface="Arial" pitchFamily="34" charset="-120"/>
              </a:rPr>
              <a:t>CORE PROJECT CONTRIBUTIONS</a:t>
            </a:r>
            <a:endParaRPr lang="en-US" sz="1300" dirty="0"/>
          </a:p>
        </p:txBody>
      </p:sp>
      <p:sp>
        <p:nvSpPr>
          <p:cNvPr id="8" name="Text 6"/>
          <p:cNvSpPr/>
          <p:nvPr/>
        </p:nvSpPr>
        <p:spPr>
          <a:xfrm>
            <a:off x="1005840" y="2423160"/>
            <a:ext cx="4572000" cy="27432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Deterministic Safety Protocol</a:t>
            </a:r>
            <a:endParaRPr lang="en-US" sz="1100" dirty="0"/>
          </a:p>
        </p:txBody>
      </p:sp>
      <p:sp>
        <p:nvSpPr>
          <p:cNvPr id="9" name="Text 7"/>
          <p:cNvSpPr/>
          <p:nvPr/>
        </p:nvSpPr>
        <p:spPr>
          <a:xfrm>
            <a:off x="1280160" y="2697480"/>
            <a:ext cx="4297680" cy="59436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Pioneered 'Evidence First, AI Second' — anchoring probabilistic LLM extractions to verbatim textual proof.</a:t>
            </a:r>
            <a:endParaRPr lang="en-US" sz="1000" dirty="0"/>
          </a:p>
        </p:txBody>
      </p:sp>
      <p:sp>
        <p:nvSpPr>
          <p:cNvPr id="10" name="Text 8"/>
          <p:cNvSpPr/>
          <p:nvPr/>
        </p:nvSpPr>
        <p:spPr>
          <a:xfrm>
            <a:off x="1005840" y="3337560"/>
            <a:ext cx="4572000" cy="27432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Lab-Specific Range Grounding</a:t>
            </a:r>
            <a:endParaRPr lang="en-US" sz="1100" dirty="0"/>
          </a:p>
        </p:txBody>
      </p:sp>
      <p:sp>
        <p:nvSpPr>
          <p:cNvPr id="11" name="Text 9"/>
          <p:cNvSpPr/>
          <p:nvPr/>
        </p:nvSpPr>
        <p:spPr>
          <a:xfrm>
            <a:off x="1280160" y="3611880"/>
            <a:ext cx="4297680" cy="59436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Overcame the generic reference range trap by calculating abnormalities strictly from the printed report boundaries.</a:t>
            </a:r>
            <a:endParaRPr lang="en-US" sz="1000" dirty="0"/>
          </a:p>
        </p:txBody>
      </p:sp>
      <p:sp>
        <p:nvSpPr>
          <p:cNvPr id="12" name="Text 10"/>
          <p:cNvSpPr/>
          <p:nvPr/>
        </p:nvSpPr>
        <p:spPr>
          <a:xfrm>
            <a:off x="1005840" y="4251960"/>
            <a:ext cx="4572000" cy="27432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Authoritative Medication Safety</a:t>
            </a:r>
            <a:endParaRPr lang="en-US" sz="1100" dirty="0"/>
          </a:p>
        </p:txBody>
      </p:sp>
      <p:sp>
        <p:nvSpPr>
          <p:cNvPr id="13" name="Text 11"/>
          <p:cNvSpPr/>
          <p:nvPr/>
        </p:nvSpPr>
        <p:spPr>
          <a:xfrm>
            <a:off x="1280160" y="4526280"/>
            <a:ext cx="4297680" cy="59436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Cross-referenced active drug ingredients with official openFDA monographs and commutative pair checks.</a:t>
            </a:r>
            <a:endParaRPr lang="en-US" sz="1000" dirty="0"/>
          </a:p>
        </p:txBody>
      </p:sp>
      <p:sp>
        <p:nvSpPr>
          <p:cNvPr id="14" name="Text 12"/>
          <p:cNvSpPr/>
          <p:nvPr/>
        </p:nvSpPr>
        <p:spPr>
          <a:xfrm>
            <a:off x="1005840" y="5166360"/>
            <a:ext cx="4572000" cy="27432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Privacy By Architecture</a:t>
            </a:r>
            <a:endParaRPr lang="en-US" sz="1100" dirty="0"/>
          </a:p>
        </p:txBody>
      </p:sp>
      <p:sp>
        <p:nvSpPr>
          <p:cNvPr id="15" name="Text 13"/>
          <p:cNvSpPr/>
          <p:nvPr/>
        </p:nvSpPr>
        <p:spPr>
          <a:xfrm>
            <a:off x="1280160" y="5440680"/>
            <a:ext cx="4297680" cy="59436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Eliminated PII exposure through non-sensitive FNV-1a hashing and zero-obligation offline guest mode.</a:t>
            </a:r>
            <a:endParaRPr lang="en-US" sz="1000" dirty="0"/>
          </a:p>
        </p:txBody>
      </p:sp>
      <p:sp>
        <p:nvSpPr>
          <p:cNvPr id="16" name="Shape 14"/>
          <p:cNvSpPr/>
          <p:nvPr/>
        </p:nvSpPr>
        <p:spPr>
          <a:xfrm>
            <a:off x="6217920" y="1828800"/>
            <a:ext cx="5212080" cy="3200400"/>
          </a:xfrm>
          <a:prstGeom prst="roundRect">
            <a:avLst>
              <a:gd name="adj" fmla="val 3429"/>
            </a:avLst>
          </a:prstGeom>
          <a:solidFill>
            <a:srgbClr val="111C38"/>
          </a:solidFill>
          <a:ln w="12700">
            <a:solidFill>
              <a:srgbClr val="38BDF8"/>
            </a:solidFill>
            <a:prstDash val="solid"/>
          </a:ln>
        </p:spPr>
      </p:sp>
      <p:sp>
        <p:nvSpPr>
          <p:cNvPr id="17" name="Text 15"/>
          <p:cNvSpPr/>
          <p:nvPr/>
        </p:nvSpPr>
        <p:spPr>
          <a:xfrm>
            <a:off x="6492240" y="2011680"/>
            <a:ext cx="4663440" cy="320040"/>
          </a:xfrm>
          <a:prstGeom prst="rect">
            <a:avLst/>
          </a:prstGeom>
          <a:noFill/>
          <a:ln/>
        </p:spPr>
        <p:txBody>
          <a:bodyPr wrap="square" rtlCol="0" anchor="ctr"/>
          <a:lstStyle/>
          <a:p>
            <a:pPr indent="0" marL="0">
              <a:buNone/>
            </a:pPr>
            <a:r>
              <a:rPr lang="en-US" sz="1300" b="1" dirty="0">
                <a:solidFill>
                  <a:srgbClr val="38BDF8"/>
                </a:solidFill>
                <a:latin typeface="Arial" pitchFamily="34" charset="0"/>
                <a:ea typeface="Arial" pitchFamily="34" charset="-122"/>
                <a:cs typeface="Arial" pitchFamily="34" charset="-120"/>
              </a:rPr>
              <a:t>FUTURE SCOPE &amp; CLINICAL HORIZONS</a:t>
            </a:r>
            <a:endParaRPr lang="en-US" sz="1300" dirty="0"/>
          </a:p>
        </p:txBody>
      </p:sp>
      <p:sp>
        <p:nvSpPr>
          <p:cNvPr id="18" name="Text 16"/>
          <p:cNvSpPr/>
          <p:nvPr/>
        </p:nvSpPr>
        <p:spPr>
          <a:xfrm>
            <a:off x="6492240" y="2423160"/>
            <a:ext cx="4663440" cy="27432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HL7 / FHIR Integration</a:t>
            </a:r>
            <a:endParaRPr lang="en-US" sz="1100" dirty="0"/>
          </a:p>
        </p:txBody>
      </p:sp>
      <p:sp>
        <p:nvSpPr>
          <p:cNvPr id="19" name="Text 17"/>
          <p:cNvSpPr/>
          <p:nvPr/>
        </p:nvSpPr>
        <p:spPr>
          <a:xfrm>
            <a:off x="6766560" y="2679192"/>
            <a:ext cx="4389120" cy="45720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Direct bidirectional synchronization with hospital Electronic Health Records (EHR).</a:t>
            </a:r>
            <a:endParaRPr lang="en-US" sz="1000" dirty="0"/>
          </a:p>
        </p:txBody>
      </p:sp>
      <p:sp>
        <p:nvSpPr>
          <p:cNvPr id="20" name="Text 18"/>
          <p:cNvSpPr/>
          <p:nvPr/>
        </p:nvSpPr>
        <p:spPr>
          <a:xfrm>
            <a:off x="6492240" y="3200400"/>
            <a:ext cx="4663440" cy="27432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Global Pharmacopeia Databases</a:t>
            </a:r>
            <a:endParaRPr lang="en-US" sz="1100" dirty="0"/>
          </a:p>
        </p:txBody>
      </p:sp>
      <p:sp>
        <p:nvSpPr>
          <p:cNvPr id="21" name="Text 19"/>
          <p:cNvSpPr/>
          <p:nvPr/>
        </p:nvSpPr>
        <p:spPr>
          <a:xfrm>
            <a:off x="6766560" y="3456432"/>
            <a:ext cx="4389120" cy="45720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Expanding beyond openFDA to EMA (Europe), CDSCO (India), and WHO drug databases.</a:t>
            </a:r>
            <a:endParaRPr lang="en-US" sz="1000" dirty="0"/>
          </a:p>
        </p:txBody>
      </p:sp>
      <p:sp>
        <p:nvSpPr>
          <p:cNvPr id="22" name="Text 20"/>
          <p:cNvSpPr/>
          <p:nvPr/>
        </p:nvSpPr>
        <p:spPr>
          <a:xfrm>
            <a:off x="6492240" y="3977640"/>
            <a:ext cx="4663440" cy="27432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Edge On-Device Inference</a:t>
            </a:r>
            <a:endParaRPr lang="en-US" sz="1100" dirty="0"/>
          </a:p>
        </p:txBody>
      </p:sp>
      <p:sp>
        <p:nvSpPr>
          <p:cNvPr id="23" name="Text 21"/>
          <p:cNvSpPr/>
          <p:nvPr/>
        </p:nvSpPr>
        <p:spPr>
          <a:xfrm>
            <a:off x="6766560" y="4233672"/>
            <a:ext cx="4389120" cy="45720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Local WebAssembly OCR and small language models for 100% private, offline client-side evaluation.</a:t>
            </a:r>
            <a:endParaRPr lang="en-US" sz="1000" dirty="0"/>
          </a:p>
        </p:txBody>
      </p:sp>
      <p:sp>
        <p:nvSpPr>
          <p:cNvPr id="24" name="Shape 22"/>
          <p:cNvSpPr/>
          <p:nvPr/>
        </p:nvSpPr>
        <p:spPr>
          <a:xfrm>
            <a:off x="6217920" y="5166360"/>
            <a:ext cx="5212080" cy="1051560"/>
          </a:xfrm>
          <a:prstGeom prst="roundRect">
            <a:avLst>
              <a:gd name="adj" fmla="val 10435"/>
            </a:avLst>
          </a:prstGeom>
          <a:solidFill>
            <a:srgbClr val="132E48"/>
          </a:solidFill>
          <a:ln w="19050">
            <a:solidFill>
              <a:srgbClr val="14B8A6"/>
            </a:solidFill>
            <a:prstDash val="solid"/>
          </a:ln>
        </p:spPr>
      </p:sp>
      <p:sp>
        <p:nvSpPr>
          <p:cNvPr id="25" name="Text 23"/>
          <p:cNvSpPr/>
          <p:nvPr/>
        </p:nvSpPr>
        <p:spPr>
          <a:xfrm>
            <a:off x="6400800" y="5257800"/>
            <a:ext cx="4846320" cy="411480"/>
          </a:xfrm>
          <a:prstGeom prst="rect">
            <a:avLst/>
          </a:prstGeom>
          <a:noFill/>
          <a:ln/>
        </p:spPr>
        <p:txBody>
          <a:bodyPr wrap="square" rtlCol="0" anchor="ctr"/>
          <a:lstStyle/>
          <a:p>
            <a:pPr algn="ctr" indent="0" marL="0">
              <a:buNone/>
            </a:pPr>
            <a:r>
              <a:rPr lang="en-US" sz="1300" b="1" dirty="0">
                <a:solidFill>
                  <a:srgbClr val="38BDF8"/>
                </a:solidFill>
                <a:latin typeface="Arial" pitchFamily="34" charset="0"/>
                <a:ea typeface="Arial" pitchFamily="34" charset="-122"/>
                <a:cs typeface="Arial" pitchFamily="34" charset="-120"/>
              </a:rPr>
              <a:t>"MediScan: Making AI Accountable to the Medical Truth."</a:t>
            </a:r>
            <a:endParaRPr lang="en-US" sz="1300" dirty="0"/>
          </a:p>
        </p:txBody>
      </p:sp>
      <p:sp>
        <p:nvSpPr>
          <p:cNvPr id="26" name="Text 24"/>
          <p:cNvSpPr/>
          <p:nvPr/>
        </p:nvSpPr>
        <p:spPr>
          <a:xfrm>
            <a:off x="6400800" y="5715000"/>
            <a:ext cx="4846320" cy="365760"/>
          </a:xfrm>
          <a:prstGeom prst="rect">
            <a:avLst/>
          </a:prstGeom>
          <a:noFill/>
          <a:ln/>
        </p:spPr>
        <p:txBody>
          <a:bodyPr wrap="square" rtlCol="0" anchor="ctr"/>
          <a:lstStyle/>
          <a:p>
            <a:pPr algn="ctr" indent="0" marL="0">
              <a:buNone/>
            </a:pPr>
            <a:r>
              <a:rPr lang="en-US" sz="1100" dirty="0">
                <a:solidFill>
                  <a:srgbClr val="F8FAFC"/>
                </a:solidFill>
                <a:latin typeface="Arial" pitchFamily="34" charset="0"/>
                <a:ea typeface="Arial" pitchFamily="34" charset="-122"/>
                <a:cs typeface="Arial" pitchFamily="34" charset="-120"/>
              </a:rPr>
              <a:t>Thank you! Open for Questions &amp; Demonstration.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MediScan V3 - Final Project Presentation</dc:title>
  <dc:subject>Evidence-Locked Personal Health Intelligence &amp; Drug Safety Assistant</dc:subject>
  <dc:creator>MediScan Team</dc:creator>
  <cp:lastModifiedBy>MediScan Team</cp:lastModifiedBy>
  <cp:revision>1</cp:revision>
  <dcterms:created xsi:type="dcterms:W3CDTF">2026-09-22T02:45:24Z</dcterms:created>
  <dcterms:modified xsi:type="dcterms:W3CDTF">2026-09-22T02:45:24Z</dcterms:modified>
</cp:coreProperties>
</file>