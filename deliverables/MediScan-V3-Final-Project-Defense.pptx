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91677660874619" /><Relationship Type="http://schemas.openxmlformats.org/officeDocument/2006/relationships/extended-properties" Target="/docProps/app.xml" Id="R11acd40b5e844de4" /><Relationship Type="http://schemas.openxmlformats.org/officeDocument/2006/relationships/officeDocument" Target="/ppt/presentation.xml" Id="Rde8560c97a594387" /></Relationships>
</file>

<file path=ppt/presentation.xml><?xml version="1.0" encoding="utf-8"?>
<p:presentation xmlns:p="http://schemas.openxmlformats.org/presentationml/2006/main">
  <p:sldMasterIdLst>
    <p:sldMasterId xmlns:r="http://schemas.openxmlformats.org/officeDocument/2006/relationships" id="2147483648" r:id="Rc6abfac371e543a4"/>
  </p:sldMasterIdLst>
  <p:notesMasterIdLst>
    <p:notesMasterId xmlns:r="http://schemas.openxmlformats.org/officeDocument/2006/relationships" r:id="R3554ed9277424b57"/>
  </p:notesMasterIdLst>
  <p:sldIdLst>
    <p:sldId xmlns:r="http://schemas.openxmlformats.org/officeDocument/2006/relationships" id="256" r:id="R3aaca8eb98b24119"/>
    <p:sldId xmlns:r="http://schemas.openxmlformats.org/officeDocument/2006/relationships" id="257" r:id="Ra1c3b306d346415b"/>
    <p:sldId xmlns:r="http://schemas.openxmlformats.org/officeDocument/2006/relationships" id="258" r:id="R13799e93babc4d7e"/>
    <p:sldId xmlns:r="http://schemas.openxmlformats.org/officeDocument/2006/relationships" id="259" r:id="R52b10ead23b8411e"/>
    <p:sldId xmlns:r="http://schemas.openxmlformats.org/officeDocument/2006/relationships" id="260" r:id="Rce6d7236b05d4fac"/>
    <p:sldId xmlns:r="http://schemas.openxmlformats.org/officeDocument/2006/relationships" id="261" r:id="R14495989d99345ad"/>
    <p:sldId xmlns:r="http://schemas.openxmlformats.org/officeDocument/2006/relationships" id="262" r:id="R7c56446c1d8e435b"/>
    <p:sldId xmlns:r="http://schemas.openxmlformats.org/officeDocument/2006/relationships" id="263" r:id="Rd3b91efe47854f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31d15ba0b4447d" /><Relationship Type="http://schemas.openxmlformats.org/officeDocument/2006/relationships/slideMaster" Target="/ppt/slideMasters/slideMaster1.xml" Id="Rc6abfac371e543a4" /><Relationship Type="http://schemas.openxmlformats.org/officeDocument/2006/relationships/notesMaster" Target="/ppt/notesMasters/notesMaster1.xml" Id="R3554ed9277424b57" /><Relationship Type="http://schemas.openxmlformats.org/officeDocument/2006/relationships/presProps" Target="/ppt/presProps.xml" Id="Rf9738212d8a7454b" /><Relationship Type="http://schemas.openxmlformats.org/officeDocument/2006/relationships/tableStyles" Target="/ppt/tableStyles.xml" Id="R370dd3ed786844bc" /><Relationship Type="http://schemas.openxmlformats.org/officeDocument/2006/relationships/slide" Target="/ppt/slides/slide1.xml" Id="R3aaca8eb98b24119" /><Relationship Type="http://schemas.openxmlformats.org/officeDocument/2006/relationships/slide" Target="/ppt/slides/slide2.xml" Id="Ra1c3b306d346415b" /><Relationship Type="http://schemas.openxmlformats.org/officeDocument/2006/relationships/slide" Target="/ppt/slides/slide3.xml" Id="R13799e93babc4d7e" /><Relationship Type="http://schemas.openxmlformats.org/officeDocument/2006/relationships/slide" Target="/ppt/slides/slide4.xml" Id="R52b10ead23b8411e" /><Relationship Type="http://schemas.openxmlformats.org/officeDocument/2006/relationships/slide" Target="/ppt/slides/slide5.xml" Id="Rce6d7236b05d4fac" /><Relationship Type="http://schemas.openxmlformats.org/officeDocument/2006/relationships/slide" Target="/ppt/slides/slide6.xml" Id="R14495989d99345ad" /><Relationship Type="http://schemas.openxmlformats.org/officeDocument/2006/relationships/slide" Target="/ppt/slides/slide7.xml" Id="R7c56446c1d8e435b" /><Relationship Type="http://schemas.openxmlformats.org/officeDocument/2006/relationships/slide" Target="/ppt/slides/slide8.xml" Id="Rd3b91efe47854f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bc20837b5c43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0479e2b9a546ba" /><Relationship Type="http://schemas.openxmlformats.org/officeDocument/2006/relationships/notesMaster" Target="/ppt/notesMasters/notesMaster1.xml" Id="R4bdfcda83d2b4a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21f9af64894f0c" /><Relationship Type="http://schemas.openxmlformats.org/officeDocument/2006/relationships/notesMaster" Target="/ppt/notesMasters/notesMaster1.xml" Id="R9ccdf9b494f643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550e9a3493458e" /><Relationship Type="http://schemas.openxmlformats.org/officeDocument/2006/relationships/notesMaster" Target="/ppt/notesMasters/notesMaster1.xml" Id="Re1f32ed6816a40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eec715947841ca" /><Relationship Type="http://schemas.openxmlformats.org/officeDocument/2006/relationships/notesMaster" Target="/ppt/notesMasters/notesMaster1.xml" Id="Rb21088343c04484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6f64c97b49457e" /><Relationship Type="http://schemas.openxmlformats.org/officeDocument/2006/relationships/notesMaster" Target="/ppt/notesMasters/notesMaster1.xml" Id="Rffeb082f55b348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a5456386d142e0" /><Relationship Type="http://schemas.openxmlformats.org/officeDocument/2006/relationships/notesMaster" Target="/ppt/notesMasters/notesMaster1.xml" Id="Rbcb98fd19ff84a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2903b804254278" /><Relationship Type="http://schemas.openxmlformats.org/officeDocument/2006/relationships/notesMaster" Target="/ppt/notesMasters/notesMaster1.xml" Id="R4b4b4e1769034d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ac20a805f14f45" /><Relationship Type="http://schemas.openxmlformats.org/officeDocument/2006/relationships/notesMaster" Target="/ppt/notesMasters/notesMaster1.xml" Id="Rd6140e7cd33243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saying that MediScan is designed for people who find medical reports hard to read. The product keeps the original evidence visible, then adds a simple explanation and a clear next step. The three pillars are Report Lens, Medicine Lens, and Doctor Brief. The line ‘Evidence first, AI second’ is the trust principle behind every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frames the project in four simple user problems. A report assistant must protect trust, keep the lab context, surface medicine risks, and handle personal data carefully. These are the reasons the product uses verification rules around the AI. They also explain why the interface uses plain language and visible next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from left to right. The front end accepts a report, the AI layer extracts useful fields, and deterministic code checks those fields before the product explains them. Supabase protects saved data with authentication and row-level rules. The evidence trail makes every result easier to review and easier to trust.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Lens keeps the familiar test table but adds a plain meaning column and a next step. This example shows that a user can scan the status first, then open more detail only when needed. The feature avoids replacing the original evidence; it adds a friendly layer over it. The source quote and verification ID remain available for a clinician or a careful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Medicine Lens answers the questions people ask first: what is this, how do I use it, and what should I watch for. The interaction view groups findings into major, moderate, and unknown so the user knows what needs attention first. The app uses FDA reference data and keeps the source warning visible. The severity label helps a person start a conversation with a pharmacist or doctor; it does not diagnose a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links product trust to visible user actions. The verification ID and evidence fingerprint help someone trace a finding back to the report. The Doctor Brief turns a long analysis into a short, useful handoff. Export and copy actions support a real appointment without asking a user to explain the whole report from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quality story is short and concrete. Automated tests cover the report education layer, patient findings, medicine details, history, and the guest flow. TypeScript and the production build provide a second check that the project still ships cleanly. The table stays editable so the team can update coverage as the product grows.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user outcome: a person can understand what their report says and prepare a better conversation with a clinician. V3 delivers plain-language findings, medicine safety cues, a Doctor Brief, and a visible trust layer. The roadmap expands interoperability, reference coverage, and privacy-friendly local processing. The final banner is the simplest description of the product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724a0b9c76457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bf9a24df184bad" /><Relationship Type="http://schemas.openxmlformats.org/officeDocument/2006/relationships/slideLayout" Target="/ppt/slideLayouts/slideLayout1.xml" Id="R17aa6f7959ab49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aa6f7959ab49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cf5b346a6d2466c" /><Relationship Type="http://schemas.openxmlformats.org/officeDocument/2006/relationships/notesSlide" Target="/ppt/notesSlides/notesSlide1.xml" Id="Rdd419620532140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ce7f702dcb4d52" /><Relationship Type="http://schemas.openxmlformats.org/officeDocument/2006/relationships/notesSlide" Target="/ppt/notesSlides/notesSlide2.xml" Id="Re3bd130164bd4c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9e82cbb2a34d42" /><Relationship Type="http://schemas.openxmlformats.org/officeDocument/2006/relationships/notesSlide" Target="/ppt/notesSlides/notesSlide3.xml" Id="R291b5884960349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d773d97054d49ce" /><Relationship Type="http://schemas.openxmlformats.org/officeDocument/2006/relationships/notesSlide" Target="/ppt/notesSlides/notesSlide4.xml" Id="Rc3baf18f92b249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e6a0aff1ba4e72" /><Relationship Type="http://schemas.openxmlformats.org/officeDocument/2006/relationships/notesSlide" Target="/ppt/notesSlides/notesSlide5.xml" Id="R996b688d8a414d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f0cc0d08a2472c" /><Relationship Type="http://schemas.openxmlformats.org/officeDocument/2006/relationships/notesSlide" Target="/ppt/notesSlides/notesSlide6.xml" Id="R0e0e617bbce543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fdd64103f14c00" /><Relationship Type="http://schemas.openxmlformats.org/officeDocument/2006/relationships/notesSlide" Target="/ppt/notesSlides/notesSlide7.xml" Id="R20e3842618dc43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fde896759b4a6a" /><Relationship Type="http://schemas.openxmlformats.org/officeDocument/2006/relationships/notesSlide" Target="/ppt/notesSlides/notesSlide8.xml" Id="R6c22d8ff9f01496e" /></Relationships>
</file>

<file path=ppt/slides/slide1.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7204476-95FA-4B49-9CC9-10CE909FC152}"/>
              </a:ext>
            </a:extLst>
          </p:cNvPr>
          <p:cNvSpPr>
            <a:spLocks xmlns:a="http://schemas.openxmlformats.org/drawingml/2006/main" noGrp="1"/>
          </p:cNvSpPr>
          <p:nvPr/>
        </p:nvSpPr>
        <p:spPr>
          <a:xfrm xmlns:a="http://schemas.openxmlformats.org/drawingml/2006/main">
            <a:off x="666750" y="5905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5EEAD4"/>
                </a:solidFill>
                <a:latin typeface="Arial"/>
                <a:ea typeface="Arial"/>
                <a:cs typeface="Arial"/>
              </a:defRPr>
            </a:pPr>
            <a:r>
              <a:rPr sz="1200" b="1" i="0">
                <a:solidFill>
                  <a:srgbClr val="5EEAD4"/>
                </a:solidFill>
                <a:latin typeface="Arial"/>
                <a:ea typeface="Arial"/>
                <a:cs typeface="Arial"/>
              </a:rPr>
              <a:t>MEDISCAN</a:t>
            </a:r>
          </a:p>
        </p:txBody>
      </p:sp>
      <p:sp>
        <p:nvSpPr>
          <p:cNvPr id="2" name="">
            <a:extLst xmlns:a="http://schemas.openxmlformats.org/drawingml/2006/main">
              <a:ext uri="{FF2B5EF4-FFF2-40B4-BE49-F238E27FC236}">
                <a16:creationId xmlns:a16="http://schemas.microsoft.com/office/drawing/2014/main" id="{393BAC60-8D5C-4F3E-9158-5EDD90CCA49D}"/>
              </a:ext>
            </a:extLst>
          </p:cNvPr>
          <p:cNvSpPr>
            <a:spLocks xmlns:a="http://schemas.openxmlformats.org/drawingml/2006/main" noGrp="1"/>
          </p:cNvSpPr>
          <p:nvPr/>
        </p:nvSpPr>
        <p:spPr>
          <a:xfrm xmlns:a="http://schemas.openxmlformats.org/drawingml/2006/main">
            <a:off x="666750" y="1200150"/>
            <a:ext cx="6191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F8FAFC"/>
                </a:solidFill>
                <a:latin typeface="Arial"/>
                <a:ea typeface="Arial"/>
                <a:cs typeface="Arial"/>
              </a:defRPr>
            </a:pPr>
            <a:r>
              <a:rPr sz="3300" b="1" i="0">
                <a:solidFill>
                  <a:srgbClr val="F8FAFC"/>
                </a:solidFill>
                <a:latin typeface="Arial"/>
                <a:ea typeface="Arial"/>
                <a:cs typeface="Arial"/>
              </a:rPr>
              <a:t>AI medical reports</a:t>
            </a:r>
          </a:p>
          <a:p xmlns:a="http://schemas.openxmlformats.org/drawingml/2006/main">
            <a:pPr algn="l">
              <a:defRPr sz="3300" b="1" i="0">
                <a:solidFill>
                  <a:srgbClr val="F8FAFC"/>
                </a:solidFill>
                <a:latin typeface="Arial"/>
                <a:ea typeface="Arial"/>
                <a:cs typeface="Arial"/>
              </a:defRPr>
            </a:pPr>
            <a:r>
              <a:rPr sz="3300" b="1" i="0">
                <a:solidFill>
                  <a:srgbClr val="F8FAFC"/>
                </a:solidFill>
                <a:latin typeface="Arial"/>
                <a:ea typeface="Arial"/>
                <a:cs typeface="Arial"/>
              </a:rPr>
              <a:t>made easy to understand</a:t>
            </a:r>
          </a:p>
        </p:txBody>
      </p:sp>
      <p:sp>
        <p:nvSpPr>
          <p:cNvPr id="3" name="">
            <a:extLst xmlns:a="http://schemas.openxmlformats.org/drawingml/2006/main">
              <a:ext uri="{FF2B5EF4-FFF2-40B4-BE49-F238E27FC236}">
                <a16:creationId xmlns:a16="http://schemas.microsoft.com/office/drawing/2014/main" id="{744BA997-4671-46E8-A304-AD10D85234EC}"/>
              </a:ext>
            </a:extLst>
          </p:cNvPr>
          <p:cNvSpPr>
            <a:spLocks xmlns:a="http://schemas.openxmlformats.org/drawingml/2006/main" noGrp="1"/>
          </p:cNvSpPr>
          <p:nvPr/>
        </p:nvSpPr>
        <p:spPr>
          <a:xfrm xmlns:a="http://schemas.openxmlformats.org/drawingml/2006/main">
            <a:off x="685800" y="272415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MediScan turns dense lab reports and medicine labels into clear, useful next steps for everyday users.</a:t>
            </a:r>
          </a:p>
        </p:txBody>
      </p:sp>
      <p:sp>
        <p:nvSpPr>
          <p:cNvPr id="4" name="">
            <a:extLst xmlns:a="http://schemas.openxmlformats.org/drawingml/2006/main">
              <a:ext uri="{FF2B5EF4-FFF2-40B4-BE49-F238E27FC236}">
                <a16:creationId xmlns:a16="http://schemas.microsoft.com/office/drawing/2014/main" id="{C5648CEA-CE3F-4E70-B7DE-8D3205AA9B02}"/>
              </a:ext>
            </a:extLst>
          </p:cNvPr>
          <p:cNvSpPr>
            <a:spLocks xmlns:a="http://schemas.openxmlformats.org/drawingml/2006/main" noGrp="1"/>
          </p:cNvSpPr>
          <p:nvPr/>
        </p:nvSpPr>
        <p:spPr>
          <a:xfrm xmlns:a="http://schemas.openxmlformats.org/drawingml/2006/main">
            <a:off x="685800" y="3524250"/>
            <a:ext cx="2038350" cy="266700"/>
          </a:xfrm>
          <a:prstGeom xmlns:a="http://schemas.openxmlformats.org/drawingml/2006/main" prst="roundRect">
            <a:avLst>
              <a:gd name="adj" fmla="val 50000"/>
            </a:avLst>
          </a:prstGeom>
          <a:solidFill xmlns:a="http://schemas.openxmlformats.org/drawingml/2006/main">
            <a:srgbClr val="14B8A6"/>
          </a:solidFill>
          <a:ln xmlns:a="http://schemas.openxmlformats.org/drawingml/2006/main" w="9525">
            <a:solidFill>
              <a:srgbClr val="14B8A6"/>
            </a:solidFill>
            <a:prstDash val="solid"/>
          </a:ln>
        </p:spPr>
      </p:sp>
      <p:sp>
        <p:nvSpPr>
          <p:cNvPr id="5" name="">
            <a:extLst xmlns:a="http://schemas.openxmlformats.org/drawingml/2006/main">
              <a:ext uri="{FF2B5EF4-FFF2-40B4-BE49-F238E27FC236}">
                <a16:creationId xmlns:a16="http://schemas.microsoft.com/office/drawing/2014/main" id="{0E2A0DD2-5728-48CD-814B-F5DD0CC2DA8A}"/>
              </a:ext>
            </a:extLst>
          </p:cNvPr>
          <p:cNvSpPr>
            <a:spLocks xmlns:a="http://schemas.openxmlformats.org/drawingml/2006/main" noGrp="1"/>
          </p:cNvSpPr>
          <p:nvPr/>
        </p:nvSpPr>
        <p:spPr>
          <a:xfrm xmlns:a="http://schemas.openxmlformats.org/drawingml/2006/main">
            <a:off x="685800" y="3562350"/>
            <a:ext cx="2038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Evidence first · AI second</a:t>
            </a:r>
          </a:p>
        </p:txBody>
      </p:sp>
      <p:sp>
        <p:nvSpPr>
          <p:cNvPr id="6" name="">
            <a:extLst xmlns:a="http://schemas.openxmlformats.org/drawingml/2006/main">
              <a:ext uri="{FF2B5EF4-FFF2-40B4-BE49-F238E27FC236}">
                <a16:creationId xmlns:a16="http://schemas.microsoft.com/office/drawing/2014/main" id="{F0BAA2D5-058A-43B5-8BBB-6F0950E238E2}"/>
              </a:ext>
            </a:extLst>
          </p:cNvPr>
          <p:cNvSpPr>
            <a:spLocks xmlns:a="http://schemas.openxmlformats.org/drawingml/2006/main" noGrp="1"/>
          </p:cNvSpPr>
          <p:nvPr/>
        </p:nvSpPr>
        <p:spPr>
          <a:xfrm xmlns:a="http://schemas.openxmlformats.org/drawingml/2006/main">
            <a:off x="685800" y="3962400"/>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A final project overview</a:t>
            </a:r>
          </a:p>
        </p:txBody>
      </p:sp>
      <p:sp>
        <p:nvSpPr>
          <p:cNvPr id="7" name="">
            <a:extLst xmlns:a="http://schemas.openxmlformats.org/drawingml/2006/main">
              <a:ext uri="{FF2B5EF4-FFF2-40B4-BE49-F238E27FC236}">
                <a16:creationId xmlns:a16="http://schemas.microsoft.com/office/drawing/2014/main" id="{713C6200-A612-47F2-9E21-AB0A7370296A}"/>
              </a:ext>
            </a:extLst>
          </p:cNvPr>
          <p:cNvSpPr>
            <a:spLocks xmlns:a="http://schemas.openxmlformats.org/drawingml/2006/main" noGrp="1"/>
          </p:cNvSpPr>
          <p:nvPr/>
        </p:nvSpPr>
        <p:spPr>
          <a:xfrm xmlns:a="http://schemas.openxmlformats.org/drawingml/2006/main">
            <a:off x="7239000" y="876300"/>
            <a:ext cx="4000500" cy="4476750"/>
          </a:xfrm>
          <a:prstGeom xmlns:a="http://schemas.openxmlformats.org/drawingml/2006/main" prst="roundRect">
            <a:avLst>
              <a:gd name="adj" fmla="val 6667"/>
            </a:avLst>
          </a:prstGeom>
          <a:solidFill xmlns:a="http://schemas.openxmlformats.org/drawingml/2006/main">
            <a:srgbClr val="111D38"/>
          </a:solidFill>
          <a:ln xmlns:a="http://schemas.openxmlformats.org/drawingml/2006/main" w="9525">
            <a:solidFill>
              <a:srgbClr val="294262"/>
            </a:solidFill>
            <a:prstDash val="solid"/>
          </a:ln>
        </p:spPr>
      </p:sp>
      <p:sp>
        <p:nvSpPr>
          <p:cNvPr id="8" name="">
            <a:extLst xmlns:a="http://schemas.openxmlformats.org/drawingml/2006/main">
              <a:ext uri="{FF2B5EF4-FFF2-40B4-BE49-F238E27FC236}">
                <a16:creationId xmlns:a16="http://schemas.microsoft.com/office/drawing/2014/main" id="{2FE06BB5-A6D7-4803-9ABA-4DA6E8F71184}"/>
              </a:ext>
            </a:extLst>
          </p:cNvPr>
          <p:cNvSpPr>
            <a:spLocks xmlns:a="http://schemas.openxmlformats.org/drawingml/2006/main" noGrp="1"/>
          </p:cNvSpPr>
          <p:nvPr/>
        </p:nvSpPr>
        <p:spPr>
          <a:xfrm xmlns:a="http://schemas.openxmlformats.org/drawingml/2006/main">
            <a:off x="7620000" y="12382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5EEAD4"/>
                </a:solidFill>
                <a:latin typeface="Arial"/>
                <a:ea typeface="Arial"/>
                <a:cs typeface="Arial"/>
              </a:defRPr>
            </a:pPr>
            <a:r>
              <a:rPr sz="1350" b="1" i="0">
                <a:solidFill>
                  <a:srgbClr val="5EEAD4"/>
                </a:solidFill>
                <a:latin typeface="Arial"/>
                <a:ea typeface="Arial"/>
                <a:cs typeface="Arial"/>
              </a:rPr>
              <a:t>One clear path</a:t>
            </a:r>
          </a:p>
        </p:txBody>
      </p:sp>
      <p:sp>
        <p:nvSpPr>
          <p:cNvPr id="9" name="">
            <a:extLst xmlns:a="http://schemas.openxmlformats.org/drawingml/2006/main">
              <a:ext uri="{FF2B5EF4-FFF2-40B4-BE49-F238E27FC236}">
                <a16:creationId xmlns:a16="http://schemas.microsoft.com/office/drawing/2014/main" id="{4F65BCE1-78EB-426A-BBFB-41BA6254CA71}"/>
              </a:ext>
            </a:extLst>
          </p:cNvPr>
          <p:cNvSpPr>
            <a:spLocks xmlns:a="http://schemas.openxmlformats.org/drawingml/2006/main" noGrp="1"/>
          </p:cNvSpPr>
          <p:nvPr/>
        </p:nvSpPr>
        <p:spPr>
          <a:xfrm xmlns:a="http://schemas.openxmlformats.org/drawingml/2006/main">
            <a:off x="7620000" y="15621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662"/>
          </a:bodyPr>
          <a:lstStyle xmlns:a="http://schemas.openxmlformats.org/drawingml/2006/main"/>
          <a:p xmlns:a="http://schemas.openxmlformats.org/drawingml/2006/main">
            <a:pPr algn="l">
              <a:defRPr sz="1875" b="1" i="0">
                <a:solidFill>
                  <a:srgbClr val="F8FAFC"/>
                </a:solidFill>
                <a:latin typeface="Arial"/>
                <a:ea typeface="Arial"/>
                <a:cs typeface="Arial"/>
              </a:defRPr>
            </a:pPr>
            <a:r>
              <a:rPr sz="1875" b="1" i="0">
                <a:solidFill>
                  <a:srgbClr val="F8FAFC"/>
                </a:solidFill>
                <a:latin typeface="Arial"/>
                <a:ea typeface="Arial"/>
                <a:cs typeface="Arial"/>
              </a:rPr>
              <a:t>Upload → verify → understand</a:t>
            </a:r>
          </a:p>
        </p:txBody>
      </p:sp>
      <p:sp>
        <p:nvSpPr>
          <p:cNvPr id="10" name="">
            <a:extLst xmlns:a="http://schemas.openxmlformats.org/drawingml/2006/main">
              <a:ext uri="{FF2B5EF4-FFF2-40B4-BE49-F238E27FC236}">
                <a16:creationId xmlns:a16="http://schemas.microsoft.com/office/drawing/2014/main" id="{ED8759ED-A457-4467-B306-4F6636038972}"/>
              </a:ext>
            </a:extLst>
          </p:cNvPr>
          <p:cNvSpPr>
            <a:spLocks xmlns:a="http://schemas.openxmlformats.org/drawingml/2006/main" noGrp="1"/>
          </p:cNvSpPr>
          <p:nvPr/>
        </p:nvSpPr>
        <p:spPr>
          <a:xfrm xmlns:a="http://schemas.openxmlformats.org/drawingml/2006/main">
            <a:off x="7620000" y="2247900"/>
            <a:ext cx="3238500" cy="685800"/>
          </a:xfrm>
          <a:prstGeom xmlns:a="http://schemas.openxmlformats.org/drawingml/2006/main" prst="roundRect">
            <a:avLst>
              <a:gd name="adj" fmla="val 22222"/>
            </a:avLst>
          </a:prstGeom>
          <a:solidFill xmlns:a="http://schemas.openxmlformats.org/drawingml/2006/main">
            <a:srgbClr val="142642"/>
          </a:solidFill>
          <a:ln xmlns:a="http://schemas.openxmlformats.org/drawingml/2006/main" w="9525">
            <a:solidFill>
              <a:srgbClr val="294262"/>
            </a:solidFill>
            <a:prstDash val="solid"/>
          </a:ln>
        </p:spPr>
      </p:sp>
      <p:sp>
        <p:nvSpPr>
          <p:cNvPr id="11" name="">
            <a:extLst xmlns:a="http://schemas.openxmlformats.org/drawingml/2006/main">
              <a:ext uri="{FF2B5EF4-FFF2-40B4-BE49-F238E27FC236}">
                <a16:creationId xmlns:a16="http://schemas.microsoft.com/office/drawing/2014/main" id="{A629C22F-1D43-458F-A77C-A10084FFAD80}"/>
              </a:ext>
            </a:extLst>
          </p:cNvPr>
          <p:cNvSpPr>
            <a:spLocks xmlns:a="http://schemas.openxmlformats.org/drawingml/2006/main" noGrp="1"/>
          </p:cNvSpPr>
          <p:nvPr/>
        </p:nvSpPr>
        <p:spPr>
          <a:xfrm xmlns:a="http://schemas.openxmlformats.org/drawingml/2006/main">
            <a:off x="7810500" y="24193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8BDF8"/>
                </a:solidFill>
                <a:latin typeface="Arial"/>
                <a:ea typeface="Arial"/>
                <a:cs typeface="Arial"/>
              </a:defRPr>
            </a:pPr>
            <a:r>
              <a:rPr sz="1350" b="1" i="0">
                <a:solidFill>
                  <a:srgbClr val="38BDF8"/>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EA802E24-4FEB-42E2-ADF0-C824775BCD02}"/>
              </a:ext>
            </a:extLst>
          </p:cNvPr>
          <p:cNvSpPr>
            <a:spLocks xmlns:a="http://schemas.openxmlformats.org/drawingml/2006/main" noGrp="1"/>
          </p:cNvSpPr>
          <p:nvPr/>
        </p:nvSpPr>
        <p:spPr>
          <a:xfrm xmlns:a="http://schemas.openxmlformats.org/drawingml/2006/main">
            <a:off x="8286750" y="23622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8FAFC"/>
                </a:solidFill>
                <a:latin typeface="Arial"/>
                <a:ea typeface="Arial"/>
                <a:cs typeface="Arial"/>
              </a:defRPr>
            </a:pPr>
            <a:r>
              <a:rPr sz="1275" b="1" i="0">
                <a:solidFill>
                  <a:srgbClr val="F8FAFC"/>
                </a:solidFill>
                <a:latin typeface="Arial"/>
                <a:ea typeface="Arial"/>
                <a:cs typeface="Arial"/>
              </a:rPr>
              <a:t>Report Lens</a:t>
            </a:r>
          </a:p>
        </p:txBody>
      </p:sp>
      <p:sp>
        <p:nvSpPr>
          <p:cNvPr id="13" name="">
            <a:extLst xmlns:a="http://schemas.openxmlformats.org/drawingml/2006/main">
              <a:ext uri="{FF2B5EF4-FFF2-40B4-BE49-F238E27FC236}">
                <a16:creationId xmlns:a16="http://schemas.microsoft.com/office/drawing/2014/main" id="{40470D6A-F477-4027-B05A-ECA55E48BD41}"/>
              </a:ext>
            </a:extLst>
          </p:cNvPr>
          <p:cNvSpPr>
            <a:spLocks xmlns:a="http://schemas.openxmlformats.org/drawingml/2006/main" noGrp="1"/>
          </p:cNvSpPr>
          <p:nvPr/>
        </p:nvSpPr>
        <p:spPr>
          <a:xfrm xmlns:a="http://schemas.openxmlformats.org/drawingml/2006/main">
            <a:off x="8286750" y="259080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087"/>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Lab values, plain meaning, and what to do next</a:t>
            </a:r>
          </a:p>
        </p:txBody>
      </p:sp>
      <p:sp>
        <p:nvSpPr>
          <p:cNvPr id="14" name="">
            <a:extLst xmlns:a="http://schemas.openxmlformats.org/drawingml/2006/main">
              <a:ext uri="{FF2B5EF4-FFF2-40B4-BE49-F238E27FC236}">
                <a16:creationId xmlns:a16="http://schemas.microsoft.com/office/drawing/2014/main" id="{BEAD45C8-D23D-4F63-B601-0480829BAD13}"/>
              </a:ext>
            </a:extLst>
          </p:cNvPr>
          <p:cNvSpPr>
            <a:spLocks xmlns:a="http://schemas.openxmlformats.org/drawingml/2006/main" noGrp="1"/>
          </p:cNvSpPr>
          <p:nvPr/>
        </p:nvSpPr>
        <p:spPr>
          <a:xfrm xmlns:a="http://schemas.openxmlformats.org/drawingml/2006/main">
            <a:off x="7620000" y="3143250"/>
            <a:ext cx="3238500" cy="685800"/>
          </a:xfrm>
          <a:prstGeom xmlns:a="http://schemas.openxmlformats.org/drawingml/2006/main" prst="roundRect">
            <a:avLst>
              <a:gd name="adj" fmla="val 22222"/>
            </a:avLst>
          </a:prstGeom>
          <a:solidFill xmlns:a="http://schemas.openxmlformats.org/drawingml/2006/main">
            <a:srgbClr val="142642"/>
          </a:solidFill>
          <a:ln xmlns:a="http://schemas.openxmlformats.org/drawingml/2006/main" w="9525">
            <a:solidFill>
              <a:srgbClr val="294262"/>
            </a:solidFill>
            <a:prstDash val="solid"/>
          </a:ln>
        </p:spPr>
      </p:sp>
      <p:sp>
        <p:nvSpPr>
          <p:cNvPr id="15" name="">
            <a:extLst xmlns:a="http://schemas.openxmlformats.org/drawingml/2006/main">
              <a:ext uri="{FF2B5EF4-FFF2-40B4-BE49-F238E27FC236}">
                <a16:creationId xmlns:a16="http://schemas.microsoft.com/office/drawing/2014/main" id="{1286782D-10BD-45A0-B875-59B1B47D463B}"/>
              </a:ext>
            </a:extLst>
          </p:cNvPr>
          <p:cNvSpPr>
            <a:spLocks xmlns:a="http://schemas.openxmlformats.org/drawingml/2006/main" noGrp="1"/>
          </p:cNvSpPr>
          <p:nvPr/>
        </p:nvSpPr>
        <p:spPr>
          <a:xfrm xmlns:a="http://schemas.openxmlformats.org/drawingml/2006/main">
            <a:off x="7810500" y="331470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4B8A6"/>
                </a:solidFill>
                <a:latin typeface="Arial"/>
                <a:ea typeface="Arial"/>
                <a:cs typeface="Arial"/>
              </a:defRPr>
            </a:pPr>
            <a:r>
              <a:rPr sz="1350" b="1" i="0">
                <a:solidFill>
                  <a:srgbClr val="14B8A6"/>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5BDA73B0-19FF-4F41-AEF5-8F5BEE9A5464}"/>
              </a:ext>
            </a:extLst>
          </p:cNvPr>
          <p:cNvSpPr>
            <a:spLocks xmlns:a="http://schemas.openxmlformats.org/drawingml/2006/main" noGrp="1"/>
          </p:cNvSpPr>
          <p:nvPr/>
        </p:nvSpPr>
        <p:spPr>
          <a:xfrm xmlns:a="http://schemas.openxmlformats.org/drawingml/2006/main">
            <a:off x="8286750" y="325755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8FAFC"/>
                </a:solidFill>
                <a:latin typeface="Arial"/>
                <a:ea typeface="Arial"/>
                <a:cs typeface="Arial"/>
              </a:defRPr>
            </a:pPr>
            <a:r>
              <a:rPr sz="1275" b="1" i="0">
                <a:solidFill>
                  <a:srgbClr val="F8FAFC"/>
                </a:solidFill>
                <a:latin typeface="Arial"/>
                <a:ea typeface="Arial"/>
                <a:cs typeface="Arial"/>
              </a:rPr>
              <a:t>Medicine Lens</a:t>
            </a:r>
          </a:p>
        </p:txBody>
      </p:sp>
      <p:sp>
        <p:nvSpPr>
          <p:cNvPr id="17" name="">
            <a:extLst xmlns:a="http://schemas.openxmlformats.org/drawingml/2006/main">
              <a:ext uri="{FF2B5EF4-FFF2-40B4-BE49-F238E27FC236}">
                <a16:creationId xmlns:a16="http://schemas.microsoft.com/office/drawing/2014/main" id="{F8562E86-ED97-436D-B36A-AEA06BC6F4AD}"/>
              </a:ext>
            </a:extLst>
          </p:cNvPr>
          <p:cNvSpPr>
            <a:spLocks xmlns:a="http://schemas.openxmlformats.org/drawingml/2006/main" noGrp="1"/>
          </p:cNvSpPr>
          <p:nvPr/>
        </p:nvSpPr>
        <p:spPr>
          <a:xfrm xmlns:a="http://schemas.openxmlformats.org/drawingml/2006/main">
            <a:off x="8286750" y="348615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Uses, warnings, and interaction checks</a:t>
            </a:r>
          </a:p>
        </p:txBody>
      </p:sp>
      <p:sp>
        <p:nvSpPr>
          <p:cNvPr id="18" name="">
            <a:extLst xmlns:a="http://schemas.openxmlformats.org/drawingml/2006/main">
              <a:ext uri="{FF2B5EF4-FFF2-40B4-BE49-F238E27FC236}">
                <a16:creationId xmlns:a16="http://schemas.microsoft.com/office/drawing/2014/main" id="{9454DB93-B9E3-479C-BD7F-452BACB7F50E}"/>
              </a:ext>
            </a:extLst>
          </p:cNvPr>
          <p:cNvSpPr>
            <a:spLocks xmlns:a="http://schemas.openxmlformats.org/drawingml/2006/main" noGrp="1"/>
          </p:cNvSpPr>
          <p:nvPr/>
        </p:nvSpPr>
        <p:spPr>
          <a:xfrm xmlns:a="http://schemas.openxmlformats.org/drawingml/2006/main">
            <a:off x="7620000" y="4038600"/>
            <a:ext cx="3238500" cy="685800"/>
          </a:xfrm>
          <a:prstGeom xmlns:a="http://schemas.openxmlformats.org/drawingml/2006/main" prst="roundRect">
            <a:avLst>
              <a:gd name="adj" fmla="val 22222"/>
            </a:avLst>
          </a:prstGeom>
          <a:solidFill xmlns:a="http://schemas.openxmlformats.org/drawingml/2006/main">
            <a:srgbClr val="142642"/>
          </a:solidFill>
          <a:ln xmlns:a="http://schemas.openxmlformats.org/drawingml/2006/main" w="9525">
            <a:solidFill>
              <a:srgbClr val="294262"/>
            </a:solidFill>
            <a:prstDash val="solid"/>
          </a:ln>
        </p:spPr>
      </p:sp>
      <p:sp>
        <p:nvSpPr>
          <p:cNvPr id="19" name="">
            <a:extLst xmlns:a="http://schemas.openxmlformats.org/drawingml/2006/main">
              <a:ext uri="{FF2B5EF4-FFF2-40B4-BE49-F238E27FC236}">
                <a16:creationId xmlns:a16="http://schemas.microsoft.com/office/drawing/2014/main" id="{007AF56F-113A-4A03-A859-6A1780E589D1}"/>
              </a:ext>
            </a:extLst>
          </p:cNvPr>
          <p:cNvSpPr>
            <a:spLocks xmlns:a="http://schemas.openxmlformats.org/drawingml/2006/main" noGrp="1"/>
          </p:cNvSpPr>
          <p:nvPr/>
        </p:nvSpPr>
        <p:spPr>
          <a:xfrm xmlns:a="http://schemas.openxmlformats.org/drawingml/2006/main">
            <a:off x="7810500" y="42100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BBF24"/>
                </a:solidFill>
                <a:latin typeface="Arial"/>
                <a:ea typeface="Arial"/>
                <a:cs typeface="Arial"/>
              </a:defRPr>
            </a:pPr>
            <a:r>
              <a:rPr sz="1350" b="1" i="0">
                <a:solidFill>
                  <a:srgbClr val="FBBF24"/>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FFC89C11-7988-4335-A478-0AA80D7F9849}"/>
              </a:ext>
            </a:extLst>
          </p:cNvPr>
          <p:cNvSpPr>
            <a:spLocks xmlns:a="http://schemas.openxmlformats.org/drawingml/2006/main" noGrp="1"/>
          </p:cNvSpPr>
          <p:nvPr/>
        </p:nvSpPr>
        <p:spPr>
          <a:xfrm xmlns:a="http://schemas.openxmlformats.org/drawingml/2006/main">
            <a:off x="8286750" y="41529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8FAFC"/>
                </a:solidFill>
                <a:latin typeface="Arial"/>
                <a:ea typeface="Arial"/>
                <a:cs typeface="Arial"/>
              </a:defRPr>
            </a:pPr>
            <a:r>
              <a:rPr sz="1275" b="1" i="0">
                <a:solidFill>
                  <a:srgbClr val="F8FAFC"/>
                </a:solidFill>
                <a:latin typeface="Arial"/>
                <a:ea typeface="Arial"/>
                <a:cs typeface="Arial"/>
              </a:rPr>
              <a:t>Doctor Brief</a:t>
            </a:r>
          </a:p>
        </p:txBody>
      </p:sp>
      <p:sp>
        <p:nvSpPr>
          <p:cNvPr id="21" name="">
            <a:extLst xmlns:a="http://schemas.openxmlformats.org/drawingml/2006/main">
              <a:ext uri="{FF2B5EF4-FFF2-40B4-BE49-F238E27FC236}">
                <a16:creationId xmlns:a16="http://schemas.microsoft.com/office/drawing/2014/main" id="{4DA22708-6973-43E8-8C3A-74B323F0A417}"/>
              </a:ext>
            </a:extLst>
          </p:cNvPr>
          <p:cNvSpPr>
            <a:spLocks xmlns:a="http://schemas.openxmlformats.org/drawingml/2006/main" noGrp="1"/>
          </p:cNvSpPr>
          <p:nvPr/>
        </p:nvSpPr>
        <p:spPr>
          <a:xfrm xmlns:a="http://schemas.openxmlformats.org/drawingml/2006/main">
            <a:off x="8286750" y="4381500"/>
            <a:ext cx="2286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A short summary users can take to a visit</a:t>
            </a:r>
          </a:p>
        </p:txBody>
      </p:sp>
      <p:sp>
        <p:nvSpPr>
          <p:cNvPr id="22" name="">
            <a:extLst xmlns:a="http://schemas.openxmlformats.org/drawingml/2006/main">
              <a:ext uri="{FF2B5EF4-FFF2-40B4-BE49-F238E27FC236}">
                <a16:creationId xmlns:a16="http://schemas.microsoft.com/office/drawing/2014/main" id="{0894FCD7-5055-4A4F-84BA-CB689E850B97}"/>
              </a:ext>
            </a:extLst>
          </p:cNvPr>
          <p:cNvSpPr>
            <a:spLocks xmlns:a="http://schemas.openxmlformats.org/drawingml/2006/main" noGrp="1"/>
          </p:cNvSpPr>
          <p:nvPr/>
        </p:nvSpPr>
        <p:spPr>
          <a:xfrm xmlns:a="http://schemas.openxmlformats.org/drawingml/2006/main">
            <a:off x="666750" y="609600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MediScan V3 · 2026</a:t>
            </a:r>
          </a:p>
        </p:txBody>
      </p:sp>
    </p:spTree>
    <p:extLst>
      <p:ext uri="{BB962C8B-B14F-4D97-AF65-F5344CB8AC3E}">
        <p14:creationId xmlns:p14="http://schemas.microsoft.com/office/powerpoint/2010/main" val="1160657639"/>
      </p:ext>
    </p:extLst>
  </p:cSld>
</p:sld>
</file>

<file path=ppt/slides/slide2.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BD1E7E23-EE42-4F3B-9C11-9477749BCA9F}"/>
              </a:ext>
            </a:extLst>
          </p:cNvPr>
          <p:cNvSpPr>
            <a:spLocks xmlns:a="http://schemas.openxmlformats.org/drawingml/2006/main" noGrp="1"/>
          </p:cNvSpPr>
          <p:nvPr/>
        </p:nvSpPr>
        <p:spPr>
          <a:xfrm xmlns:a="http://schemas.openxmlformats.org/drawingml/2006/main">
            <a:off x="533400" y="2857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WHY MEDISCAN EXISTS</a:t>
            </a:r>
          </a:p>
        </p:txBody>
      </p:sp>
      <p:sp>
        <p:nvSpPr>
          <p:cNvPr id="2" name="">
            <a:extLst xmlns:a="http://schemas.openxmlformats.org/drawingml/2006/main">
              <a:ext uri="{FF2B5EF4-FFF2-40B4-BE49-F238E27FC236}">
                <a16:creationId xmlns:a16="http://schemas.microsoft.com/office/drawing/2014/main" id="{A0EDB668-91D7-480F-B170-7BC794722D04}"/>
              </a:ext>
            </a:extLst>
          </p:cNvPr>
          <p:cNvSpPr>
            <a:spLocks xmlns:a="http://schemas.openxmlformats.org/drawingml/2006/main" noGrp="1"/>
          </p:cNvSpPr>
          <p:nvPr/>
        </p:nvSpPr>
        <p:spPr>
          <a:xfrm xmlns:a="http://schemas.openxmlformats.org/drawingml/2006/main">
            <a:off x="533400" y="5524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8FAFC"/>
                </a:solidFill>
                <a:latin typeface="Arial"/>
                <a:ea typeface="Arial"/>
                <a:cs typeface="Arial"/>
              </a:defRPr>
            </a:pPr>
            <a:r>
              <a:rPr sz="2250" b="1" i="0">
                <a:solidFill>
                  <a:srgbClr val="F8FAFC"/>
                </a:solidFill>
                <a:latin typeface="Arial"/>
                <a:ea typeface="Arial"/>
                <a:cs typeface="Arial"/>
              </a:rPr>
              <a:t>The user problem</a:t>
            </a:r>
          </a:p>
        </p:txBody>
      </p:sp>
      <p:sp>
        <p:nvSpPr>
          <p:cNvPr id="3" name="">
            <a:extLst xmlns:a="http://schemas.openxmlformats.org/drawingml/2006/main">
              <a:ext uri="{FF2B5EF4-FFF2-40B4-BE49-F238E27FC236}">
                <a16:creationId xmlns:a16="http://schemas.microsoft.com/office/drawing/2014/main" id="{0653295F-6A50-4FE7-958A-9E930BC486BE}"/>
              </a:ext>
            </a:extLst>
          </p:cNvPr>
          <p:cNvSpPr>
            <a:spLocks xmlns:a="http://schemas.openxmlformats.org/drawingml/2006/main" noGrp="1"/>
          </p:cNvSpPr>
          <p:nvPr/>
        </p:nvSpPr>
        <p:spPr>
          <a:xfrm xmlns:a="http://schemas.openxmlformats.org/drawingml/2006/main">
            <a:off x="11144250" y="3238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94A3B8"/>
                </a:solidFill>
                <a:latin typeface="Arial"/>
                <a:ea typeface="Arial"/>
                <a:cs typeface="Arial"/>
              </a:defRPr>
            </a:pPr>
            <a:r>
              <a:rPr sz="1050" b="1" i="0">
                <a:solidFill>
                  <a:srgbClr val="94A3B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11F5A9F-0D06-4342-8133-F0389DB36975}"/>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 name="">
            <a:extLst xmlns:a="http://schemas.openxmlformats.org/drawingml/2006/main">
              <a:ext uri="{FF2B5EF4-FFF2-40B4-BE49-F238E27FC236}">
                <a16:creationId xmlns:a16="http://schemas.microsoft.com/office/drawing/2014/main" id="{E927D936-F1A1-48EB-B1B6-DB63949F6AF5}"/>
              </a:ext>
            </a:extLst>
          </p:cNvPr>
          <p:cNvSpPr>
            <a:spLocks xmlns:a="http://schemas.openxmlformats.org/drawingml/2006/main" noGrp="1"/>
          </p:cNvSpPr>
          <p:nvPr/>
        </p:nvSpPr>
        <p:spPr>
          <a:xfrm xmlns:a="http://schemas.openxmlformats.org/drawingml/2006/main">
            <a:off x="533400" y="12573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Medical data often feels technical, uncertain, and hard to act on.</a:t>
            </a:r>
          </a:p>
        </p:txBody>
      </p:sp>
      <p:sp>
        <p:nvSpPr>
          <p:cNvPr id="6" name="">
            <a:extLst xmlns:a="http://schemas.openxmlformats.org/drawingml/2006/main">
              <a:ext uri="{FF2B5EF4-FFF2-40B4-BE49-F238E27FC236}">
                <a16:creationId xmlns:a16="http://schemas.microsoft.com/office/drawing/2014/main" id="{6FCF0499-012F-4612-A811-06CC05477DA4}"/>
              </a:ext>
            </a:extLst>
          </p:cNvPr>
          <p:cNvSpPr>
            <a:spLocks xmlns:a="http://schemas.openxmlformats.org/drawingml/2006/main" noGrp="1"/>
          </p:cNvSpPr>
          <p:nvPr/>
        </p:nvSpPr>
        <p:spPr>
          <a:xfrm xmlns:a="http://schemas.openxmlformats.org/drawingml/2006/main">
            <a:off x="533400" y="1790700"/>
            <a:ext cx="4991100" cy="1790700"/>
          </a:xfrm>
          <a:prstGeom xmlns:a="http://schemas.openxmlformats.org/drawingml/2006/main" prst="roundRect">
            <a:avLst>
              <a:gd name="adj" fmla="val 10638"/>
            </a:avLst>
          </a:prstGeom>
          <a:solidFill xmlns:a="http://schemas.openxmlformats.org/drawingml/2006/main">
            <a:srgbClr val="111D38"/>
          </a:solidFill>
          <a:ln xmlns:a="http://schemas.openxmlformats.org/drawingml/2006/main" w="9525">
            <a:solidFill>
              <a:srgbClr val="294262"/>
            </a:solidFill>
            <a:prstDash val="solid"/>
          </a:ln>
        </p:spPr>
      </p:sp>
      <p:sp>
        <p:nvSpPr>
          <p:cNvPr id="7" name="">
            <a:extLst xmlns:a="http://schemas.openxmlformats.org/drawingml/2006/main">
              <a:ext uri="{FF2B5EF4-FFF2-40B4-BE49-F238E27FC236}">
                <a16:creationId xmlns:a16="http://schemas.microsoft.com/office/drawing/2014/main" id="{48AD4EBC-D42B-42E0-8705-8323FE509867}"/>
              </a:ext>
            </a:extLst>
          </p:cNvPr>
          <p:cNvSpPr>
            <a:spLocks xmlns:a="http://schemas.openxmlformats.org/drawingml/2006/main" noGrp="1"/>
          </p:cNvSpPr>
          <p:nvPr/>
        </p:nvSpPr>
        <p:spPr>
          <a:xfrm xmlns:a="http://schemas.openxmlformats.org/drawingml/2006/main">
            <a:off x="723900" y="1981200"/>
            <a:ext cx="419100" cy="419100"/>
          </a:xfrm>
          <a:prstGeom xmlns:a="http://schemas.openxmlformats.org/drawingml/2006/main" prst="roundRect">
            <a:avLst>
              <a:gd name="adj" fmla="val 29545"/>
            </a:avLst>
          </a:prstGeom>
          <a:solidFill xmlns:a="http://schemas.openxmlformats.org/drawingml/2006/main">
            <a:srgbClr val="FB7185"/>
          </a:solidFill>
          <a:ln xmlns:a="http://schemas.openxmlformats.org/drawingml/2006/main" w="9525">
            <a:solidFill>
              <a:srgbClr val="FB7185"/>
            </a:solidFill>
            <a:prstDash val="solid"/>
          </a:ln>
        </p:spPr>
      </p:sp>
      <p:sp>
        <p:nvSpPr>
          <p:cNvPr id="8" name="">
            <a:extLst xmlns:a="http://schemas.openxmlformats.org/drawingml/2006/main">
              <a:ext uri="{FF2B5EF4-FFF2-40B4-BE49-F238E27FC236}">
                <a16:creationId xmlns:a16="http://schemas.microsoft.com/office/drawing/2014/main" id="{E61B1E39-ACC9-4F0A-A095-FCFE04ECAA42}"/>
              </a:ext>
            </a:extLst>
          </p:cNvPr>
          <p:cNvSpPr>
            <a:spLocks xmlns:a="http://schemas.openxmlformats.org/drawingml/2006/main" noGrp="1"/>
          </p:cNvSpPr>
          <p:nvPr/>
        </p:nvSpPr>
        <p:spPr>
          <a:xfrm xmlns:a="http://schemas.openxmlformats.org/drawingml/2006/main">
            <a:off x="723900" y="20764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132B"/>
                </a:solidFill>
                <a:latin typeface="Arial"/>
                <a:ea typeface="Arial"/>
                <a:cs typeface="Arial"/>
              </a:defRPr>
            </a:pPr>
            <a:r>
              <a:rPr sz="1200" b="1" i="0">
                <a:solidFill>
                  <a:srgbClr val="0B132B"/>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F955DB2C-91A2-489D-88D1-5C3ABFC5BAAD}"/>
              </a:ext>
            </a:extLst>
          </p:cNvPr>
          <p:cNvSpPr>
            <a:spLocks xmlns:a="http://schemas.openxmlformats.org/drawingml/2006/main" noGrp="1"/>
          </p:cNvSpPr>
          <p:nvPr/>
        </p:nvSpPr>
        <p:spPr>
          <a:xfrm xmlns:a="http://schemas.openxmlformats.org/drawingml/2006/main">
            <a:off x="4057650" y="2019300"/>
            <a:ext cx="1143000" cy="266700"/>
          </a:xfrm>
          <a:prstGeom xmlns:a="http://schemas.openxmlformats.org/drawingml/2006/main" prst="roundRect">
            <a:avLst>
              <a:gd name="adj" fmla="val 50000"/>
            </a:avLst>
          </a:prstGeom>
          <a:solidFill xmlns:a="http://schemas.openxmlformats.org/drawingml/2006/main">
            <a:srgbClr val="FB7185"/>
          </a:solidFill>
          <a:ln xmlns:a="http://schemas.openxmlformats.org/drawingml/2006/main" w="9525">
            <a:solidFill>
              <a:srgbClr val="FB7185"/>
            </a:solidFill>
            <a:prstDash val="solid"/>
          </a:ln>
        </p:spPr>
      </p:sp>
      <p:sp>
        <p:nvSpPr>
          <p:cNvPr id="10" name="">
            <a:extLst xmlns:a="http://schemas.openxmlformats.org/drawingml/2006/main">
              <a:ext uri="{FF2B5EF4-FFF2-40B4-BE49-F238E27FC236}">
                <a16:creationId xmlns:a16="http://schemas.microsoft.com/office/drawing/2014/main" id="{53AE98D0-1FC7-47F2-82C4-D15EC4AFCDAE}"/>
              </a:ext>
            </a:extLst>
          </p:cNvPr>
          <p:cNvSpPr>
            <a:spLocks xmlns:a="http://schemas.openxmlformats.org/drawingml/2006/main" noGrp="1"/>
          </p:cNvSpPr>
          <p:nvPr/>
        </p:nvSpPr>
        <p:spPr>
          <a:xfrm xmlns:a="http://schemas.openxmlformats.org/drawingml/2006/main">
            <a:off x="4057650" y="2057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TRUST RISK</a:t>
            </a:r>
          </a:p>
        </p:txBody>
      </p:sp>
      <p:sp>
        <p:nvSpPr>
          <p:cNvPr id="11" name="">
            <a:extLst xmlns:a="http://schemas.openxmlformats.org/drawingml/2006/main">
              <a:ext uri="{FF2B5EF4-FFF2-40B4-BE49-F238E27FC236}">
                <a16:creationId xmlns:a16="http://schemas.microsoft.com/office/drawing/2014/main" id="{92702D55-CC70-448E-AF7F-9880BA5979F1}"/>
              </a:ext>
            </a:extLst>
          </p:cNvPr>
          <p:cNvSpPr>
            <a:spLocks xmlns:a="http://schemas.openxmlformats.org/drawingml/2006/main" noGrp="1"/>
          </p:cNvSpPr>
          <p:nvPr/>
        </p:nvSpPr>
        <p:spPr>
          <a:xfrm xmlns:a="http://schemas.openxmlformats.org/drawingml/2006/main">
            <a:off x="723900" y="2571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8FAFC"/>
                </a:solidFill>
                <a:latin typeface="Arial"/>
                <a:ea typeface="Arial"/>
                <a:cs typeface="Arial"/>
              </a:defRPr>
            </a:pPr>
            <a:r>
              <a:rPr sz="1650" b="1" i="0">
                <a:solidFill>
                  <a:srgbClr val="F8FAFC"/>
                </a:solidFill>
                <a:latin typeface="Arial"/>
                <a:ea typeface="Arial"/>
                <a:cs typeface="Arial"/>
              </a:rPr>
              <a:t>AI can invent details</a:t>
            </a:r>
          </a:p>
        </p:txBody>
      </p:sp>
      <p:sp>
        <p:nvSpPr>
          <p:cNvPr id="12" name="">
            <a:extLst xmlns:a="http://schemas.openxmlformats.org/drawingml/2006/main">
              <a:ext uri="{FF2B5EF4-FFF2-40B4-BE49-F238E27FC236}">
                <a16:creationId xmlns:a16="http://schemas.microsoft.com/office/drawing/2014/main" id="{5392FE94-0E22-4683-BD7F-B5D96562D53E}"/>
              </a:ext>
            </a:extLst>
          </p:cNvPr>
          <p:cNvSpPr>
            <a:spLocks xmlns:a="http://schemas.openxmlformats.org/drawingml/2006/main" noGrp="1"/>
          </p:cNvSpPr>
          <p:nvPr/>
        </p:nvSpPr>
        <p:spPr>
          <a:xfrm xmlns:a="http://schemas.openxmlformats.org/drawingml/2006/main">
            <a:off x="723900" y="29527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4A3B8"/>
                </a:solidFill>
                <a:latin typeface="Arial"/>
                <a:ea typeface="Arial"/>
                <a:cs typeface="Arial"/>
              </a:defRPr>
            </a:pPr>
            <a:r>
              <a:rPr sz="1125" b="0" i="0">
                <a:solidFill>
                  <a:srgbClr val="94A3B8"/>
                </a:solidFill>
                <a:latin typeface="Arial"/>
                <a:ea typeface="Arial"/>
                <a:cs typeface="Arial"/>
              </a:rPr>
              <a:t>A smooth answer is not enough when a report value or warning is wrong.</a:t>
            </a:r>
          </a:p>
        </p:txBody>
      </p:sp>
      <p:sp>
        <p:nvSpPr>
          <p:cNvPr id="13" name="">
            <a:extLst xmlns:a="http://schemas.openxmlformats.org/drawingml/2006/main">
              <a:ext uri="{FF2B5EF4-FFF2-40B4-BE49-F238E27FC236}">
                <a16:creationId xmlns:a16="http://schemas.microsoft.com/office/drawing/2014/main" id="{6D5CDF70-02E8-4592-9699-96955A417CC3}"/>
              </a:ext>
            </a:extLst>
          </p:cNvPr>
          <p:cNvSpPr>
            <a:spLocks xmlns:a="http://schemas.openxmlformats.org/drawingml/2006/main" noGrp="1"/>
          </p:cNvSpPr>
          <p:nvPr/>
        </p:nvSpPr>
        <p:spPr>
          <a:xfrm xmlns:a="http://schemas.openxmlformats.org/drawingml/2006/main">
            <a:off x="6076950" y="1790700"/>
            <a:ext cx="4991100" cy="1790700"/>
          </a:xfrm>
          <a:prstGeom xmlns:a="http://schemas.openxmlformats.org/drawingml/2006/main" prst="roundRect">
            <a:avLst>
              <a:gd name="adj" fmla="val 10638"/>
            </a:avLst>
          </a:prstGeom>
          <a:solidFill xmlns:a="http://schemas.openxmlformats.org/drawingml/2006/main">
            <a:srgbClr val="111D38"/>
          </a:solidFill>
          <a:ln xmlns:a="http://schemas.openxmlformats.org/drawingml/2006/main" w="9525">
            <a:solidFill>
              <a:srgbClr val="294262"/>
            </a:solidFill>
            <a:prstDash val="solid"/>
          </a:ln>
        </p:spPr>
      </p:sp>
      <p:sp>
        <p:nvSpPr>
          <p:cNvPr id="14" name="">
            <a:extLst xmlns:a="http://schemas.openxmlformats.org/drawingml/2006/main">
              <a:ext uri="{FF2B5EF4-FFF2-40B4-BE49-F238E27FC236}">
                <a16:creationId xmlns:a16="http://schemas.microsoft.com/office/drawing/2014/main" id="{CD202F52-0E29-463F-9004-908E0E3F62E8}"/>
              </a:ext>
            </a:extLst>
          </p:cNvPr>
          <p:cNvSpPr>
            <a:spLocks xmlns:a="http://schemas.openxmlformats.org/drawingml/2006/main" noGrp="1"/>
          </p:cNvSpPr>
          <p:nvPr/>
        </p:nvSpPr>
        <p:spPr>
          <a:xfrm xmlns:a="http://schemas.openxmlformats.org/drawingml/2006/main">
            <a:off x="6267450" y="1981200"/>
            <a:ext cx="419100" cy="419100"/>
          </a:xfrm>
          <a:prstGeom xmlns:a="http://schemas.openxmlformats.org/drawingml/2006/main" prst="roundRect">
            <a:avLst>
              <a:gd name="adj" fmla="val 29545"/>
            </a:avLst>
          </a:prstGeom>
          <a:solidFill xmlns:a="http://schemas.openxmlformats.org/drawingml/2006/main">
            <a:srgbClr val="FBBF24"/>
          </a:solidFill>
          <a:ln xmlns:a="http://schemas.openxmlformats.org/drawingml/2006/main" w="9525">
            <a:solidFill>
              <a:srgbClr val="FBBF24"/>
            </a:solidFill>
            <a:prstDash val="solid"/>
          </a:ln>
        </p:spPr>
      </p:sp>
      <p:sp>
        <p:nvSpPr>
          <p:cNvPr id="15" name="">
            <a:extLst xmlns:a="http://schemas.openxmlformats.org/drawingml/2006/main">
              <a:ext uri="{FF2B5EF4-FFF2-40B4-BE49-F238E27FC236}">
                <a16:creationId xmlns:a16="http://schemas.microsoft.com/office/drawing/2014/main" id="{18E31352-CA2B-4BCD-99DE-26436B723582}"/>
              </a:ext>
            </a:extLst>
          </p:cNvPr>
          <p:cNvSpPr>
            <a:spLocks xmlns:a="http://schemas.openxmlformats.org/drawingml/2006/main" noGrp="1"/>
          </p:cNvSpPr>
          <p:nvPr/>
        </p:nvSpPr>
        <p:spPr>
          <a:xfrm xmlns:a="http://schemas.openxmlformats.org/drawingml/2006/main">
            <a:off x="6267450" y="20764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132B"/>
                </a:solidFill>
                <a:latin typeface="Arial"/>
                <a:ea typeface="Arial"/>
                <a:cs typeface="Arial"/>
              </a:defRPr>
            </a:pPr>
            <a:r>
              <a:rPr sz="1200" b="1" i="0">
                <a:solidFill>
                  <a:srgbClr val="0B132B"/>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E16BC186-C457-4F3D-92FB-826D77416B4B}"/>
              </a:ext>
            </a:extLst>
          </p:cNvPr>
          <p:cNvSpPr>
            <a:spLocks xmlns:a="http://schemas.openxmlformats.org/drawingml/2006/main" noGrp="1"/>
          </p:cNvSpPr>
          <p:nvPr/>
        </p:nvSpPr>
        <p:spPr>
          <a:xfrm xmlns:a="http://schemas.openxmlformats.org/drawingml/2006/main">
            <a:off x="9601200" y="2019300"/>
            <a:ext cx="1143000" cy="266700"/>
          </a:xfrm>
          <a:prstGeom xmlns:a="http://schemas.openxmlformats.org/drawingml/2006/main" prst="roundRect">
            <a:avLst>
              <a:gd name="adj" fmla="val 50000"/>
            </a:avLst>
          </a:prstGeom>
          <a:solidFill xmlns:a="http://schemas.openxmlformats.org/drawingml/2006/main">
            <a:srgbClr val="FBBF24"/>
          </a:solidFill>
          <a:ln xmlns:a="http://schemas.openxmlformats.org/drawingml/2006/main" w="9525">
            <a:solidFill>
              <a:srgbClr val="FBBF24"/>
            </a:solidFill>
            <a:prstDash val="solid"/>
          </a:ln>
        </p:spPr>
      </p:sp>
      <p:sp>
        <p:nvSpPr>
          <p:cNvPr id="17" name="">
            <a:extLst xmlns:a="http://schemas.openxmlformats.org/drawingml/2006/main">
              <a:ext uri="{FF2B5EF4-FFF2-40B4-BE49-F238E27FC236}">
                <a16:creationId xmlns:a16="http://schemas.microsoft.com/office/drawing/2014/main" id="{43950A86-805D-4DB2-B6E7-D930A74E8C3B}"/>
              </a:ext>
            </a:extLst>
          </p:cNvPr>
          <p:cNvSpPr>
            <a:spLocks xmlns:a="http://schemas.openxmlformats.org/drawingml/2006/main" noGrp="1"/>
          </p:cNvSpPr>
          <p:nvPr/>
        </p:nvSpPr>
        <p:spPr>
          <a:xfrm xmlns:a="http://schemas.openxmlformats.org/drawingml/2006/main">
            <a:off x="9601200" y="20574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CONTEXT GAP</a:t>
            </a:r>
          </a:p>
        </p:txBody>
      </p:sp>
      <p:sp>
        <p:nvSpPr>
          <p:cNvPr id="18" name="">
            <a:extLst xmlns:a="http://schemas.openxmlformats.org/drawingml/2006/main">
              <a:ext uri="{FF2B5EF4-FFF2-40B4-BE49-F238E27FC236}">
                <a16:creationId xmlns:a16="http://schemas.microsoft.com/office/drawing/2014/main" id="{BA33BB4F-F864-4BED-B192-529163ED40B5}"/>
              </a:ext>
            </a:extLst>
          </p:cNvPr>
          <p:cNvSpPr>
            <a:spLocks xmlns:a="http://schemas.openxmlformats.org/drawingml/2006/main" noGrp="1"/>
          </p:cNvSpPr>
          <p:nvPr/>
        </p:nvSpPr>
        <p:spPr>
          <a:xfrm xmlns:a="http://schemas.openxmlformats.org/drawingml/2006/main">
            <a:off x="6267450" y="25717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8FAFC"/>
                </a:solidFill>
                <a:latin typeface="Arial"/>
                <a:ea typeface="Arial"/>
                <a:cs typeface="Arial"/>
              </a:defRPr>
            </a:pPr>
            <a:r>
              <a:rPr sz="1650" b="1" i="0">
                <a:solidFill>
                  <a:srgbClr val="F8FAFC"/>
                </a:solidFill>
                <a:latin typeface="Arial"/>
                <a:ea typeface="Arial"/>
                <a:cs typeface="Arial"/>
              </a:rPr>
              <a:t>One range does not fit everyone</a:t>
            </a:r>
          </a:p>
        </p:txBody>
      </p:sp>
      <p:sp>
        <p:nvSpPr>
          <p:cNvPr id="19" name="">
            <a:extLst xmlns:a="http://schemas.openxmlformats.org/drawingml/2006/main">
              <a:ext uri="{FF2B5EF4-FFF2-40B4-BE49-F238E27FC236}">
                <a16:creationId xmlns:a16="http://schemas.microsoft.com/office/drawing/2014/main" id="{9CCDFC18-D04B-4E87-8E59-4C66D9BDEE66}"/>
              </a:ext>
            </a:extLst>
          </p:cNvPr>
          <p:cNvSpPr>
            <a:spLocks xmlns:a="http://schemas.openxmlformats.org/drawingml/2006/main" noGrp="1"/>
          </p:cNvSpPr>
          <p:nvPr/>
        </p:nvSpPr>
        <p:spPr>
          <a:xfrm xmlns:a="http://schemas.openxmlformats.org/drawingml/2006/main">
            <a:off x="6267450" y="29527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4A3B8"/>
                </a:solidFill>
                <a:latin typeface="Arial"/>
                <a:ea typeface="Arial"/>
                <a:cs typeface="Arial"/>
              </a:defRPr>
            </a:pPr>
            <a:r>
              <a:rPr sz="1125" b="0" i="0">
                <a:solidFill>
                  <a:srgbClr val="94A3B8"/>
                </a:solidFill>
                <a:latin typeface="Arial"/>
                <a:ea typeface="Arial"/>
                <a:cs typeface="Arial"/>
              </a:rPr>
              <a:t>Age, sex, method, and lab ranges can change what a result means.</a:t>
            </a:r>
          </a:p>
        </p:txBody>
      </p:sp>
      <p:sp>
        <p:nvSpPr>
          <p:cNvPr id="20" name="">
            <a:extLst xmlns:a="http://schemas.openxmlformats.org/drawingml/2006/main">
              <a:ext uri="{FF2B5EF4-FFF2-40B4-BE49-F238E27FC236}">
                <a16:creationId xmlns:a16="http://schemas.microsoft.com/office/drawing/2014/main" id="{3F58BD67-1873-4844-8C17-948E04F1D219}"/>
              </a:ext>
            </a:extLst>
          </p:cNvPr>
          <p:cNvSpPr>
            <a:spLocks xmlns:a="http://schemas.openxmlformats.org/drawingml/2006/main" noGrp="1"/>
          </p:cNvSpPr>
          <p:nvPr/>
        </p:nvSpPr>
        <p:spPr>
          <a:xfrm xmlns:a="http://schemas.openxmlformats.org/drawingml/2006/main">
            <a:off x="533400" y="3962400"/>
            <a:ext cx="4991100" cy="1790700"/>
          </a:xfrm>
          <a:prstGeom xmlns:a="http://schemas.openxmlformats.org/drawingml/2006/main" prst="roundRect">
            <a:avLst>
              <a:gd name="adj" fmla="val 10638"/>
            </a:avLst>
          </a:prstGeom>
          <a:solidFill xmlns:a="http://schemas.openxmlformats.org/drawingml/2006/main">
            <a:srgbClr val="111D38"/>
          </a:solidFill>
          <a:ln xmlns:a="http://schemas.openxmlformats.org/drawingml/2006/main" w="9525">
            <a:solidFill>
              <a:srgbClr val="294262"/>
            </a:solidFill>
            <a:prstDash val="solid"/>
          </a:ln>
        </p:spPr>
      </p:sp>
      <p:sp>
        <p:nvSpPr>
          <p:cNvPr id="21" name="">
            <a:extLst xmlns:a="http://schemas.openxmlformats.org/drawingml/2006/main">
              <a:ext uri="{FF2B5EF4-FFF2-40B4-BE49-F238E27FC236}">
                <a16:creationId xmlns:a16="http://schemas.microsoft.com/office/drawing/2014/main" id="{EEE002C8-3791-4579-9849-7F2907DD4BDD}"/>
              </a:ext>
            </a:extLst>
          </p:cNvPr>
          <p:cNvSpPr>
            <a:spLocks xmlns:a="http://schemas.openxmlformats.org/drawingml/2006/main" noGrp="1"/>
          </p:cNvSpPr>
          <p:nvPr/>
        </p:nvSpPr>
        <p:spPr>
          <a:xfrm xmlns:a="http://schemas.openxmlformats.org/drawingml/2006/main">
            <a:off x="723900" y="4152900"/>
            <a:ext cx="419100" cy="419100"/>
          </a:xfrm>
          <a:prstGeom xmlns:a="http://schemas.openxmlformats.org/drawingml/2006/main" prst="roundRect">
            <a:avLst>
              <a:gd name="adj" fmla="val 29545"/>
            </a:avLst>
          </a:prstGeom>
          <a:solidFill xmlns:a="http://schemas.openxmlformats.org/drawingml/2006/main">
            <a:srgbClr val="38BDF8"/>
          </a:solidFill>
          <a:ln xmlns:a="http://schemas.openxmlformats.org/drawingml/2006/main" w="9525">
            <a:solidFill>
              <a:srgbClr val="38BDF8"/>
            </a:solidFill>
            <a:prstDash val="solid"/>
          </a:ln>
        </p:spPr>
      </p:sp>
      <p:sp>
        <p:nvSpPr>
          <p:cNvPr id="22" name="">
            <a:extLst xmlns:a="http://schemas.openxmlformats.org/drawingml/2006/main">
              <a:ext uri="{FF2B5EF4-FFF2-40B4-BE49-F238E27FC236}">
                <a16:creationId xmlns:a16="http://schemas.microsoft.com/office/drawing/2014/main" id="{243319B9-2C4A-4185-A47F-20736B260FFC}"/>
              </a:ext>
            </a:extLst>
          </p:cNvPr>
          <p:cNvSpPr>
            <a:spLocks xmlns:a="http://schemas.openxmlformats.org/drawingml/2006/main" noGrp="1"/>
          </p:cNvSpPr>
          <p:nvPr/>
        </p:nvSpPr>
        <p:spPr>
          <a:xfrm xmlns:a="http://schemas.openxmlformats.org/drawingml/2006/main">
            <a:off x="723900" y="42481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132B"/>
                </a:solidFill>
                <a:latin typeface="Arial"/>
                <a:ea typeface="Arial"/>
                <a:cs typeface="Arial"/>
              </a:defRPr>
            </a:pPr>
            <a:r>
              <a:rPr sz="1200" b="1" i="0">
                <a:solidFill>
                  <a:srgbClr val="0B132B"/>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FF43CEEE-4AE1-4A87-AF39-AF2C41727D2F}"/>
              </a:ext>
            </a:extLst>
          </p:cNvPr>
          <p:cNvSpPr>
            <a:spLocks xmlns:a="http://schemas.openxmlformats.org/drawingml/2006/main" noGrp="1"/>
          </p:cNvSpPr>
          <p:nvPr/>
        </p:nvSpPr>
        <p:spPr>
          <a:xfrm xmlns:a="http://schemas.openxmlformats.org/drawingml/2006/main">
            <a:off x="4057650" y="4191000"/>
            <a:ext cx="1143000" cy="2667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9525">
            <a:solidFill>
              <a:srgbClr val="38BDF8"/>
            </a:solidFill>
            <a:prstDash val="solid"/>
          </a:ln>
        </p:spPr>
      </p:sp>
      <p:sp>
        <p:nvSpPr>
          <p:cNvPr id="24" name="">
            <a:extLst xmlns:a="http://schemas.openxmlformats.org/drawingml/2006/main">
              <a:ext uri="{FF2B5EF4-FFF2-40B4-BE49-F238E27FC236}">
                <a16:creationId xmlns:a16="http://schemas.microsoft.com/office/drawing/2014/main" id="{AF181110-6CE1-4028-B6CC-A20F8FB1EBA4}"/>
              </a:ext>
            </a:extLst>
          </p:cNvPr>
          <p:cNvSpPr>
            <a:spLocks xmlns:a="http://schemas.openxmlformats.org/drawingml/2006/main" noGrp="1"/>
          </p:cNvSpPr>
          <p:nvPr/>
        </p:nvSpPr>
        <p:spPr>
          <a:xfrm xmlns:a="http://schemas.openxmlformats.org/drawingml/2006/main">
            <a:off x="4057650" y="42291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SAFETY RISK</a:t>
            </a:r>
          </a:p>
        </p:txBody>
      </p:sp>
      <p:sp>
        <p:nvSpPr>
          <p:cNvPr id="25" name="">
            <a:extLst xmlns:a="http://schemas.openxmlformats.org/drawingml/2006/main">
              <a:ext uri="{FF2B5EF4-FFF2-40B4-BE49-F238E27FC236}">
                <a16:creationId xmlns:a16="http://schemas.microsoft.com/office/drawing/2014/main" id="{F96CFFC1-CB73-4CDC-BB22-5845DD6DEF6B}"/>
              </a:ext>
            </a:extLst>
          </p:cNvPr>
          <p:cNvSpPr>
            <a:spLocks xmlns:a="http://schemas.openxmlformats.org/drawingml/2006/main" noGrp="1"/>
          </p:cNvSpPr>
          <p:nvPr/>
        </p:nvSpPr>
        <p:spPr>
          <a:xfrm xmlns:a="http://schemas.openxmlformats.org/drawingml/2006/main">
            <a:off x="723900" y="47434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8FAFC"/>
                </a:solidFill>
                <a:latin typeface="Arial"/>
                <a:ea typeface="Arial"/>
                <a:cs typeface="Arial"/>
              </a:defRPr>
            </a:pPr>
            <a:r>
              <a:rPr sz="1650" b="1" i="0">
                <a:solidFill>
                  <a:srgbClr val="F8FAFC"/>
                </a:solidFill>
                <a:latin typeface="Arial"/>
                <a:ea typeface="Arial"/>
                <a:cs typeface="Arial"/>
              </a:rPr>
              <a:t>Medicine combinations are easy to miss</a:t>
            </a:r>
          </a:p>
        </p:txBody>
      </p:sp>
      <p:sp>
        <p:nvSpPr>
          <p:cNvPr id="26" name="">
            <a:extLst xmlns:a="http://schemas.openxmlformats.org/drawingml/2006/main">
              <a:ext uri="{FF2B5EF4-FFF2-40B4-BE49-F238E27FC236}">
                <a16:creationId xmlns:a16="http://schemas.microsoft.com/office/drawing/2014/main" id="{0577DB10-CCDB-4B0A-B736-6CF83C532F3E}"/>
              </a:ext>
            </a:extLst>
          </p:cNvPr>
          <p:cNvSpPr>
            <a:spLocks xmlns:a="http://schemas.openxmlformats.org/drawingml/2006/main" noGrp="1"/>
          </p:cNvSpPr>
          <p:nvPr/>
        </p:nvSpPr>
        <p:spPr>
          <a:xfrm xmlns:a="http://schemas.openxmlformats.org/drawingml/2006/main">
            <a:off x="723900" y="51244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4A3B8"/>
                </a:solidFill>
                <a:latin typeface="Arial"/>
                <a:ea typeface="Arial"/>
                <a:cs typeface="Arial"/>
              </a:defRPr>
            </a:pPr>
            <a:r>
              <a:rPr sz="1125" b="0" i="0">
                <a:solidFill>
                  <a:srgbClr val="94A3B8"/>
                </a:solidFill>
                <a:latin typeface="Arial"/>
                <a:ea typeface="Arial"/>
                <a:cs typeface="Arial"/>
              </a:rPr>
              <a:t>People may take several medicines without seeing the full interaction picture.</a:t>
            </a:r>
          </a:p>
        </p:txBody>
      </p:sp>
      <p:sp>
        <p:nvSpPr>
          <p:cNvPr id="27" name="">
            <a:extLst xmlns:a="http://schemas.openxmlformats.org/drawingml/2006/main">
              <a:ext uri="{FF2B5EF4-FFF2-40B4-BE49-F238E27FC236}">
                <a16:creationId xmlns:a16="http://schemas.microsoft.com/office/drawing/2014/main" id="{7381CC90-F1D5-4241-93C3-CE9150B07EDB}"/>
              </a:ext>
            </a:extLst>
          </p:cNvPr>
          <p:cNvSpPr>
            <a:spLocks xmlns:a="http://schemas.openxmlformats.org/drawingml/2006/main" noGrp="1"/>
          </p:cNvSpPr>
          <p:nvPr/>
        </p:nvSpPr>
        <p:spPr>
          <a:xfrm xmlns:a="http://schemas.openxmlformats.org/drawingml/2006/main">
            <a:off x="6076950" y="3962400"/>
            <a:ext cx="4991100" cy="1790700"/>
          </a:xfrm>
          <a:prstGeom xmlns:a="http://schemas.openxmlformats.org/drawingml/2006/main" prst="roundRect">
            <a:avLst>
              <a:gd name="adj" fmla="val 10638"/>
            </a:avLst>
          </a:prstGeom>
          <a:solidFill xmlns:a="http://schemas.openxmlformats.org/drawingml/2006/main">
            <a:srgbClr val="111D38"/>
          </a:solidFill>
          <a:ln xmlns:a="http://schemas.openxmlformats.org/drawingml/2006/main" w="9525">
            <a:solidFill>
              <a:srgbClr val="294262"/>
            </a:solidFill>
            <a:prstDash val="solid"/>
          </a:ln>
        </p:spPr>
      </p:sp>
      <p:sp>
        <p:nvSpPr>
          <p:cNvPr id="28" name="">
            <a:extLst xmlns:a="http://schemas.openxmlformats.org/drawingml/2006/main">
              <a:ext uri="{FF2B5EF4-FFF2-40B4-BE49-F238E27FC236}">
                <a16:creationId xmlns:a16="http://schemas.microsoft.com/office/drawing/2014/main" id="{8DA7DD96-2A73-4F45-AEA2-B962FDA1112F}"/>
              </a:ext>
            </a:extLst>
          </p:cNvPr>
          <p:cNvSpPr>
            <a:spLocks xmlns:a="http://schemas.openxmlformats.org/drawingml/2006/main" noGrp="1"/>
          </p:cNvSpPr>
          <p:nvPr/>
        </p:nvSpPr>
        <p:spPr>
          <a:xfrm xmlns:a="http://schemas.openxmlformats.org/drawingml/2006/main">
            <a:off x="6267450" y="4152900"/>
            <a:ext cx="419100" cy="419100"/>
          </a:xfrm>
          <a:prstGeom xmlns:a="http://schemas.openxmlformats.org/drawingml/2006/main" prst="roundRect">
            <a:avLst>
              <a:gd name="adj" fmla="val 29545"/>
            </a:avLst>
          </a:prstGeom>
          <a:solidFill xmlns:a="http://schemas.openxmlformats.org/drawingml/2006/main">
            <a:srgbClr val="14B8A6"/>
          </a:solidFill>
          <a:ln xmlns:a="http://schemas.openxmlformats.org/drawingml/2006/main" w="9525">
            <a:solidFill>
              <a:srgbClr val="14B8A6"/>
            </a:solidFill>
            <a:prstDash val="solid"/>
          </a:ln>
        </p:spPr>
      </p:sp>
      <p:sp>
        <p:nvSpPr>
          <p:cNvPr id="29" name="">
            <a:extLst xmlns:a="http://schemas.openxmlformats.org/drawingml/2006/main">
              <a:ext uri="{FF2B5EF4-FFF2-40B4-BE49-F238E27FC236}">
                <a16:creationId xmlns:a16="http://schemas.microsoft.com/office/drawing/2014/main" id="{5957EA60-A0A2-45D1-BF3F-9AA0432FE44F}"/>
              </a:ext>
            </a:extLst>
          </p:cNvPr>
          <p:cNvSpPr>
            <a:spLocks xmlns:a="http://schemas.openxmlformats.org/drawingml/2006/main" noGrp="1"/>
          </p:cNvSpPr>
          <p:nvPr/>
        </p:nvSpPr>
        <p:spPr>
          <a:xfrm xmlns:a="http://schemas.openxmlformats.org/drawingml/2006/main">
            <a:off x="6267450" y="4248150"/>
            <a:ext cx="419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132B"/>
                </a:solidFill>
                <a:latin typeface="Arial"/>
                <a:ea typeface="Arial"/>
                <a:cs typeface="Arial"/>
              </a:defRPr>
            </a:pPr>
            <a:r>
              <a:rPr sz="1200" b="1" i="0">
                <a:solidFill>
                  <a:srgbClr val="0B132B"/>
                </a:solidFill>
                <a:latin typeface="Arial"/>
                <a:ea typeface="Arial"/>
                <a:cs typeface="Arial"/>
              </a:rPr>
              <a:t>04</a:t>
            </a:r>
          </a:p>
        </p:txBody>
      </p:sp>
      <p:sp>
        <p:nvSpPr>
          <p:cNvPr id="30" name="">
            <a:extLst xmlns:a="http://schemas.openxmlformats.org/drawingml/2006/main">
              <a:ext uri="{FF2B5EF4-FFF2-40B4-BE49-F238E27FC236}">
                <a16:creationId xmlns:a16="http://schemas.microsoft.com/office/drawing/2014/main" id="{699A8E6D-C6B6-451E-AB97-03EDEB0F47B9}"/>
              </a:ext>
            </a:extLst>
          </p:cNvPr>
          <p:cNvSpPr>
            <a:spLocks xmlns:a="http://schemas.openxmlformats.org/drawingml/2006/main" noGrp="1"/>
          </p:cNvSpPr>
          <p:nvPr/>
        </p:nvSpPr>
        <p:spPr>
          <a:xfrm xmlns:a="http://schemas.openxmlformats.org/drawingml/2006/main">
            <a:off x="9601200" y="4191000"/>
            <a:ext cx="1143000" cy="266700"/>
          </a:xfrm>
          <a:prstGeom xmlns:a="http://schemas.openxmlformats.org/drawingml/2006/main" prst="roundRect">
            <a:avLst>
              <a:gd name="adj" fmla="val 50000"/>
            </a:avLst>
          </a:prstGeom>
          <a:solidFill xmlns:a="http://schemas.openxmlformats.org/drawingml/2006/main">
            <a:srgbClr val="14B8A6"/>
          </a:solidFill>
          <a:ln xmlns:a="http://schemas.openxmlformats.org/drawingml/2006/main" w="9525">
            <a:solidFill>
              <a:srgbClr val="14B8A6"/>
            </a:solidFill>
            <a:prstDash val="solid"/>
          </a:ln>
        </p:spPr>
      </p:sp>
      <p:sp>
        <p:nvSpPr>
          <p:cNvPr id="31" name="">
            <a:extLst xmlns:a="http://schemas.openxmlformats.org/drawingml/2006/main">
              <a:ext uri="{FF2B5EF4-FFF2-40B4-BE49-F238E27FC236}">
                <a16:creationId xmlns:a16="http://schemas.microsoft.com/office/drawing/2014/main" id="{D881BB3A-17F3-489B-9854-562F6E00B096}"/>
              </a:ext>
            </a:extLst>
          </p:cNvPr>
          <p:cNvSpPr>
            <a:spLocks xmlns:a="http://schemas.openxmlformats.org/drawingml/2006/main" noGrp="1"/>
          </p:cNvSpPr>
          <p:nvPr/>
        </p:nvSpPr>
        <p:spPr>
          <a:xfrm xmlns:a="http://schemas.openxmlformats.org/drawingml/2006/main">
            <a:off x="9601200" y="4229100"/>
            <a:ext cx="1143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PRIVACY NEED</a:t>
            </a:r>
          </a:p>
        </p:txBody>
      </p:sp>
      <p:sp>
        <p:nvSpPr>
          <p:cNvPr id="32" name="">
            <a:extLst xmlns:a="http://schemas.openxmlformats.org/drawingml/2006/main">
              <a:ext uri="{FF2B5EF4-FFF2-40B4-BE49-F238E27FC236}">
                <a16:creationId xmlns:a16="http://schemas.microsoft.com/office/drawing/2014/main" id="{09067FE0-0BE7-46AD-B548-F0A9D90A0AF6}"/>
              </a:ext>
            </a:extLst>
          </p:cNvPr>
          <p:cNvSpPr>
            <a:spLocks xmlns:a="http://schemas.openxmlformats.org/drawingml/2006/main" noGrp="1"/>
          </p:cNvSpPr>
          <p:nvPr/>
        </p:nvSpPr>
        <p:spPr>
          <a:xfrm xmlns:a="http://schemas.openxmlformats.org/drawingml/2006/main">
            <a:off x="6267450" y="4743450"/>
            <a:ext cx="447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i="0">
                <a:solidFill>
                  <a:srgbClr val="F8FAFC"/>
                </a:solidFill>
                <a:latin typeface="Arial"/>
                <a:ea typeface="Arial"/>
                <a:cs typeface="Arial"/>
              </a:defRPr>
            </a:pPr>
            <a:r>
              <a:rPr sz="1650" b="1" i="0">
                <a:solidFill>
                  <a:srgbClr val="F8FAFC"/>
                </a:solidFill>
                <a:latin typeface="Arial"/>
                <a:ea typeface="Arial"/>
                <a:cs typeface="Arial"/>
              </a:rPr>
              <a:t>Privacy matters</a:t>
            </a:r>
          </a:p>
        </p:txBody>
      </p:sp>
      <p:sp>
        <p:nvSpPr>
          <p:cNvPr id="33" name="">
            <a:extLst xmlns:a="http://schemas.openxmlformats.org/drawingml/2006/main">
              <a:ext uri="{FF2B5EF4-FFF2-40B4-BE49-F238E27FC236}">
                <a16:creationId xmlns:a16="http://schemas.microsoft.com/office/drawing/2014/main" id="{D25C0070-53E5-43E1-BAD9-7B9910C98721}"/>
              </a:ext>
            </a:extLst>
          </p:cNvPr>
          <p:cNvSpPr>
            <a:spLocks xmlns:a="http://schemas.openxmlformats.org/drawingml/2006/main" noGrp="1"/>
          </p:cNvSpPr>
          <p:nvPr/>
        </p:nvSpPr>
        <p:spPr>
          <a:xfrm xmlns:a="http://schemas.openxmlformats.org/drawingml/2006/main">
            <a:off x="6267450" y="51244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i="0">
                <a:solidFill>
                  <a:srgbClr val="94A3B8"/>
                </a:solidFill>
                <a:latin typeface="Arial"/>
                <a:ea typeface="Arial"/>
                <a:cs typeface="Arial"/>
              </a:defRPr>
            </a:pPr>
            <a:r>
              <a:rPr sz="1125" b="0" i="0">
                <a:solidFill>
                  <a:srgbClr val="94A3B8"/>
                </a:solidFill>
                <a:latin typeface="Arial"/>
                <a:ea typeface="Arial"/>
                <a:cs typeface="Arial"/>
              </a:rPr>
              <a:t>A health product must protect personal data and still work for a guest user.</a:t>
            </a:r>
          </a:p>
        </p:txBody>
      </p:sp>
      <p:sp>
        <p:nvSpPr>
          <p:cNvPr id="34" name="">
            <a:extLst xmlns:a="http://schemas.openxmlformats.org/drawingml/2006/main">
              <a:ext uri="{FF2B5EF4-FFF2-40B4-BE49-F238E27FC236}">
                <a16:creationId xmlns:a16="http://schemas.microsoft.com/office/drawing/2014/main" id="{F1B2A77D-A821-4ABC-B100-BF5578D7E7B5}"/>
              </a:ext>
            </a:extLst>
          </p:cNvPr>
          <p:cNvSpPr>
            <a:spLocks xmlns:a="http://schemas.openxmlformats.org/drawingml/2006/main" noGrp="1"/>
          </p:cNvSpPr>
          <p:nvPr/>
        </p:nvSpPr>
        <p:spPr>
          <a:xfrm xmlns:a="http://schemas.openxmlformats.org/drawingml/2006/main">
            <a:off x="533400" y="645795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35" name="">
            <a:extLst xmlns:a="http://schemas.openxmlformats.org/drawingml/2006/main">
              <a:ext uri="{FF2B5EF4-FFF2-40B4-BE49-F238E27FC236}">
                <a16:creationId xmlns:a16="http://schemas.microsoft.com/office/drawing/2014/main" id="{002433A4-9F59-40D9-99B8-1272A6A2EF59}"/>
              </a:ext>
            </a:extLst>
          </p:cNvPr>
          <p:cNvSpPr>
            <a:spLocks xmlns:a="http://schemas.openxmlformats.org/drawingml/2006/main" noGrp="1"/>
          </p:cNvSpPr>
          <p:nvPr/>
        </p:nvSpPr>
        <p:spPr>
          <a:xfrm xmlns:a="http://schemas.openxmlformats.org/drawingml/2006/main">
            <a:off x="533400" y="65722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94A3B8"/>
                </a:solidFill>
                <a:latin typeface="Arial"/>
                <a:ea typeface="Arial"/>
                <a:cs typeface="Arial"/>
              </a:defRPr>
            </a:pPr>
            <a:r>
              <a:rPr sz="825" b="0" i="0">
                <a:solidFill>
                  <a:srgbClr val="94A3B8"/>
                </a:solidFill>
                <a:latin typeface="Arial"/>
                <a:ea typeface="Arial"/>
                <a:cs typeface="Arial"/>
              </a:rPr>
              <a:t>MediScan · AI medical report analyzer</a:t>
            </a:r>
          </a:p>
        </p:txBody>
      </p:sp>
    </p:spTree>
    <p:extLst>
      <p:ext uri="{BB962C8B-B14F-4D97-AF65-F5344CB8AC3E}">
        <p14:creationId xmlns:p14="http://schemas.microsoft.com/office/powerpoint/2010/main" val="48193662"/>
      </p:ext>
    </p:extLst>
  </p:cSld>
</p:sld>
</file>

<file path=ppt/slides/slide3.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6D08052E-B73D-413E-9921-20703CC096C1}"/>
              </a:ext>
            </a:extLst>
          </p:cNvPr>
          <p:cNvSpPr>
            <a:spLocks xmlns:a="http://schemas.openxmlformats.org/drawingml/2006/main" noGrp="1"/>
          </p:cNvSpPr>
          <p:nvPr/>
        </p:nvSpPr>
        <p:spPr>
          <a:xfrm xmlns:a="http://schemas.openxmlformats.org/drawingml/2006/main">
            <a:off x="533400" y="2857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HOW IT WORKS</a:t>
            </a:r>
          </a:p>
        </p:txBody>
      </p:sp>
      <p:sp>
        <p:nvSpPr>
          <p:cNvPr id="2" name="">
            <a:extLst xmlns:a="http://schemas.openxmlformats.org/drawingml/2006/main">
              <a:ext uri="{FF2B5EF4-FFF2-40B4-BE49-F238E27FC236}">
                <a16:creationId xmlns:a16="http://schemas.microsoft.com/office/drawing/2014/main" id="{BA0071BC-7220-463A-97B3-F32E7E03BA95}"/>
              </a:ext>
            </a:extLst>
          </p:cNvPr>
          <p:cNvSpPr>
            <a:spLocks xmlns:a="http://schemas.openxmlformats.org/drawingml/2006/main" noGrp="1"/>
          </p:cNvSpPr>
          <p:nvPr/>
        </p:nvSpPr>
        <p:spPr>
          <a:xfrm xmlns:a="http://schemas.openxmlformats.org/drawingml/2006/main">
            <a:off x="533400" y="5524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8FAFC"/>
                </a:solidFill>
                <a:latin typeface="Arial"/>
                <a:ea typeface="Arial"/>
                <a:cs typeface="Arial"/>
              </a:defRPr>
            </a:pPr>
            <a:r>
              <a:rPr sz="2250" b="1" i="0">
                <a:solidFill>
                  <a:srgbClr val="F8FAFC"/>
                </a:solidFill>
                <a:latin typeface="Arial"/>
                <a:ea typeface="Arial"/>
                <a:cs typeface="Arial"/>
              </a:rPr>
              <a:t>System architecture and data flow</a:t>
            </a:r>
          </a:p>
        </p:txBody>
      </p:sp>
      <p:sp>
        <p:nvSpPr>
          <p:cNvPr id="3" name="">
            <a:extLst xmlns:a="http://schemas.openxmlformats.org/drawingml/2006/main">
              <a:ext uri="{FF2B5EF4-FFF2-40B4-BE49-F238E27FC236}">
                <a16:creationId xmlns:a16="http://schemas.microsoft.com/office/drawing/2014/main" id="{D219FF43-86C1-4DD6-BBBB-BB1AA66237CF}"/>
              </a:ext>
            </a:extLst>
          </p:cNvPr>
          <p:cNvSpPr>
            <a:spLocks xmlns:a="http://schemas.openxmlformats.org/drawingml/2006/main" noGrp="1"/>
          </p:cNvSpPr>
          <p:nvPr/>
        </p:nvSpPr>
        <p:spPr>
          <a:xfrm xmlns:a="http://schemas.openxmlformats.org/drawingml/2006/main">
            <a:off x="11144250" y="3238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94A3B8"/>
                </a:solidFill>
                <a:latin typeface="Arial"/>
                <a:ea typeface="Arial"/>
                <a:cs typeface="Arial"/>
              </a:defRPr>
            </a:pPr>
            <a:r>
              <a:rPr sz="1050" b="1" i="0">
                <a:solidFill>
                  <a:srgbClr val="94A3B8"/>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673389B9-8BCA-499E-9EB2-EDC52A5EB464}"/>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 name="">
            <a:extLst xmlns:a="http://schemas.openxmlformats.org/drawingml/2006/main">
              <a:ext uri="{FF2B5EF4-FFF2-40B4-BE49-F238E27FC236}">
                <a16:creationId xmlns:a16="http://schemas.microsoft.com/office/drawing/2014/main" id="{905A48E4-94B2-4D3F-9236-9F520A889169}"/>
              </a:ext>
            </a:extLst>
          </p:cNvPr>
          <p:cNvSpPr>
            <a:spLocks xmlns:a="http://schemas.openxmlformats.org/drawingml/2006/main" noGrp="1"/>
          </p:cNvSpPr>
          <p:nvPr/>
        </p:nvSpPr>
        <p:spPr>
          <a:xfrm xmlns:a="http://schemas.openxmlformats.org/drawingml/2006/main">
            <a:off x="533400" y="1257300"/>
            <a:ext cx="781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The system keeps evidence visible from upload to final explanation.</a:t>
            </a:r>
          </a:p>
        </p:txBody>
      </p:sp>
      <p:sp>
        <p:nvSpPr>
          <p:cNvPr id="6" name="">
            <a:extLst xmlns:a="http://schemas.openxmlformats.org/drawingml/2006/main">
              <a:ext uri="{FF2B5EF4-FFF2-40B4-BE49-F238E27FC236}">
                <a16:creationId xmlns:a16="http://schemas.microsoft.com/office/drawing/2014/main" id="{1B50F577-12EE-48D4-BC42-518402DD6B17}"/>
              </a:ext>
            </a:extLst>
          </p:cNvPr>
          <p:cNvSpPr>
            <a:spLocks xmlns:a="http://schemas.openxmlformats.org/drawingml/2006/main" noGrp="1"/>
          </p:cNvSpPr>
          <p:nvPr/>
        </p:nvSpPr>
        <p:spPr>
          <a:xfrm xmlns:a="http://schemas.openxmlformats.org/drawingml/2006/main">
            <a:off x="533400" y="1771650"/>
            <a:ext cx="3429000" cy="4057650"/>
          </a:xfrm>
          <a:prstGeom xmlns:a="http://schemas.openxmlformats.org/drawingml/2006/main" prst="roundRect">
            <a:avLst>
              <a:gd name="adj" fmla="val 6111"/>
            </a:avLst>
          </a:prstGeom>
          <a:solidFill xmlns:a="http://schemas.openxmlformats.org/drawingml/2006/main">
            <a:srgbClr val="111D38"/>
          </a:solidFill>
          <a:ln xmlns:a="http://schemas.openxmlformats.org/drawingml/2006/main" w="9525">
            <a:solidFill>
              <a:srgbClr val="294262"/>
            </a:solidFill>
            <a:prstDash val="solid"/>
          </a:ln>
        </p:spPr>
      </p:sp>
      <p:sp>
        <p:nvSpPr>
          <p:cNvPr id="7" name="">
            <a:extLst xmlns:a="http://schemas.openxmlformats.org/drawingml/2006/main">
              <a:ext uri="{FF2B5EF4-FFF2-40B4-BE49-F238E27FC236}">
                <a16:creationId xmlns:a16="http://schemas.microsoft.com/office/drawing/2014/main" id="{C5C319AA-AC4B-45EF-ABF8-4BB4D16ED8EB}"/>
              </a:ext>
            </a:extLst>
          </p:cNvPr>
          <p:cNvSpPr>
            <a:spLocks xmlns:a="http://schemas.openxmlformats.org/drawingml/2006/main" noGrp="1"/>
          </p:cNvSpPr>
          <p:nvPr/>
        </p:nvSpPr>
        <p:spPr>
          <a:xfrm xmlns:a="http://schemas.openxmlformats.org/drawingml/2006/main">
            <a:off x="781050" y="20383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Technology stack</a:t>
            </a:r>
          </a:p>
        </p:txBody>
      </p:sp>
      <p:sp>
        <p:nvSpPr>
          <p:cNvPr id="8" name="">
            <a:extLst xmlns:a="http://schemas.openxmlformats.org/drawingml/2006/main">
              <a:ext uri="{FF2B5EF4-FFF2-40B4-BE49-F238E27FC236}">
                <a16:creationId xmlns:a16="http://schemas.microsoft.com/office/drawing/2014/main" id="{83160E79-0D6F-4F6F-8CF8-29F73E283CE6}"/>
              </a:ext>
            </a:extLst>
          </p:cNvPr>
          <p:cNvSpPr>
            <a:spLocks xmlns:a="http://schemas.openxmlformats.org/drawingml/2006/main" noGrp="1"/>
          </p:cNvSpPr>
          <p:nvPr/>
        </p:nvSpPr>
        <p:spPr>
          <a:xfrm xmlns:a="http://schemas.openxmlformats.org/drawingml/2006/main">
            <a:off x="781050" y="2524125"/>
            <a:ext cx="85725" cy="85725"/>
          </a:xfrm>
          <a:prstGeom xmlns:a="http://schemas.openxmlformats.org/drawingml/2006/main" prst="ellipse">
            <a:avLst/>
          </a:prstGeom>
          <a:solidFill xmlns:a="http://schemas.openxmlformats.org/drawingml/2006/main">
            <a:srgbClr val="38BDF8"/>
          </a:solidFill>
          <a:ln xmlns:a="http://schemas.openxmlformats.org/drawingml/2006/main" w="0">
            <a:solidFill>
              <a:srgbClr val="38BDF8"/>
            </a:solidFill>
          </a:ln>
        </p:spPr>
      </p:sp>
      <p:sp>
        <p:nvSpPr>
          <p:cNvPr id="9" name="">
            <a:extLst xmlns:a="http://schemas.openxmlformats.org/drawingml/2006/main">
              <a:ext uri="{FF2B5EF4-FFF2-40B4-BE49-F238E27FC236}">
                <a16:creationId xmlns:a16="http://schemas.microsoft.com/office/drawing/2014/main" id="{52AF531F-9DF1-4B19-82F5-3FFB6AF064C7}"/>
              </a:ext>
            </a:extLst>
          </p:cNvPr>
          <p:cNvSpPr>
            <a:spLocks xmlns:a="http://schemas.openxmlformats.org/drawingml/2006/main" noGrp="1"/>
          </p:cNvSpPr>
          <p:nvPr/>
        </p:nvSpPr>
        <p:spPr>
          <a:xfrm xmlns:a="http://schemas.openxmlformats.org/drawingml/2006/main">
            <a:off x="971550" y="2476500"/>
            <a:ext cx="87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38BDF8"/>
                </a:solidFill>
                <a:latin typeface="Arial"/>
                <a:ea typeface="Arial"/>
                <a:cs typeface="Arial"/>
              </a:defRPr>
            </a:pPr>
            <a:r>
              <a:rPr sz="975" b="1" i="0">
                <a:solidFill>
                  <a:srgbClr val="38BDF8"/>
                </a:solidFill>
                <a:latin typeface="Arial"/>
                <a:ea typeface="Arial"/>
                <a:cs typeface="Arial"/>
              </a:rPr>
              <a:t>Frontend</a:t>
            </a:r>
          </a:p>
        </p:txBody>
      </p:sp>
      <p:sp>
        <p:nvSpPr>
          <p:cNvPr id="10" name="">
            <a:extLst xmlns:a="http://schemas.openxmlformats.org/drawingml/2006/main">
              <a:ext uri="{FF2B5EF4-FFF2-40B4-BE49-F238E27FC236}">
                <a16:creationId xmlns:a16="http://schemas.microsoft.com/office/drawing/2014/main" id="{402AD7CC-9216-4489-A492-6F7749EFA104}"/>
              </a:ext>
            </a:extLst>
          </p:cNvPr>
          <p:cNvSpPr>
            <a:spLocks xmlns:a="http://schemas.openxmlformats.org/drawingml/2006/main" noGrp="1"/>
          </p:cNvSpPr>
          <p:nvPr/>
        </p:nvSpPr>
        <p:spPr>
          <a:xfrm xmlns:a="http://schemas.openxmlformats.org/drawingml/2006/main">
            <a:off x="1847850" y="2476500"/>
            <a:ext cx="1847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React 19 · TypeScript · Tailwind v4</a:t>
            </a:r>
          </a:p>
        </p:txBody>
      </p:sp>
      <p:sp>
        <p:nvSpPr>
          <p:cNvPr id="11" name="">
            <a:extLst xmlns:a="http://schemas.openxmlformats.org/drawingml/2006/main">
              <a:ext uri="{FF2B5EF4-FFF2-40B4-BE49-F238E27FC236}">
                <a16:creationId xmlns:a16="http://schemas.microsoft.com/office/drawing/2014/main" id="{2ACD080D-9C81-4A69-AF7F-39281708C361}"/>
              </a:ext>
            </a:extLst>
          </p:cNvPr>
          <p:cNvSpPr>
            <a:spLocks xmlns:a="http://schemas.openxmlformats.org/drawingml/2006/main" noGrp="1"/>
          </p:cNvSpPr>
          <p:nvPr/>
        </p:nvSpPr>
        <p:spPr>
          <a:xfrm xmlns:a="http://schemas.openxmlformats.org/drawingml/2006/main">
            <a:off x="781050" y="3038475"/>
            <a:ext cx="85725" cy="85725"/>
          </a:xfrm>
          <a:prstGeom xmlns:a="http://schemas.openxmlformats.org/drawingml/2006/main" prst="ellipse">
            <a:avLst/>
          </a:prstGeom>
          <a:solidFill xmlns:a="http://schemas.openxmlformats.org/drawingml/2006/main">
            <a:srgbClr val="14B8A6"/>
          </a:solidFill>
          <a:ln xmlns:a="http://schemas.openxmlformats.org/drawingml/2006/main" w="0">
            <a:solidFill>
              <a:srgbClr val="14B8A6"/>
            </a:solidFill>
          </a:ln>
        </p:spPr>
      </p:sp>
      <p:sp>
        <p:nvSpPr>
          <p:cNvPr id="12" name="">
            <a:extLst xmlns:a="http://schemas.openxmlformats.org/drawingml/2006/main">
              <a:ext uri="{FF2B5EF4-FFF2-40B4-BE49-F238E27FC236}">
                <a16:creationId xmlns:a16="http://schemas.microsoft.com/office/drawing/2014/main" id="{664EACC8-8814-4BE7-A5E7-F66E45E9EA3F}"/>
              </a:ext>
            </a:extLst>
          </p:cNvPr>
          <p:cNvSpPr>
            <a:spLocks xmlns:a="http://schemas.openxmlformats.org/drawingml/2006/main" noGrp="1"/>
          </p:cNvSpPr>
          <p:nvPr/>
        </p:nvSpPr>
        <p:spPr>
          <a:xfrm xmlns:a="http://schemas.openxmlformats.org/drawingml/2006/main">
            <a:off x="971550" y="2990850"/>
            <a:ext cx="87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14B8A6"/>
                </a:solidFill>
                <a:latin typeface="Arial"/>
                <a:ea typeface="Arial"/>
                <a:cs typeface="Arial"/>
              </a:defRPr>
            </a:pPr>
            <a:r>
              <a:rPr sz="975" b="1" i="0">
                <a:solidFill>
                  <a:srgbClr val="14B8A6"/>
                </a:solidFill>
                <a:latin typeface="Arial"/>
                <a:ea typeface="Arial"/>
                <a:cs typeface="Arial"/>
              </a:rPr>
              <a:t>App routing</a:t>
            </a:r>
          </a:p>
        </p:txBody>
      </p:sp>
      <p:sp>
        <p:nvSpPr>
          <p:cNvPr id="13" name="">
            <a:extLst xmlns:a="http://schemas.openxmlformats.org/drawingml/2006/main">
              <a:ext uri="{FF2B5EF4-FFF2-40B4-BE49-F238E27FC236}">
                <a16:creationId xmlns:a16="http://schemas.microsoft.com/office/drawing/2014/main" id="{BAB688AF-2615-45A0-9922-9F80DF4B553E}"/>
              </a:ext>
            </a:extLst>
          </p:cNvPr>
          <p:cNvSpPr>
            <a:spLocks xmlns:a="http://schemas.openxmlformats.org/drawingml/2006/main" noGrp="1"/>
          </p:cNvSpPr>
          <p:nvPr/>
        </p:nvSpPr>
        <p:spPr>
          <a:xfrm xmlns:a="http://schemas.openxmlformats.org/drawingml/2006/main">
            <a:off x="1847850" y="2990850"/>
            <a:ext cx="1847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TanStack Start + Router</a:t>
            </a:r>
          </a:p>
        </p:txBody>
      </p:sp>
      <p:sp>
        <p:nvSpPr>
          <p:cNvPr id="14" name="">
            <a:extLst xmlns:a="http://schemas.openxmlformats.org/drawingml/2006/main">
              <a:ext uri="{FF2B5EF4-FFF2-40B4-BE49-F238E27FC236}">
                <a16:creationId xmlns:a16="http://schemas.microsoft.com/office/drawing/2014/main" id="{649ECEE0-6FD9-4E16-8078-F3B9F14DE927}"/>
              </a:ext>
            </a:extLst>
          </p:cNvPr>
          <p:cNvSpPr>
            <a:spLocks xmlns:a="http://schemas.openxmlformats.org/drawingml/2006/main" noGrp="1"/>
          </p:cNvSpPr>
          <p:nvPr/>
        </p:nvSpPr>
        <p:spPr>
          <a:xfrm xmlns:a="http://schemas.openxmlformats.org/drawingml/2006/main">
            <a:off x="781050" y="3552825"/>
            <a:ext cx="85725" cy="85725"/>
          </a:xfrm>
          <a:prstGeom xmlns:a="http://schemas.openxmlformats.org/drawingml/2006/main" prst="ellipse">
            <a:avLst/>
          </a:prstGeom>
          <a:solidFill xmlns:a="http://schemas.openxmlformats.org/drawingml/2006/main">
            <a:srgbClr val="60A5FA"/>
          </a:solidFill>
          <a:ln xmlns:a="http://schemas.openxmlformats.org/drawingml/2006/main" w="0">
            <a:solidFill>
              <a:srgbClr val="60A5FA"/>
            </a:solidFill>
          </a:ln>
        </p:spPr>
      </p:sp>
      <p:sp>
        <p:nvSpPr>
          <p:cNvPr id="15" name="">
            <a:extLst xmlns:a="http://schemas.openxmlformats.org/drawingml/2006/main">
              <a:ext uri="{FF2B5EF4-FFF2-40B4-BE49-F238E27FC236}">
                <a16:creationId xmlns:a16="http://schemas.microsoft.com/office/drawing/2014/main" id="{682B03E9-8F73-4C91-A33A-1B5B428D59A4}"/>
              </a:ext>
            </a:extLst>
          </p:cNvPr>
          <p:cNvSpPr>
            <a:spLocks xmlns:a="http://schemas.openxmlformats.org/drawingml/2006/main" noGrp="1"/>
          </p:cNvSpPr>
          <p:nvPr/>
        </p:nvSpPr>
        <p:spPr>
          <a:xfrm xmlns:a="http://schemas.openxmlformats.org/drawingml/2006/main">
            <a:off x="971550" y="3505200"/>
            <a:ext cx="87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60A5FA"/>
                </a:solidFill>
                <a:latin typeface="Arial"/>
                <a:ea typeface="Arial"/>
                <a:cs typeface="Arial"/>
              </a:defRPr>
            </a:pPr>
            <a:r>
              <a:rPr sz="975" b="1" i="0">
                <a:solidFill>
                  <a:srgbClr val="60A5FA"/>
                </a:solidFill>
                <a:latin typeface="Arial"/>
                <a:ea typeface="Arial"/>
                <a:cs typeface="Arial"/>
              </a:rPr>
              <a:t>AI layer</a:t>
            </a:r>
          </a:p>
        </p:txBody>
      </p:sp>
      <p:sp>
        <p:nvSpPr>
          <p:cNvPr id="16" name="">
            <a:extLst xmlns:a="http://schemas.openxmlformats.org/drawingml/2006/main">
              <a:ext uri="{FF2B5EF4-FFF2-40B4-BE49-F238E27FC236}">
                <a16:creationId xmlns:a16="http://schemas.microsoft.com/office/drawing/2014/main" id="{FFD0AF60-4A67-4156-9B19-653C4FB7655D}"/>
              </a:ext>
            </a:extLst>
          </p:cNvPr>
          <p:cNvSpPr>
            <a:spLocks xmlns:a="http://schemas.openxmlformats.org/drawingml/2006/main" noGrp="1"/>
          </p:cNvSpPr>
          <p:nvPr/>
        </p:nvSpPr>
        <p:spPr>
          <a:xfrm xmlns:a="http://schemas.openxmlformats.org/drawingml/2006/main">
            <a:off x="1847850" y="3505200"/>
            <a:ext cx="1847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Gemini 2.5 Flash via Vercel AI SDK</a:t>
            </a:r>
          </a:p>
        </p:txBody>
      </p:sp>
      <p:sp>
        <p:nvSpPr>
          <p:cNvPr id="17" name="">
            <a:extLst xmlns:a="http://schemas.openxmlformats.org/drawingml/2006/main">
              <a:ext uri="{FF2B5EF4-FFF2-40B4-BE49-F238E27FC236}">
                <a16:creationId xmlns:a16="http://schemas.microsoft.com/office/drawing/2014/main" id="{DB926A5B-FDB7-4518-91B5-D692B9529504}"/>
              </a:ext>
            </a:extLst>
          </p:cNvPr>
          <p:cNvSpPr>
            <a:spLocks xmlns:a="http://schemas.openxmlformats.org/drawingml/2006/main" noGrp="1"/>
          </p:cNvSpPr>
          <p:nvPr/>
        </p:nvSpPr>
        <p:spPr>
          <a:xfrm xmlns:a="http://schemas.openxmlformats.org/drawingml/2006/main">
            <a:off x="781050" y="4067175"/>
            <a:ext cx="85725" cy="8572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ln>
        </p:spPr>
      </p:sp>
      <p:sp>
        <p:nvSpPr>
          <p:cNvPr id="18" name="">
            <a:extLst xmlns:a="http://schemas.openxmlformats.org/drawingml/2006/main">
              <a:ext uri="{FF2B5EF4-FFF2-40B4-BE49-F238E27FC236}">
                <a16:creationId xmlns:a16="http://schemas.microsoft.com/office/drawing/2014/main" id="{75891E5B-33F9-46B7-8307-4961CCC7247E}"/>
              </a:ext>
            </a:extLst>
          </p:cNvPr>
          <p:cNvSpPr>
            <a:spLocks xmlns:a="http://schemas.openxmlformats.org/drawingml/2006/main" noGrp="1"/>
          </p:cNvSpPr>
          <p:nvPr/>
        </p:nvSpPr>
        <p:spPr>
          <a:xfrm xmlns:a="http://schemas.openxmlformats.org/drawingml/2006/main">
            <a:off x="971550" y="4019550"/>
            <a:ext cx="87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BBF24"/>
                </a:solidFill>
                <a:latin typeface="Arial"/>
                <a:ea typeface="Arial"/>
                <a:cs typeface="Arial"/>
              </a:defRPr>
            </a:pPr>
            <a:r>
              <a:rPr sz="975" b="1" i="0">
                <a:solidFill>
                  <a:srgbClr val="FBBF24"/>
                </a:solidFill>
                <a:latin typeface="Arial"/>
                <a:ea typeface="Arial"/>
                <a:cs typeface="Arial"/>
              </a:rPr>
              <a:t>Data</a:t>
            </a:r>
          </a:p>
        </p:txBody>
      </p:sp>
      <p:sp>
        <p:nvSpPr>
          <p:cNvPr id="19" name="">
            <a:extLst xmlns:a="http://schemas.openxmlformats.org/drawingml/2006/main">
              <a:ext uri="{FF2B5EF4-FFF2-40B4-BE49-F238E27FC236}">
                <a16:creationId xmlns:a16="http://schemas.microsoft.com/office/drawing/2014/main" id="{24E09F4B-DB29-48E0-B5D9-E191DDBFFE68}"/>
              </a:ext>
            </a:extLst>
          </p:cNvPr>
          <p:cNvSpPr>
            <a:spLocks xmlns:a="http://schemas.openxmlformats.org/drawingml/2006/main" noGrp="1"/>
          </p:cNvSpPr>
          <p:nvPr/>
        </p:nvSpPr>
        <p:spPr>
          <a:xfrm xmlns:a="http://schemas.openxmlformats.org/drawingml/2006/main">
            <a:off x="1847850" y="4019550"/>
            <a:ext cx="1847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987"/>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Supabase Auth + PostgreSQL + RLS</a:t>
            </a:r>
          </a:p>
        </p:txBody>
      </p:sp>
      <p:sp>
        <p:nvSpPr>
          <p:cNvPr id="20" name="">
            <a:extLst xmlns:a="http://schemas.openxmlformats.org/drawingml/2006/main">
              <a:ext uri="{FF2B5EF4-FFF2-40B4-BE49-F238E27FC236}">
                <a16:creationId xmlns:a16="http://schemas.microsoft.com/office/drawing/2014/main" id="{8BEA6C3E-98CB-40B3-8DC1-A8BACB1FB747}"/>
              </a:ext>
            </a:extLst>
          </p:cNvPr>
          <p:cNvSpPr>
            <a:spLocks xmlns:a="http://schemas.openxmlformats.org/drawingml/2006/main" noGrp="1"/>
          </p:cNvSpPr>
          <p:nvPr/>
        </p:nvSpPr>
        <p:spPr>
          <a:xfrm xmlns:a="http://schemas.openxmlformats.org/drawingml/2006/main">
            <a:off x="781050" y="4581525"/>
            <a:ext cx="85725" cy="85725"/>
          </a:xfrm>
          <a:prstGeom xmlns:a="http://schemas.openxmlformats.org/drawingml/2006/main" prst="ellipse">
            <a:avLst/>
          </a:prstGeom>
          <a:solidFill xmlns:a="http://schemas.openxmlformats.org/drawingml/2006/main">
            <a:srgbClr val="4ADE80"/>
          </a:solidFill>
          <a:ln xmlns:a="http://schemas.openxmlformats.org/drawingml/2006/main" w="0">
            <a:solidFill>
              <a:srgbClr val="4ADE80"/>
            </a:solidFill>
          </a:ln>
        </p:spPr>
      </p:sp>
      <p:sp>
        <p:nvSpPr>
          <p:cNvPr id="21" name="">
            <a:extLst xmlns:a="http://schemas.openxmlformats.org/drawingml/2006/main">
              <a:ext uri="{FF2B5EF4-FFF2-40B4-BE49-F238E27FC236}">
                <a16:creationId xmlns:a16="http://schemas.microsoft.com/office/drawing/2014/main" id="{396C070F-A68E-4036-A33E-82E0A43DCA5E}"/>
              </a:ext>
            </a:extLst>
          </p:cNvPr>
          <p:cNvSpPr>
            <a:spLocks xmlns:a="http://schemas.openxmlformats.org/drawingml/2006/main" noGrp="1"/>
          </p:cNvSpPr>
          <p:nvPr/>
        </p:nvSpPr>
        <p:spPr>
          <a:xfrm xmlns:a="http://schemas.openxmlformats.org/drawingml/2006/main">
            <a:off x="971550" y="4533900"/>
            <a:ext cx="87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4ADE80"/>
                </a:solidFill>
                <a:latin typeface="Arial"/>
                <a:ea typeface="Arial"/>
                <a:cs typeface="Arial"/>
              </a:defRPr>
            </a:pPr>
            <a:r>
              <a:rPr sz="975" b="1" i="0">
                <a:solidFill>
                  <a:srgbClr val="4ADE80"/>
                </a:solidFill>
                <a:latin typeface="Arial"/>
                <a:ea typeface="Arial"/>
                <a:cs typeface="Arial"/>
              </a:rPr>
              <a:t>Deploy</a:t>
            </a:r>
          </a:p>
        </p:txBody>
      </p:sp>
      <p:sp>
        <p:nvSpPr>
          <p:cNvPr id="22" name="">
            <a:extLst xmlns:a="http://schemas.openxmlformats.org/drawingml/2006/main">
              <a:ext uri="{FF2B5EF4-FFF2-40B4-BE49-F238E27FC236}">
                <a16:creationId xmlns:a16="http://schemas.microsoft.com/office/drawing/2014/main" id="{168ACEAE-86EE-4964-96E6-0CAAE23C03D4}"/>
              </a:ext>
            </a:extLst>
          </p:cNvPr>
          <p:cNvSpPr>
            <a:spLocks xmlns:a="http://schemas.openxmlformats.org/drawingml/2006/main" noGrp="1"/>
          </p:cNvSpPr>
          <p:nvPr/>
        </p:nvSpPr>
        <p:spPr>
          <a:xfrm xmlns:a="http://schemas.openxmlformats.org/drawingml/2006/main">
            <a:off x="1847850" y="4533900"/>
            <a:ext cx="1847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Vite 8 · Nitro · Cloudflare Workers</a:t>
            </a:r>
          </a:p>
        </p:txBody>
      </p:sp>
      <p:sp>
        <p:nvSpPr>
          <p:cNvPr id="23" name="">
            <a:extLst xmlns:a="http://schemas.openxmlformats.org/drawingml/2006/main">
              <a:ext uri="{FF2B5EF4-FFF2-40B4-BE49-F238E27FC236}">
                <a16:creationId xmlns:a16="http://schemas.microsoft.com/office/drawing/2014/main" id="{971BC943-01A9-4F76-8C58-E2170AD0E2A9}"/>
              </a:ext>
            </a:extLst>
          </p:cNvPr>
          <p:cNvSpPr>
            <a:spLocks xmlns:a="http://schemas.openxmlformats.org/drawingml/2006/main" noGrp="1"/>
          </p:cNvSpPr>
          <p:nvPr/>
        </p:nvSpPr>
        <p:spPr>
          <a:xfrm xmlns:a="http://schemas.openxmlformats.org/drawingml/2006/main">
            <a:off x="781050" y="5095875"/>
            <a:ext cx="85725" cy="85725"/>
          </a:xfrm>
          <a:prstGeom xmlns:a="http://schemas.openxmlformats.org/drawingml/2006/main" prst="ellipse">
            <a:avLst/>
          </a:prstGeom>
          <a:solidFill xmlns:a="http://schemas.openxmlformats.org/drawingml/2006/main">
            <a:srgbClr val="FB7185"/>
          </a:solidFill>
          <a:ln xmlns:a="http://schemas.openxmlformats.org/drawingml/2006/main" w="0">
            <a:solidFill>
              <a:srgbClr val="FB7185"/>
            </a:solidFill>
          </a:ln>
        </p:spPr>
      </p:sp>
      <p:sp>
        <p:nvSpPr>
          <p:cNvPr id="24" name="">
            <a:extLst xmlns:a="http://schemas.openxmlformats.org/drawingml/2006/main">
              <a:ext uri="{FF2B5EF4-FFF2-40B4-BE49-F238E27FC236}">
                <a16:creationId xmlns:a16="http://schemas.microsoft.com/office/drawing/2014/main" id="{962B73D7-D9F6-4CAB-A092-CD4F39C06A7E}"/>
              </a:ext>
            </a:extLst>
          </p:cNvPr>
          <p:cNvSpPr>
            <a:spLocks xmlns:a="http://schemas.openxmlformats.org/drawingml/2006/main" noGrp="1"/>
          </p:cNvSpPr>
          <p:nvPr/>
        </p:nvSpPr>
        <p:spPr>
          <a:xfrm xmlns:a="http://schemas.openxmlformats.org/drawingml/2006/main">
            <a:off x="971550" y="5048250"/>
            <a:ext cx="876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FB7185"/>
                </a:solidFill>
                <a:latin typeface="Arial"/>
                <a:ea typeface="Arial"/>
                <a:cs typeface="Arial"/>
              </a:defRPr>
            </a:pPr>
            <a:r>
              <a:rPr sz="975" b="1" i="0">
                <a:solidFill>
                  <a:srgbClr val="FB7185"/>
                </a:solidFill>
                <a:latin typeface="Arial"/>
                <a:ea typeface="Arial"/>
                <a:cs typeface="Arial"/>
              </a:rPr>
              <a:t>Testing</a:t>
            </a:r>
          </a:p>
        </p:txBody>
      </p:sp>
      <p:sp>
        <p:nvSpPr>
          <p:cNvPr id="25" name="">
            <a:extLst xmlns:a="http://schemas.openxmlformats.org/drawingml/2006/main">
              <a:ext uri="{FF2B5EF4-FFF2-40B4-BE49-F238E27FC236}">
                <a16:creationId xmlns:a16="http://schemas.microsoft.com/office/drawing/2014/main" id="{AD7E4C3A-5C2C-407A-8BF1-3815B40BEF85}"/>
              </a:ext>
            </a:extLst>
          </p:cNvPr>
          <p:cNvSpPr>
            <a:spLocks xmlns:a="http://schemas.openxmlformats.org/drawingml/2006/main" noGrp="1"/>
          </p:cNvSpPr>
          <p:nvPr/>
        </p:nvSpPr>
        <p:spPr>
          <a:xfrm xmlns:a="http://schemas.openxmlformats.org/drawingml/2006/main">
            <a:off x="1847850" y="5048250"/>
            <a:ext cx="1847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Vitest · 19 suites · 201 tests</a:t>
            </a:r>
          </a:p>
        </p:txBody>
      </p:sp>
      <p:sp>
        <p:nvSpPr>
          <p:cNvPr id="26" name="">
            <a:extLst xmlns:a="http://schemas.openxmlformats.org/drawingml/2006/main">
              <a:ext uri="{FF2B5EF4-FFF2-40B4-BE49-F238E27FC236}">
                <a16:creationId xmlns:a16="http://schemas.microsoft.com/office/drawing/2014/main" id="{D71AB864-A641-490E-8C4C-E2C22C52E500}"/>
              </a:ext>
            </a:extLst>
          </p:cNvPr>
          <p:cNvSpPr>
            <a:spLocks xmlns:a="http://schemas.openxmlformats.org/drawingml/2006/main" noGrp="1"/>
          </p:cNvSpPr>
          <p:nvPr/>
        </p:nvSpPr>
        <p:spPr>
          <a:xfrm xmlns:a="http://schemas.openxmlformats.org/drawingml/2006/main">
            <a:off x="781050" y="5314950"/>
            <a:ext cx="95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Core rule</a:t>
            </a:r>
          </a:p>
        </p:txBody>
      </p:sp>
      <p:sp>
        <p:nvSpPr>
          <p:cNvPr id="27" name="">
            <a:extLst xmlns:a="http://schemas.openxmlformats.org/drawingml/2006/main">
              <a:ext uri="{FF2B5EF4-FFF2-40B4-BE49-F238E27FC236}">
                <a16:creationId xmlns:a16="http://schemas.microsoft.com/office/drawing/2014/main" id="{939CBB43-CD1F-41F9-B575-963AE5995674}"/>
              </a:ext>
            </a:extLst>
          </p:cNvPr>
          <p:cNvSpPr>
            <a:spLocks xmlns:a="http://schemas.openxmlformats.org/drawingml/2006/main" noGrp="1"/>
          </p:cNvSpPr>
          <p:nvPr/>
        </p:nvSpPr>
        <p:spPr>
          <a:xfrm xmlns:a="http://schemas.openxmlformats.org/drawingml/2006/main">
            <a:off x="781050" y="5505450"/>
            <a:ext cx="2809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8FAFC"/>
                </a:solidFill>
                <a:latin typeface="Arial"/>
                <a:ea typeface="Arial"/>
                <a:cs typeface="Arial"/>
              </a:defRPr>
            </a:pPr>
            <a:r>
              <a:rPr sz="1050" b="1" i="0">
                <a:solidFill>
                  <a:srgbClr val="F8FAFC"/>
                </a:solidFill>
                <a:latin typeface="Arial"/>
                <a:ea typeface="Arial"/>
                <a:cs typeface="Arial"/>
              </a:rPr>
              <a:t>AI assists extraction. Code verifies values, ranges, and warnings.</a:t>
            </a:r>
          </a:p>
        </p:txBody>
      </p:sp>
      <p:sp>
        <p:nvSpPr>
          <p:cNvPr id="28" name="">
            <a:extLst xmlns:a="http://schemas.openxmlformats.org/drawingml/2006/main">
              <a:ext uri="{FF2B5EF4-FFF2-40B4-BE49-F238E27FC236}">
                <a16:creationId xmlns:a16="http://schemas.microsoft.com/office/drawing/2014/main" id="{C32726BA-B599-45EE-9319-B558954CC64F}"/>
              </a:ext>
            </a:extLst>
          </p:cNvPr>
          <p:cNvSpPr>
            <a:spLocks xmlns:a="http://schemas.openxmlformats.org/drawingml/2006/main" noGrp="1"/>
          </p:cNvSpPr>
          <p:nvPr/>
        </p:nvSpPr>
        <p:spPr>
          <a:xfrm xmlns:a="http://schemas.openxmlformats.org/drawingml/2006/main">
            <a:off x="4572000" y="20383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Four-stage pipeline</a:t>
            </a:r>
          </a:p>
        </p:txBody>
      </p:sp>
      <p:sp>
        <p:nvSpPr>
          <p:cNvPr id="29" name="">
            <a:extLst xmlns:a="http://schemas.openxmlformats.org/drawingml/2006/main">
              <a:ext uri="{FF2B5EF4-FFF2-40B4-BE49-F238E27FC236}">
                <a16:creationId xmlns:a16="http://schemas.microsoft.com/office/drawing/2014/main" id="{28060580-AF01-419F-A77C-0FAD920D08DF}"/>
              </a:ext>
            </a:extLst>
          </p:cNvPr>
          <p:cNvSpPr>
            <a:spLocks xmlns:a="http://schemas.openxmlformats.org/drawingml/2006/main" noGrp="1"/>
          </p:cNvSpPr>
          <p:nvPr/>
        </p:nvSpPr>
        <p:spPr>
          <a:xfrm xmlns:a="http://schemas.openxmlformats.org/drawingml/2006/main">
            <a:off x="4572000" y="2781300"/>
            <a:ext cx="1371600" cy="1619250"/>
          </a:xfrm>
          <a:prstGeom xmlns:a="http://schemas.openxmlformats.org/drawingml/2006/main" prst="roundRect">
            <a:avLst>
              <a:gd name="adj" fmla="val 12500"/>
            </a:avLst>
          </a:prstGeom>
          <a:solidFill xmlns:a="http://schemas.openxmlformats.org/drawingml/2006/main">
            <a:srgbClr val="142642"/>
          </a:solidFill>
          <a:ln xmlns:a="http://schemas.openxmlformats.org/drawingml/2006/main" w="9525">
            <a:solidFill>
              <a:srgbClr val="294262"/>
            </a:solidFill>
            <a:prstDash val="solid"/>
          </a:ln>
        </p:spPr>
      </p:sp>
      <p:sp>
        <p:nvSpPr>
          <p:cNvPr id="30" name="">
            <a:extLst xmlns:a="http://schemas.openxmlformats.org/drawingml/2006/main">
              <a:ext uri="{FF2B5EF4-FFF2-40B4-BE49-F238E27FC236}">
                <a16:creationId xmlns:a16="http://schemas.microsoft.com/office/drawing/2014/main" id="{42B35429-7C32-428C-977D-41138C5C6546}"/>
              </a:ext>
            </a:extLst>
          </p:cNvPr>
          <p:cNvSpPr>
            <a:spLocks xmlns:a="http://schemas.openxmlformats.org/drawingml/2006/main" noGrp="1"/>
          </p:cNvSpPr>
          <p:nvPr/>
        </p:nvSpPr>
        <p:spPr>
          <a:xfrm xmlns:a="http://schemas.openxmlformats.org/drawingml/2006/main">
            <a:off x="4743450" y="2971800"/>
            <a:ext cx="342900" cy="342900"/>
          </a:xfrm>
          <a:prstGeom xmlns:a="http://schemas.openxmlformats.org/drawingml/2006/main" prst="roundRect">
            <a:avLst>
              <a:gd name="adj" fmla="val 33333"/>
            </a:avLst>
          </a:prstGeom>
          <a:solidFill xmlns:a="http://schemas.openxmlformats.org/drawingml/2006/main">
            <a:srgbClr val="38BDF8"/>
          </a:solidFill>
          <a:ln xmlns:a="http://schemas.openxmlformats.org/drawingml/2006/main" w="9525">
            <a:solidFill>
              <a:srgbClr val="38BDF8"/>
            </a:solidFill>
            <a:prstDash val="solid"/>
          </a:ln>
        </p:spPr>
      </p:sp>
      <p:sp>
        <p:nvSpPr>
          <p:cNvPr id="31" name="">
            <a:extLst xmlns:a="http://schemas.openxmlformats.org/drawingml/2006/main">
              <a:ext uri="{FF2B5EF4-FFF2-40B4-BE49-F238E27FC236}">
                <a16:creationId xmlns:a16="http://schemas.microsoft.com/office/drawing/2014/main" id="{E75C2155-B75D-4FDB-9195-37B416C1FDB6}"/>
              </a:ext>
            </a:extLst>
          </p:cNvPr>
          <p:cNvSpPr>
            <a:spLocks xmlns:a="http://schemas.openxmlformats.org/drawingml/2006/main" noGrp="1"/>
          </p:cNvSpPr>
          <p:nvPr/>
        </p:nvSpPr>
        <p:spPr>
          <a:xfrm xmlns:a="http://schemas.openxmlformats.org/drawingml/2006/main">
            <a:off x="4743450" y="3057525"/>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0B132B"/>
                </a:solidFill>
                <a:latin typeface="Arial"/>
                <a:ea typeface="Arial"/>
                <a:cs typeface="Arial"/>
              </a:defRPr>
            </a:pPr>
            <a:r>
              <a:rPr sz="975" b="1" i="0">
                <a:solidFill>
                  <a:srgbClr val="0B132B"/>
                </a:solidFill>
                <a:latin typeface="Arial"/>
                <a:ea typeface="Arial"/>
                <a:cs typeface="Arial"/>
              </a:rPr>
              <a:t>01</a:t>
            </a:r>
          </a:p>
        </p:txBody>
      </p:sp>
      <p:sp>
        <p:nvSpPr>
          <p:cNvPr id="32" name="">
            <a:extLst xmlns:a="http://schemas.openxmlformats.org/drawingml/2006/main">
              <a:ext uri="{FF2B5EF4-FFF2-40B4-BE49-F238E27FC236}">
                <a16:creationId xmlns:a16="http://schemas.microsoft.com/office/drawing/2014/main" id="{B0EEE009-9938-4BC8-B888-ADA7BE261F8A}"/>
              </a:ext>
            </a:extLst>
          </p:cNvPr>
          <p:cNvSpPr>
            <a:spLocks xmlns:a="http://schemas.openxmlformats.org/drawingml/2006/main" noGrp="1"/>
          </p:cNvSpPr>
          <p:nvPr/>
        </p:nvSpPr>
        <p:spPr>
          <a:xfrm xmlns:a="http://schemas.openxmlformats.org/drawingml/2006/main">
            <a:off x="4743450" y="3524250"/>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Upload</a:t>
            </a:r>
          </a:p>
        </p:txBody>
      </p:sp>
      <p:sp>
        <p:nvSpPr>
          <p:cNvPr id="33" name="">
            <a:extLst xmlns:a="http://schemas.openxmlformats.org/drawingml/2006/main">
              <a:ext uri="{FF2B5EF4-FFF2-40B4-BE49-F238E27FC236}">
                <a16:creationId xmlns:a16="http://schemas.microsoft.com/office/drawing/2014/main" id="{7F002B2B-03C6-49E9-8EAD-FF5492CA5805}"/>
              </a:ext>
            </a:extLst>
          </p:cNvPr>
          <p:cNvSpPr>
            <a:spLocks xmlns:a="http://schemas.openxmlformats.org/drawingml/2006/main" noGrp="1"/>
          </p:cNvSpPr>
          <p:nvPr/>
        </p:nvSpPr>
        <p:spPr>
          <a:xfrm xmlns:a="http://schemas.openxmlformats.org/drawingml/2006/main">
            <a:off x="4743450" y="384810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PDF or image</a:t>
            </a:r>
          </a:p>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with source text</a:t>
            </a:r>
          </a:p>
        </p:txBody>
      </p:sp>
      <p:sp>
        <p:nvSpPr>
          <p:cNvPr id="34" name="">
            <a:extLst xmlns:a="http://schemas.openxmlformats.org/drawingml/2006/main">
              <a:ext uri="{FF2B5EF4-FFF2-40B4-BE49-F238E27FC236}">
                <a16:creationId xmlns:a16="http://schemas.microsoft.com/office/drawing/2014/main" id="{99BC79E0-E3EF-4FE1-8A87-1CD87F073E7D}"/>
              </a:ext>
            </a:extLst>
          </p:cNvPr>
          <p:cNvSpPr>
            <a:spLocks xmlns:a="http://schemas.openxmlformats.org/drawingml/2006/main" noGrp="1"/>
          </p:cNvSpPr>
          <p:nvPr/>
        </p:nvSpPr>
        <p:spPr>
          <a:xfrm xmlns:a="http://schemas.openxmlformats.org/drawingml/2006/main">
            <a:off x="5962650" y="3429000"/>
            <a:ext cx="228600" cy="171450"/>
          </a:xfrm>
          <a:prstGeom xmlns:a="http://schemas.openxmlformats.org/drawingml/2006/main" prst="rightArrow">
            <a:avLst/>
          </a:prstGeom>
          <a:solidFill xmlns:a="http://schemas.openxmlformats.org/drawingml/2006/main">
            <a:srgbClr val="14B8A6"/>
          </a:solidFill>
          <a:ln xmlns:a="http://schemas.openxmlformats.org/drawingml/2006/main" w="0">
            <a:solidFill>
              <a:srgbClr val="14B8A6"/>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6C23FCB0-187A-4E2B-A9CE-749615759E1E}"/>
              </a:ext>
            </a:extLst>
          </p:cNvPr>
          <p:cNvSpPr>
            <a:spLocks xmlns:a="http://schemas.openxmlformats.org/drawingml/2006/main" noGrp="1"/>
          </p:cNvSpPr>
          <p:nvPr/>
        </p:nvSpPr>
        <p:spPr>
          <a:xfrm xmlns:a="http://schemas.openxmlformats.org/drawingml/2006/main">
            <a:off x="6229350" y="2781300"/>
            <a:ext cx="1371600" cy="1619250"/>
          </a:xfrm>
          <a:prstGeom xmlns:a="http://schemas.openxmlformats.org/drawingml/2006/main" prst="roundRect">
            <a:avLst>
              <a:gd name="adj" fmla="val 12500"/>
            </a:avLst>
          </a:prstGeom>
          <a:solidFill xmlns:a="http://schemas.openxmlformats.org/drawingml/2006/main">
            <a:srgbClr val="142642"/>
          </a:solidFill>
          <a:ln xmlns:a="http://schemas.openxmlformats.org/drawingml/2006/main" w="9525">
            <a:solidFill>
              <a:srgbClr val="294262"/>
            </a:solidFill>
            <a:prstDash val="solid"/>
          </a:ln>
        </p:spPr>
      </p:sp>
      <p:sp>
        <p:nvSpPr>
          <p:cNvPr id="36" name="">
            <a:extLst xmlns:a="http://schemas.openxmlformats.org/drawingml/2006/main">
              <a:ext uri="{FF2B5EF4-FFF2-40B4-BE49-F238E27FC236}">
                <a16:creationId xmlns:a16="http://schemas.microsoft.com/office/drawing/2014/main" id="{14790306-13F2-4D33-9BC7-F21D28DB9B9C}"/>
              </a:ext>
            </a:extLst>
          </p:cNvPr>
          <p:cNvSpPr>
            <a:spLocks xmlns:a="http://schemas.openxmlformats.org/drawingml/2006/main" noGrp="1"/>
          </p:cNvSpPr>
          <p:nvPr/>
        </p:nvSpPr>
        <p:spPr>
          <a:xfrm xmlns:a="http://schemas.openxmlformats.org/drawingml/2006/main">
            <a:off x="6400800" y="2971800"/>
            <a:ext cx="342900" cy="342900"/>
          </a:xfrm>
          <a:prstGeom xmlns:a="http://schemas.openxmlformats.org/drawingml/2006/main" prst="roundRect">
            <a:avLst>
              <a:gd name="adj" fmla="val 33333"/>
            </a:avLst>
          </a:prstGeom>
          <a:solidFill xmlns:a="http://schemas.openxmlformats.org/drawingml/2006/main">
            <a:srgbClr val="60A5FA"/>
          </a:solidFill>
          <a:ln xmlns:a="http://schemas.openxmlformats.org/drawingml/2006/main" w="9525">
            <a:solidFill>
              <a:srgbClr val="60A5FA"/>
            </a:solidFill>
            <a:prstDash val="solid"/>
          </a:ln>
        </p:spPr>
      </p:sp>
      <p:sp>
        <p:nvSpPr>
          <p:cNvPr id="37" name="">
            <a:extLst xmlns:a="http://schemas.openxmlformats.org/drawingml/2006/main">
              <a:ext uri="{FF2B5EF4-FFF2-40B4-BE49-F238E27FC236}">
                <a16:creationId xmlns:a16="http://schemas.microsoft.com/office/drawing/2014/main" id="{070CA9FA-CB8C-4677-BC0F-BE0DE3FB615F}"/>
              </a:ext>
            </a:extLst>
          </p:cNvPr>
          <p:cNvSpPr>
            <a:spLocks xmlns:a="http://schemas.openxmlformats.org/drawingml/2006/main" noGrp="1"/>
          </p:cNvSpPr>
          <p:nvPr/>
        </p:nvSpPr>
        <p:spPr>
          <a:xfrm xmlns:a="http://schemas.openxmlformats.org/drawingml/2006/main">
            <a:off x="6400800" y="3057525"/>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0B132B"/>
                </a:solidFill>
                <a:latin typeface="Arial"/>
                <a:ea typeface="Arial"/>
                <a:cs typeface="Arial"/>
              </a:defRPr>
            </a:pPr>
            <a:r>
              <a:rPr sz="975" b="1" i="0">
                <a:solidFill>
                  <a:srgbClr val="0B132B"/>
                </a:solidFill>
                <a:latin typeface="Arial"/>
                <a:ea typeface="Arial"/>
                <a:cs typeface="Arial"/>
              </a:rPr>
              <a:t>02</a:t>
            </a:r>
          </a:p>
        </p:txBody>
      </p:sp>
      <p:sp>
        <p:nvSpPr>
          <p:cNvPr id="38" name="">
            <a:extLst xmlns:a="http://schemas.openxmlformats.org/drawingml/2006/main">
              <a:ext uri="{FF2B5EF4-FFF2-40B4-BE49-F238E27FC236}">
                <a16:creationId xmlns:a16="http://schemas.microsoft.com/office/drawing/2014/main" id="{B1FC4013-AD70-4069-9D6F-4E863D917A41}"/>
              </a:ext>
            </a:extLst>
          </p:cNvPr>
          <p:cNvSpPr>
            <a:spLocks xmlns:a="http://schemas.openxmlformats.org/drawingml/2006/main" noGrp="1"/>
          </p:cNvSpPr>
          <p:nvPr/>
        </p:nvSpPr>
        <p:spPr>
          <a:xfrm xmlns:a="http://schemas.openxmlformats.org/drawingml/2006/main">
            <a:off x="6400800" y="3524250"/>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Extract</a:t>
            </a:r>
          </a:p>
        </p:txBody>
      </p:sp>
      <p:sp>
        <p:nvSpPr>
          <p:cNvPr id="39" name="">
            <a:extLst xmlns:a="http://schemas.openxmlformats.org/drawingml/2006/main">
              <a:ext uri="{FF2B5EF4-FFF2-40B4-BE49-F238E27FC236}">
                <a16:creationId xmlns:a16="http://schemas.microsoft.com/office/drawing/2014/main" id="{108C66AC-DEDF-4B44-A1E0-3D68EC4C1EDE}"/>
              </a:ext>
            </a:extLst>
          </p:cNvPr>
          <p:cNvSpPr>
            <a:spLocks xmlns:a="http://schemas.openxmlformats.org/drawingml/2006/main" noGrp="1"/>
          </p:cNvSpPr>
          <p:nvPr/>
        </p:nvSpPr>
        <p:spPr>
          <a:xfrm xmlns:a="http://schemas.openxmlformats.org/drawingml/2006/main">
            <a:off x="6400800" y="384810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Gemini finds</a:t>
            </a:r>
          </a:p>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values and quotes</a:t>
            </a:r>
          </a:p>
        </p:txBody>
      </p:sp>
      <p:sp>
        <p:nvSpPr>
          <p:cNvPr id="40" name="">
            <a:extLst xmlns:a="http://schemas.openxmlformats.org/drawingml/2006/main">
              <a:ext uri="{FF2B5EF4-FFF2-40B4-BE49-F238E27FC236}">
                <a16:creationId xmlns:a16="http://schemas.microsoft.com/office/drawing/2014/main" id="{4F3D8876-3967-4EB7-89BC-FBE4906A8A5C}"/>
              </a:ext>
            </a:extLst>
          </p:cNvPr>
          <p:cNvSpPr>
            <a:spLocks xmlns:a="http://schemas.openxmlformats.org/drawingml/2006/main" noGrp="1"/>
          </p:cNvSpPr>
          <p:nvPr/>
        </p:nvSpPr>
        <p:spPr>
          <a:xfrm xmlns:a="http://schemas.openxmlformats.org/drawingml/2006/main">
            <a:off x="7620000" y="3429000"/>
            <a:ext cx="228600" cy="171450"/>
          </a:xfrm>
          <a:prstGeom xmlns:a="http://schemas.openxmlformats.org/drawingml/2006/main" prst="rightArrow">
            <a:avLst/>
          </a:prstGeom>
          <a:solidFill xmlns:a="http://schemas.openxmlformats.org/drawingml/2006/main">
            <a:srgbClr val="14B8A6"/>
          </a:solidFill>
          <a:ln xmlns:a="http://schemas.openxmlformats.org/drawingml/2006/main" w="0">
            <a:solidFill>
              <a:srgbClr val="14B8A6"/>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1" name="">
            <a:extLst xmlns:a="http://schemas.openxmlformats.org/drawingml/2006/main">
              <a:ext uri="{FF2B5EF4-FFF2-40B4-BE49-F238E27FC236}">
                <a16:creationId xmlns:a16="http://schemas.microsoft.com/office/drawing/2014/main" id="{0116257D-9E3B-4CA8-ADDC-ECF76E417852}"/>
              </a:ext>
            </a:extLst>
          </p:cNvPr>
          <p:cNvSpPr>
            <a:spLocks xmlns:a="http://schemas.openxmlformats.org/drawingml/2006/main" noGrp="1"/>
          </p:cNvSpPr>
          <p:nvPr/>
        </p:nvSpPr>
        <p:spPr>
          <a:xfrm xmlns:a="http://schemas.openxmlformats.org/drawingml/2006/main">
            <a:off x="7886700" y="2781300"/>
            <a:ext cx="1371600" cy="1619250"/>
          </a:xfrm>
          <a:prstGeom xmlns:a="http://schemas.openxmlformats.org/drawingml/2006/main" prst="roundRect">
            <a:avLst>
              <a:gd name="adj" fmla="val 12500"/>
            </a:avLst>
          </a:prstGeom>
          <a:solidFill xmlns:a="http://schemas.openxmlformats.org/drawingml/2006/main">
            <a:srgbClr val="142642"/>
          </a:solidFill>
          <a:ln xmlns:a="http://schemas.openxmlformats.org/drawingml/2006/main" w="9525">
            <a:solidFill>
              <a:srgbClr val="294262"/>
            </a:solidFill>
            <a:prstDash val="solid"/>
          </a:ln>
        </p:spPr>
      </p:sp>
      <p:sp>
        <p:nvSpPr>
          <p:cNvPr id="42" name="">
            <a:extLst xmlns:a="http://schemas.openxmlformats.org/drawingml/2006/main">
              <a:ext uri="{FF2B5EF4-FFF2-40B4-BE49-F238E27FC236}">
                <a16:creationId xmlns:a16="http://schemas.microsoft.com/office/drawing/2014/main" id="{80DA070D-012D-44C2-8F7C-63EEA16FB578}"/>
              </a:ext>
            </a:extLst>
          </p:cNvPr>
          <p:cNvSpPr>
            <a:spLocks xmlns:a="http://schemas.openxmlformats.org/drawingml/2006/main" noGrp="1"/>
          </p:cNvSpPr>
          <p:nvPr/>
        </p:nvSpPr>
        <p:spPr>
          <a:xfrm xmlns:a="http://schemas.openxmlformats.org/drawingml/2006/main">
            <a:off x="8058150" y="2971800"/>
            <a:ext cx="342900" cy="342900"/>
          </a:xfrm>
          <a:prstGeom xmlns:a="http://schemas.openxmlformats.org/drawingml/2006/main" prst="roundRect">
            <a:avLst>
              <a:gd name="adj" fmla="val 33333"/>
            </a:avLst>
          </a:prstGeom>
          <a:solidFill xmlns:a="http://schemas.openxmlformats.org/drawingml/2006/main">
            <a:srgbClr val="14B8A6"/>
          </a:solidFill>
          <a:ln xmlns:a="http://schemas.openxmlformats.org/drawingml/2006/main" w="9525">
            <a:solidFill>
              <a:srgbClr val="14B8A6"/>
            </a:solidFill>
            <a:prstDash val="solid"/>
          </a:ln>
        </p:spPr>
      </p:sp>
      <p:sp>
        <p:nvSpPr>
          <p:cNvPr id="43" name="">
            <a:extLst xmlns:a="http://schemas.openxmlformats.org/drawingml/2006/main">
              <a:ext uri="{FF2B5EF4-FFF2-40B4-BE49-F238E27FC236}">
                <a16:creationId xmlns:a16="http://schemas.microsoft.com/office/drawing/2014/main" id="{DE2EC938-BB2F-4F10-9EA8-EED71FF031C9}"/>
              </a:ext>
            </a:extLst>
          </p:cNvPr>
          <p:cNvSpPr>
            <a:spLocks xmlns:a="http://schemas.openxmlformats.org/drawingml/2006/main" noGrp="1"/>
          </p:cNvSpPr>
          <p:nvPr/>
        </p:nvSpPr>
        <p:spPr>
          <a:xfrm xmlns:a="http://schemas.openxmlformats.org/drawingml/2006/main">
            <a:off x="8058150" y="3057525"/>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0B132B"/>
                </a:solidFill>
                <a:latin typeface="Arial"/>
                <a:ea typeface="Arial"/>
                <a:cs typeface="Arial"/>
              </a:defRPr>
            </a:pPr>
            <a:r>
              <a:rPr sz="975" b="1" i="0">
                <a:solidFill>
                  <a:srgbClr val="0B132B"/>
                </a:solidFill>
                <a:latin typeface="Arial"/>
                <a:ea typeface="Arial"/>
                <a:cs typeface="Arial"/>
              </a:rPr>
              <a:t>03</a:t>
            </a:r>
          </a:p>
        </p:txBody>
      </p:sp>
      <p:sp>
        <p:nvSpPr>
          <p:cNvPr id="44" name="">
            <a:extLst xmlns:a="http://schemas.openxmlformats.org/drawingml/2006/main">
              <a:ext uri="{FF2B5EF4-FFF2-40B4-BE49-F238E27FC236}">
                <a16:creationId xmlns:a16="http://schemas.microsoft.com/office/drawing/2014/main" id="{7E31F678-F724-4380-8E74-539F3F8EA407}"/>
              </a:ext>
            </a:extLst>
          </p:cNvPr>
          <p:cNvSpPr>
            <a:spLocks xmlns:a="http://schemas.openxmlformats.org/drawingml/2006/main" noGrp="1"/>
          </p:cNvSpPr>
          <p:nvPr/>
        </p:nvSpPr>
        <p:spPr>
          <a:xfrm xmlns:a="http://schemas.openxmlformats.org/drawingml/2006/main">
            <a:off x="8058150" y="3524250"/>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Verify</a:t>
            </a:r>
          </a:p>
        </p:txBody>
      </p:sp>
      <p:sp>
        <p:nvSpPr>
          <p:cNvPr id="45" name="">
            <a:extLst xmlns:a="http://schemas.openxmlformats.org/drawingml/2006/main">
              <a:ext uri="{FF2B5EF4-FFF2-40B4-BE49-F238E27FC236}">
                <a16:creationId xmlns:a16="http://schemas.microsoft.com/office/drawing/2014/main" id="{3719E88D-AC1C-44E3-9A1A-AB5C392FA7DF}"/>
              </a:ext>
            </a:extLst>
          </p:cNvPr>
          <p:cNvSpPr>
            <a:spLocks xmlns:a="http://schemas.openxmlformats.org/drawingml/2006/main" noGrp="1"/>
          </p:cNvSpPr>
          <p:nvPr/>
        </p:nvSpPr>
        <p:spPr>
          <a:xfrm xmlns:a="http://schemas.openxmlformats.org/drawingml/2006/main">
            <a:off x="8058150" y="384810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Rules check</a:t>
            </a:r>
          </a:p>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range and risk</a:t>
            </a:r>
          </a:p>
        </p:txBody>
      </p:sp>
      <p:sp>
        <p:nvSpPr>
          <p:cNvPr id="46" name="">
            <a:extLst xmlns:a="http://schemas.openxmlformats.org/drawingml/2006/main">
              <a:ext uri="{FF2B5EF4-FFF2-40B4-BE49-F238E27FC236}">
                <a16:creationId xmlns:a16="http://schemas.microsoft.com/office/drawing/2014/main" id="{3C25F95F-85AA-4B28-8B17-A6B431AFAD57}"/>
              </a:ext>
            </a:extLst>
          </p:cNvPr>
          <p:cNvSpPr>
            <a:spLocks xmlns:a="http://schemas.openxmlformats.org/drawingml/2006/main" noGrp="1"/>
          </p:cNvSpPr>
          <p:nvPr/>
        </p:nvSpPr>
        <p:spPr>
          <a:xfrm xmlns:a="http://schemas.openxmlformats.org/drawingml/2006/main">
            <a:off x="9277350" y="3429000"/>
            <a:ext cx="228600" cy="171450"/>
          </a:xfrm>
          <a:prstGeom xmlns:a="http://schemas.openxmlformats.org/drawingml/2006/main" prst="rightArrow">
            <a:avLst/>
          </a:prstGeom>
          <a:solidFill xmlns:a="http://schemas.openxmlformats.org/drawingml/2006/main">
            <a:srgbClr val="14B8A6"/>
          </a:solidFill>
          <a:ln xmlns:a="http://schemas.openxmlformats.org/drawingml/2006/main" w="0">
            <a:solidFill>
              <a:srgbClr val="14B8A6"/>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47" name="">
            <a:extLst xmlns:a="http://schemas.openxmlformats.org/drawingml/2006/main">
              <a:ext uri="{FF2B5EF4-FFF2-40B4-BE49-F238E27FC236}">
                <a16:creationId xmlns:a16="http://schemas.microsoft.com/office/drawing/2014/main" id="{31215528-BAB9-48FC-9B03-DBF28D128CA1}"/>
              </a:ext>
            </a:extLst>
          </p:cNvPr>
          <p:cNvSpPr>
            <a:spLocks xmlns:a="http://schemas.openxmlformats.org/drawingml/2006/main" noGrp="1"/>
          </p:cNvSpPr>
          <p:nvPr/>
        </p:nvSpPr>
        <p:spPr>
          <a:xfrm xmlns:a="http://schemas.openxmlformats.org/drawingml/2006/main">
            <a:off x="9544050" y="2781300"/>
            <a:ext cx="1371600" cy="1619250"/>
          </a:xfrm>
          <a:prstGeom xmlns:a="http://schemas.openxmlformats.org/drawingml/2006/main" prst="roundRect">
            <a:avLst>
              <a:gd name="adj" fmla="val 12500"/>
            </a:avLst>
          </a:prstGeom>
          <a:solidFill xmlns:a="http://schemas.openxmlformats.org/drawingml/2006/main">
            <a:srgbClr val="142642"/>
          </a:solidFill>
          <a:ln xmlns:a="http://schemas.openxmlformats.org/drawingml/2006/main" w="9525">
            <a:solidFill>
              <a:srgbClr val="294262"/>
            </a:solidFill>
            <a:prstDash val="solid"/>
          </a:ln>
        </p:spPr>
      </p:sp>
      <p:sp>
        <p:nvSpPr>
          <p:cNvPr id="48" name="">
            <a:extLst xmlns:a="http://schemas.openxmlformats.org/drawingml/2006/main">
              <a:ext uri="{FF2B5EF4-FFF2-40B4-BE49-F238E27FC236}">
                <a16:creationId xmlns:a16="http://schemas.microsoft.com/office/drawing/2014/main" id="{49768367-4198-49FE-B6D7-4A24685DE072}"/>
              </a:ext>
            </a:extLst>
          </p:cNvPr>
          <p:cNvSpPr>
            <a:spLocks xmlns:a="http://schemas.openxmlformats.org/drawingml/2006/main" noGrp="1"/>
          </p:cNvSpPr>
          <p:nvPr/>
        </p:nvSpPr>
        <p:spPr>
          <a:xfrm xmlns:a="http://schemas.openxmlformats.org/drawingml/2006/main">
            <a:off x="9715500" y="2971800"/>
            <a:ext cx="342900" cy="342900"/>
          </a:xfrm>
          <a:prstGeom xmlns:a="http://schemas.openxmlformats.org/drawingml/2006/main" prst="roundRect">
            <a:avLst>
              <a:gd name="adj" fmla="val 33333"/>
            </a:avLst>
          </a:prstGeom>
          <a:solidFill xmlns:a="http://schemas.openxmlformats.org/drawingml/2006/main">
            <a:srgbClr val="FBBF24"/>
          </a:solidFill>
          <a:ln xmlns:a="http://schemas.openxmlformats.org/drawingml/2006/main" w="9525">
            <a:solidFill>
              <a:srgbClr val="FBBF24"/>
            </a:solidFill>
            <a:prstDash val="solid"/>
          </a:ln>
        </p:spPr>
      </p:sp>
      <p:sp>
        <p:nvSpPr>
          <p:cNvPr id="49" name="">
            <a:extLst xmlns:a="http://schemas.openxmlformats.org/drawingml/2006/main">
              <a:ext uri="{FF2B5EF4-FFF2-40B4-BE49-F238E27FC236}">
                <a16:creationId xmlns:a16="http://schemas.microsoft.com/office/drawing/2014/main" id="{738C86A7-1F2D-46CB-BF79-5BC5022D1980}"/>
              </a:ext>
            </a:extLst>
          </p:cNvPr>
          <p:cNvSpPr>
            <a:spLocks xmlns:a="http://schemas.openxmlformats.org/drawingml/2006/main" noGrp="1"/>
          </p:cNvSpPr>
          <p:nvPr/>
        </p:nvSpPr>
        <p:spPr>
          <a:xfrm xmlns:a="http://schemas.openxmlformats.org/drawingml/2006/main">
            <a:off x="9715500" y="3057525"/>
            <a:ext cx="342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i="0">
                <a:solidFill>
                  <a:srgbClr val="0B132B"/>
                </a:solidFill>
                <a:latin typeface="Arial"/>
                <a:ea typeface="Arial"/>
                <a:cs typeface="Arial"/>
              </a:defRPr>
            </a:pPr>
            <a:r>
              <a:rPr sz="975" b="1" i="0">
                <a:solidFill>
                  <a:srgbClr val="0B132B"/>
                </a:solidFill>
                <a:latin typeface="Arial"/>
                <a:ea typeface="Arial"/>
                <a:cs typeface="Arial"/>
              </a:rPr>
              <a:t>04</a:t>
            </a:r>
          </a:p>
        </p:txBody>
      </p:sp>
      <p:sp>
        <p:nvSpPr>
          <p:cNvPr id="50" name="">
            <a:extLst xmlns:a="http://schemas.openxmlformats.org/drawingml/2006/main">
              <a:ext uri="{FF2B5EF4-FFF2-40B4-BE49-F238E27FC236}">
                <a16:creationId xmlns:a16="http://schemas.microsoft.com/office/drawing/2014/main" id="{45B9E808-E20A-4959-A4DF-90D8EE42AF30}"/>
              </a:ext>
            </a:extLst>
          </p:cNvPr>
          <p:cNvSpPr>
            <a:spLocks xmlns:a="http://schemas.openxmlformats.org/drawingml/2006/main" noGrp="1"/>
          </p:cNvSpPr>
          <p:nvPr/>
        </p:nvSpPr>
        <p:spPr>
          <a:xfrm xmlns:a="http://schemas.openxmlformats.org/drawingml/2006/main">
            <a:off x="9715500" y="3524250"/>
            <a:ext cx="1028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Explain</a:t>
            </a:r>
          </a:p>
        </p:txBody>
      </p:sp>
      <p:sp>
        <p:nvSpPr>
          <p:cNvPr id="51" name="">
            <a:extLst xmlns:a="http://schemas.openxmlformats.org/drawingml/2006/main">
              <a:ext uri="{FF2B5EF4-FFF2-40B4-BE49-F238E27FC236}">
                <a16:creationId xmlns:a16="http://schemas.microsoft.com/office/drawing/2014/main" id="{DD34805D-12ED-45D4-9E4D-029F374860B7}"/>
              </a:ext>
            </a:extLst>
          </p:cNvPr>
          <p:cNvSpPr>
            <a:spLocks xmlns:a="http://schemas.openxmlformats.org/drawingml/2006/main" noGrp="1"/>
          </p:cNvSpPr>
          <p:nvPr/>
        </p:nvSpPr>
        <p:spPr>
          <a:xfrm xmlns:a="http://schemas.openxmlformats.org/drawingml/2006/main">
            <a:off x="9715500" y="3848100"/>
            <a:ext cx="1028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Plain language</a:t>
            </a:r>
          </a:p>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and next steps</a:t>
            </a:r>
          </a:p>
        </p:txBody>
      </p:sp>
      <p:sp>
        <p:nvSpPr>
          <p:cNvPr id="52" name="">
            <a:extLst xmlns:a="http://schemas.openxmlformats.org/drawingml/2006/main">
              <a:ext uri="{FF2B5EF4-FFF2-40B4-BE49-F238E27FC236}">
                <a16:creationId xmlns:a16="http://schemas.microsoft.com/office/drawing/2014/main" id="{ECB00CA0-573D-44D4-9403-20B5B5E55269}"/>
              </a:ext>
            </a:extLst>
          </p:cNvPr>
          <p:cNvSpPr>
            <a:spLocks xmlns:a="http://schemas.openxmlformats.org/drawingml/2006/main" noGrp="1"/>
          </p:cNvSpPr>
          <p:nvPr/>
        </p:nvSpPr>
        <p:spPr>
          <a:xfrm xmlns:a="http://schemas.openxmlformats.org/drawingml/2006/main">
            <a:off x="4572000" y="4762500"/>
            <a:ext cx="6343650" cy="781050"/>
          </a:xfrm>
          <a:prstGeom xmlns:a="http://schemas.openxmlformats.org/drawingml/2006/main" prst="roundRect">
            <a:avLst>
              <a:gd name="adj" fmla="val 19512"/>
            </a:avLst>
          </a:prstGeom>
          <a:solidFill xmlns:a="http://schemas.openxmlformats.org/drawingml/2006/main">
            <a:srgbClr val="111D38"/>
          </a:solidFill>
          <a:ln xmlns:a="http://schemas.openxmlformats.org/drawingml/2006/main" w="9525">
            <a:solidFill>
              <a:srgbClr val="294262"/>
            </a:solidFill>
            <a:prstDash val="solid"/>
          </a:ln>
        </p:spPr>
      </p:sp>
      <p:sp>
        <p:nvSpPr>
          <p:cNvPr id="53" name="">
            <a:extLst xmlns:a="http://schemas.openxmlformats.org/drawingml/2006/main">
              <a:ext uri="{FF2B5EF4-FFF2-40B4-BE49-F238E27FC236}">
                <a16:creationId xmlns:a16="http://schemas.microsoft.com/office/drawing/2014/main" id="{5F80F76E-0018-40DA-9D54-E289D15CCD71}"/>
              </a:ext>
            </a:extLst>
          </p:cNvPr>
          <p:cNvSpPr>
            <a:spLocks xmlns:a="http://schemas.openxmlformats.org/drawingml/2006/main" noGrp="1"/>
          </p:cNvSpPr>
          <p:nvPr/>
        </p:nvSpPr>
        <p:spPr>
          <a:xfrm xmlns:a="http://schemas.openxmlformats.org/drawingml/2006/main">
            <a:off x="4819650" y="4953000"/>
            <a:ext cx="1181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i="0">
                <a:solidFill>
                  <a:srgbClr val="5EEAD4"/>
                </a:solidFill>
                <a:latin typeface="Arial"/>
                <a:ea typeface="Arial"/>
                <a:cs typeface="Arial"/>
              </a:defRPr>
            </a:pPr>
            <a:r>
              <a:rPr sz="975" b="1" i="0">
                <a:solidFill>
                  <a:srgbClr val="5EEAD4"/>
                </a:solidFill>
                <a:latin typeface="Arial"/>
                <a:ea typeface="Arial"/>
                <a:cs typeface="Arial"/>
              </a:rPr>
              <a:t>Evidence trail</a:t>
            </a:r>
          </a:p>
        </p:txBody>
      </p:sp>
      <p:sp>
        <p:nvSpPr>
          <p:cNvPr id="54" name="">
            <a:extLst xmlns:a="http://schemas.openxmlformats.org/drawingml/2006/main">
              <a:ext uri="{FF2B5EF4-FFF2-40B4-BE49-F238E27FC236}">
                <a16:creationId xmlns:a16="http://schemas.microsoft.com/office/drawing/2014/main" id="{7E892C4A-8E1B-43E4-A4E0-5E475FECB8AC}"/>
              </a:ext>
            </a:extLst>
          </p:cNvPr>
          <p:cNvSpPr>
            <a:spLocks xmlns:a="http://schemas.openxmlformats.org/drawingml/2006/main" noGrp="1"/>
          </p:cNvSpPr>
          <p:nvPr/>
        </p:nvSpPr>
        <p:spPr>
          <a:xfrm xmlns:a="http://schemas.openxmlformats.org/drawingml/2006/main">
            <a:off x="6134100" y="49339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850"/>
          </a:bodyPr>
          <a:lstStyle xmlns:a="http://schemas.openxmlformats.org/drawingml/2006/main"/>
          <a:p xmlns:a="http://schemas.openxmlformats.org/drawingml/2006/main">
            <a:pPr algn="l">
              <a:defRPr sz="1125" b="0" i="0">
                <a:solidFill>
                  <a:srgbClr val="F8FAFC"/>
                </a:solidFill>
                <a:latin typeface="Arial"/>
                <a:ea typeface="Arial"/>
                <a:cs typeface="Arial"/>
              </a:defRPr>
            </a:pPr>
            <a:r>
              <a:rPr sz="1125" b="0" i="0">
                <a:solidFill>
                  <a:srgbClr val="F8FAFC"/>
                </a:solidFill>
                <a:latin typeface="Arial"/>
                <a:ea typeface="Arial"/>
                <a:cs typeface="Arial"/>
              </a:rPr>
              <a:t>Every finding keeps its source quote, value text, status, and verification ID.</a:t>
            </a:r>
          </a:p>
        </p:txBody>
      </p:sp>
      <p:sp>
        <p:nvSpPr>
          <p:cNvPr id="55" name="">
            <a:extLst xmlns:a="http://schemas.openxmlformats.org/drawingml/2006/main">
              <a:ext uri="{FF2B5EF4-FFF2-40B4-BE49-F238E27FC236}">
                <a16:creationId xmlns:a16="http://schemas.microsoft.com/office/drawing/2014/main" id="{A0082395-178D-4CED-B80D-F39ACA68A5E0}"/>
              </a:ext>
            </a:extLst>
          </p:cNvPr>
          <p:cNvSpPr>
            <a:spLocks xmlns:a="http://schemas.openxmlformats.org/drawingml/2006/main" noGrp="1"/>
          </p:cNvSpPr>
          <p:nvPr/>
        </p:nvSpPr>
        <p:spPr>
          <a:xfrm xmlns:a="http://schemas.openxmlformats.org/drawingml/2006/main">
            <a:off x="533400" y="645795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6" name="">
            <a:extLst xmlns:a="http://schemas.openxmlformats.org/drawingml/2006/main">
              <a:ext uri="{FF2B5EF4-FFF2-40B4-BE49-F238E27FC236}">
                <a16:creationId xmlns:a16="http://schemas.microsoft.com/office/drawing/2014/main" id="{540C3BD4-9E72-4FDE-B889-ADE51EF0D5A5}"/>
              </a:ext>
            </a:extLst>
          </p:cNvPr>
          <p:cNvSpPr>
            <a:spLocks xmlns:a="http://schemas.openxmlformats.org/drawingml/2006/main" noGrp="1"/>
          </p:cNvSpPr>
          <p:nvPr/>
        </p:nvSpPr>
        <p:spPr>
          <a:xfrm xmlns:a="http://schemas.openxmlformats.org/drawingml/2006/main">
            <a:off x="533400" y="65722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94A3B8"/>
                </a:solidFill>
                <a:latin typeface="Arial"/>
                <a:ea typeface="Arial"/>
                <a:cs typeface="Arial"/>
              </a:defRPr>
            </a:pPr>
            <a:r>
              <a:rPr sz="825" b="0" i="0">
                <a:solidFill>
                  <a:srgbClr val="94A3B8"/>
                </a:solidFill>
                <a:latin typeface="Arial"/>
                <a:ea typeface="Arial"/>
                <a:cs typeface="Arial"/>
              </a:rPr>
              <a:t>MediScan · AI medical report analyzer</a:t>
            </a:r>
          </a:p>
        </p:txBody>
      </p:sp>
    </p:spTree>
    <p:extLst>
      <p:ext uri="{BB962C8B-B14F-4D97-AF65-F5344CB8AC3E}">
        <p14:creationId xmlns:p14="http://schemas.microsoft.com/office/powerpoint/2010/main" val="711024346"/>
      </p:ext>
    </p:extLst>
  </p:cSld>
</p:sld>
</file>

<file path=ppt/slides/slide4.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F3E1869-B830-4060-9229-DC3901B62913}"/>
              </a:ext>
            </a:extLst>
          </p:cNvPr>
          <p:cNvSpPr>
            <a:spLocks xmlns:a="http://schemas.openxmlformats.org/drawingml/2006/main" noGrp="1"/>
          </p:cNvSpPr>
          <p:nvPr/>
        </p:nvSpPr>
        <p:spPr>
          <a:xfrm xmlns:a="http://schemas.openxmlformats.org/drawingml/2006/main">
            <a:off x="533400" y="2857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MODULE 01</a:t>
            </a:r>
          </a:p>
        </p:txBody>
      </p:sp>
      <p:sp>
        <p:nvSpPr>
          <p:cNvPr id="2" name="">
            <a:extLst xmlns:a="http://schemas.openxmlformats.org/drawingml/2006/main">
              <a:ext uri="{FF2B5EF4-FFF2-40B4-BE49-F238E27FC236}">
                <a16:creationId xmlns:a16="http://schemas.microsoft.com/office/drawing/2014/main" id="{284537EB-C467-4BF4-AF0B-83F9630AAB2B}"/>
              </a:ext>
            </a:extLst>
          </p:cNvPr>
          <p:cNvSpPr>
            <a:spLocks xmlns:a="http://schemas.openxmlformats.org/drawingml/2006/main" noGrp="1"/>
          </p:cNvSpPr>
          <p:nvPr/>
        </p:nvSpPr>
        <p:spPr>
          <a:xfrm xmlns:a="http://schemas.openxmlformats.org/drawingml/2006/main">
            <a:off x="533400" y="5524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8FAFC"/>
                </a:solidFill>
                <a:latin typeface="Arial"/>
                <a:ea typeface="Arial"/>
                <a:cs typeface="Arial"/>
              </a:defRPr>
            </a:pPr>
            <a:r>
              <a:rPr sz="2250" b="1" i="0">
                <a:solidFill>
                  <a:srgbClr val="F8FAFC"/>
                </a:solidFill>
                <a:latin typeface="Arial"/>
                <a:ea typeface="Arial"/>
                <a:cs typeface="Arial"/>
              </a:rPr>
              <a:t>Report Lens</a:t>
            </a:r>
          </a:p>
        </p:txBody>
      </p:sp>
      <p:sp>
        <p:nvSpPr>
          <p:cNvPr id="3" name="">
            <a:extLst xmlns:a="http://schemas.openxmlformats.org/drawingml/2006/main">
              <a:ext uri="{FF2B5EF4-FFF2-40B4-BE49-F238E27FC236}">
                <a16:creationId xmlns:a16="http://schemas.microsoft.com/office/drawing/2014/main" id="{A1F4061A-07F3-49FE-800E-DE44464384A0}"/>
              </a:ext>
            </a:extLst>
          </p:cNvPr>
          <p:cNvSpPr>
            <a:spLocks xmlns:a="http://schemas.openxmlformats.org/drawingml/2006/main" noGrp="1"/>
          </p:cNvSpPr>
          <p:nvPr/>
        </p:nvSpPr>
        <p:spPr>
          <a:xfrm xmlns:a="http://schemas.openxmlformats.org/drawingml/2006/main">
            <a:off x="11144250" y="3238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94A3B8"/>
                </a:solidFill>
                <a:latin typeface="Arial"/>
                <a:ea typeface="Arial"/>
                <a:cs typeface="Arial"/>
              </a:defRPr>
            </a:pPr>
            <a:r>
              <a:rPr sz="1050" b="1" i="0">
                <a:solidFill>
                  <a:srgbClr val="94A3B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5D7A145B-732D-4E10-8643-BF28A8FE8C6C}"/>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 name="">
            <a:extLst xmlns:a="http://schemas.openxmlformats.org/drawingml/2006/main">
              <a:ext uri="{FF2B5EF4-FFF2-40B4-BE49-F238E27FC236}">
                <a16:creationId xmlns:a16="http://schemas.microsoft.com/office/drawing/2014/main" id="{407A2E59-4CD2-45FB-AB41-DFB8563434D2}"/>
              </a:ext>
            </a:extLst>
          </p:cNvPr>
          <p:cNvSpPr>
            <a:spLocks xmlns:a="http://schemas.openxmlformats.org/drawingml/2006/main" noGrp="1"/>
          </p:cNvSpPr>
          <p:nvPr/>
        </p:nvSpPr>
        <p:spPr>
          <a:xfrm xmlns:a="http://schemas.openxmlformats.org/drawingml/2006/main">
            <a:off x="533400" y="12573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A report becomes a short list of findings a person can understand.</a:t>
            </a:r>
          </a:p>
        </p:txBody>
      </p:sp>
      <p:sp>
        <p:nvSpPr>
          <p:cNvPr id="6" name="">
            <a:extLst xmlns:a="http://schemas.openxmlformats.org/drawingml/2006/main">
              <a:ext uri="{FF2B5EF4-FFF2-40B4-BE49-F238E27FC236}">
                <a16:creationId xmlns:a16="http://schemas.microsoft.com/office/drawing/2014/main" id="{163A5C37-4B6E-4189-B3C4-6919934ACA32}"/>
              </a:ext>
            </a:extLst>
          </p:cNvPr>
          <p:cNvSpPr>
            <a:spLocks xmlns:a="http://schemas.openxmlformats.org/drawingml/2006/main" noGrp="1"/>
          </p:cNvSpPr>
          <p:nvPr/>
        </p:nvSpPr>
        <p:spPr>
          <a:xfrm xmlns:a="http://schemas.openxmlformats.org/drawingml/2006/main">
            <a:off x="533400" y="1790700"/>
            <a:ext cx="3657600" cy="3829050"/>
          </a:xfrm>
          <a:prstGeom xmlns:a="http://schemas.openxmlformats.org/drawingml/2006/main" prst="roundRect">
            <a:avLst>
              <a:gd name="adj" fmla="val 5729"/>
            </a:avLst>
          </a:prstGeom>
          <a:solidFill xmlns:a="http://schemas.openxmlformats.org/drawingml/2006/main">
            <a:srgbClr val="111D38"/>
          </a:solidFill>
          <a:ln xmlns:a="http://schemas.openxmlformats.org/drawingml/2006/main" w="9525">
            <a:solidFill>
              <a:srgbClr val="294262"/>
            </a:solidFill>
            <a:prstDash val="solid"/>
          </a:ln>
        </p:spPr>
      </p:sp>
      <p:sp>
        <p:nvSpPr>
          <p:cNvPr id="7" name="">
            <a:extLst xmlns:a="http://schemas.openxmlformats.org/drawingml/2006/main">
              <a:ext uri="{FF2B5EF4-FFF2-40B4-BE49-F238E27FC236}">
                <a16:creationId xmlns:a16="http://schemas.microsoft.com/office/drawing/2014/main" id="{6979D52C-82BD-4C9E-920B-E630964417CD}"/>
              </a:ext>
            </a:extLst>
          </p:cNvPr>
          <p:cNvSpPr>
            <a:spLocks xmlns:a="http://schemas.openxmlformats.org/drawingml/2006/main" noGrp="1"/>
          </p:cNvSpPr>
          <p:nvPr/>
        </p:nvSpPr>
        <p:spPr>
          <a:xfrm xmlns:a="http://schemas.openxmlformats.org/drawingml/2006/main">
            <a:off x="781050" y="20764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Three useful changes</a:t>
            </a:r>
          </a:p>
        </p:txBody>
      </p:sp>
      <p:sp>
        <p:nvSpPr>
          <p:cNvPr id="8" name="">
            <a:extLst xmlns:a="http://schemas.openxmlformats.org/drawingml/2006/main">
              <a:ext uri="{FF2B5EF4-FFF2-40B4-BE49-F238E27FC236}">
                <a16:creationId xmlns:a16="http://schemas.microsoft.com/office/drawing/2014/main" id="{52E9D889-32B1-4941-9B77-F4B5DE57ADF2}"/>
              </a:ext>
            </a:extLst>
          </p:cNvPr>
          <p:cNvSpPr>
            <a:spLocks xmlns:a="http://schemas.openxmlformats.org/drawingml/2006/main" noGrp="1"/>
          </p:cNvSpPr>
          <p:nvPr/>
        </p:nvSpPr>
        <p:spPr>
          <a:xfrm xmlns:a="http://schemas.openxmlformats.org/drawingml/2006/main">
            <a:off x="781050" y="2619375"/>
            <a:ext cx="85725" cy="85725"/>
          </a:xfrm>
          <a:prstGeom xmlns:a="http://schemas.openxmlformats.org/drawingml/2006/main" prst="ellipse">
            <a:avLst/>
          </a:prstGeom>
          <a:solidFill xmlns:a="http://schemas.openxmlformats.org/drawingml/2006/main">
            <a:srgbClr val="38BDF8"/>
          </a:solidFill>
          <a:ln xmlns:a="http://schemas.openxmlformats.org/drawingml/2006/main" w="0">
            <a:solidFill>
              <a:srgbClr val="38BDF8"/>
            </a:solidFill>
          </a:ln>
        </p:spPr>
      </p:sp>
      <p:sp>
        <p:nvSpPr>
          <p:cNvPr id="9" name="">
            <a:extLst xmlns:a="http://schemas.openxmlformats.org/drawingml/2006/main">
              <a:ext uri="{FF2B5EF4-FFF2-40B4-BE49-F238E27FC236}">
                <a16:creationId xmlns:a16="http://schemas.microsoft.com/office/drawing/2014/main" id="{2DF3ADAA-928C-46EE-9C98-93945C8F7F42}"/>
              </a:ext>
            </a:extLst>
          </p:cNvPr>
          <p:cNvSpPr>
            <a:spLocks xmlns:a="http://schemas.openxmlformats.org/drawingml/2006/main" noGrp="1"/>
          </p:cNvSpPr>
          <p:nvPr/>
        </p:nvSpPr>
        <p:spPr>
          <a:xfrm xmlns:a="http://schemas.openxmlformats.org/drawingml/2006/main">
            <a:off x="971550" y="25717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F8FAFC"/>
                </a:solidFill>
                <a:latin typeface="Arial"/>
                <a:ea typeface="Arial"/>
                <a:cs typeface="Arial"/>
              </a:defRPr>
            </a:pPr>
            <a:r>
              <a:rPr sz="1200" b="1" i="0">
                <a:solidFill>
                  <a:srgbClr val="F8FAFC"/>
                </a:solidFill>
                <a:latin typeface="Arial"/>
                <a:ea typeface="Arial"/>
                <a:cs typeface="Arial"/>
              </a:rPr>
              <a:t>Plain meaning</a:t>
            </a:r>
          </a:p>
        </p:txBody>
      </p:sp>
      <p:sp>
        <p:nvSpPr>
          <p:cNvPr id="10" name="">
            <a:extLst xmlns:a="http://schemas.openxmlformats.org/drawingml/2006/main">
              <a:ext uri="{FF2B5EF4-FFF2-40B4-BE49-F238E27FC236}">
                <a16:creationId xmlns:a16="http://schemas.microsoft.com/office/drawing/2014/main" id="{C2D9087F-93A3-4A14-B761-A7A5A83DC323}"/>
              </a:ext>
            </a:extLst>
          </p:cNvPr>
          <p:cNvSpPr>
            <a:spLocks xmlns:a="http://schemas.openxmlformats.org/drawingml/2006/main" noGrp="1"/>
          </p:cNvSpPr>
          <p:nvPr/>
        </p:nvSpPr>
        <p:spPr>
          <a:xfrm xmlns:a="http://schemas.openxmlformats.org/drawingml/2006/main">
            <a:off x="971550" y="28003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“Low” becomes a simple explanation of what the result may point to.</a:t>
            </a:r>
          </a:p>
        </p:txBody>
      </p:sp>
      <p:sp>
        <p:nvSpPr>
          <p:cNvPr id="11" name="">
            <a:extLst xmlns:a="http://schemas.openxmlformats.org/drawingml/2006/main">
              <a:ext uri="{FF2B5EF4-FFF2-40B4-BE49-F238E27FC236}">
                <a16:creationId xmlns:a16="http://schemas.microsoft.com/office/drawing/2014/main" id="{48F270D3-0B26-4EB4-A2A7-B224FAB50896}"/>
              </a:ext>
            </a:extLst>
          </p:cNvPr>
          <p:cNvSpPr>
            <a:spLocks xmlns:a="http://schemas.openxmlformats.org/drawingml/2006/main" noGrp="1"/>
          </p:cNvSpPr>
          <p:nvPr/>
        </p:nvSpPr>
        <p:spPr>
          <a:xfrm xmlns:a="http://schemas.openxmlformats.org/drawingml/2006/main">
            <a:off x="781050" y="3495675"/>
            <a:ext cx="85725" cy="85725"/>
          </a:xfrm>
          <a:prstGeom xmlns:a="http://schemas.openxmlformats.org/drawingml/2006/main" prst="ellipse">
            <a:avLst/>
          </a:prstGeom>
          <a:solidFill xmlns:a="http://schemas.openxmlformats.org/drawingml/2006/main">
            <a:srgbClr val="14B8A6"/>
          </a:solidFill>
          <a:ln xmlns:a="http://schemas.openxmlformats.org/drawingml/2006/main" w="0">
            <a:solidFill>
              <a:srgbClr val="14B8A6"/>
            </a:solidFill>
          </a:ln>
        </p:spPr>
      </p:sp>
      <p:sp>
        <p:nvSpPr>
          <p:cNvPr id="12" name="">
            <a:extLst xmlns:a="http://schemas.openxmlformats.org/drawingml/2006/main">
              <a:ext uri="{FF2B5EF4-FFF2-40B4-BE49-F238E27FC236}">
                <a16:creationId xmlns:a16="http://schemas.microsoft.com/office/drawing/2014/main" id="{3B718EBF-B93C-47CC-A730-6C010F90BFE3}"/>
              </a:ext>
            </a:extLst>
          </p:cNvPr>
          <p:cNvSpPr>
            <a:spLocks xmlns:a="http://schemas.openxmlformats.org/drawingml/2006/main" noGrp="1"/>
          </p:cNvSpPr>
          <p:nvPr/>
        </p:nvSpPr>
        <p:spPr>
          <a:xfrm xmlns:a="http://schemas.openxmlformats.org/drawingml/2006/main">
            <a:off x="971550" y="34480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F8FAFC"/>
                </a:solidFill>
                <a:latin typeface="Arial"/>
                <a:ea typeface="Arial"/>
                <a:cs typeface="Arial"/>
              </a:defRPr>
            </a:pPr>
            <a:r>
              <a:rPr sz="1200" b="1" i="0">
                <a:solidFill>
                  <a:srgbClr val="F8FAFC"/>
                </a:solidFill>
                <a:latin typeface="Arial"/>
                <a:ea typeface="Arial"/>
                <a:cs typeface="Arial"/>
              </a:rPr>
              <a:t>Next step</a:t>
            </a:r>
          </a:p>
        </p:txBody>
      </p:sp>
      <p:sp>
        <p:nvSpPr>
          <p:cNvPr id="13" name="">
            <a:extLst xmlns:a="http://schemas.openxmlformats.org/drawingml/2006/main">
              <a:ext uri="{FF2B5EF4-FFF2-40B4-BE49-F238E27FC236}">
                <a16:creationId xmlns:a16="http://schemas.microsoft.com/office/drawing/2014/main" id="{BD82F211-DF83-4019-AF15-73FDF96FF676}"/>
              </a:ext>
            </a:extLst>
          </p:cNvPr>
          <p:cNvSpPr>
            <a:spLocks xmlns:a="http://schemas.openxmlformats.org/drawingml/2006/main" noGrp="1"/>
          </p:cNvSpPr>
          <p:nvPr/>
        </p:nvSpPr>
        <p:spPr>
          <a:xfrm xmlns:a="http://schemas.openxmlformats.org/drawingml/2006/main">
            <a:off x="971550" y="36766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The user sees when to monitor, prepare questions, or contact a clinician.</a:t>
            </a:r>
          </a:p>
        </p:txBody>
      </p:sp>
      <p:sp>
        <p:nvSpPr>
          <p:cNvPr id="14" name="">
            <a:extLst xmlns:a="http://schemas.openxmlformats.org/drawingml/2006/main">
              <a:ext uri="{FF2B5EF4-FFF2-40B4-BE49-F238E27FC236}">
                <a16:creationId xmlns:a16="http://schemas.microsoft.com/office/drawing/2014/main" id="{2D5BF486-0F08-4B3E-951B-26027635397D}"/>
              </a:ext>
            </a:extLst>
          </p:cNvPr>
          <p:cNvSpPr>
            <a:spLocks xmlns:a="http://schemas.openxmlformats.org/drawingml/2006/main" noGrp="1"/>
          </p:cNvSpPr>
          <p:nvPr/>
        </p:nvSpPr>
        <p:spPr>
          <a:xfrm xmlns:a="http://schemas.openxmlformats.org/drawingml/2006/main">
            <a:off x="781050" y="4371975"/>
            <a:ext cx="85725" cy="8572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ln>
        </p:spPr>
      </p:sp>
      <p:sp>
        <p:nvSpPr>
          <p:cNvPr id="15" name="">
            <a:extLst xmlns:a="http://schemas.openxmlformats.org/drawingml/2006/main">
              <a:ext uri="{FF2B5EF4-FFF2-40B4-BE49-F238E27FC236}">
                <a16:creationId xmlns:a16="http://schemas.microsoft.com/office/drawing/2014/main" id="{CD7C8AC6-4F7C-4178-B1A1-E9F247699C53}"/>
              </a:ext>
            </a:extLst>
          </p:cNvPr>
          <p:cNvSpPr>
            <a:spLocks xmlns:a="http://schemas.openxmlformats.org/drawingml/2006/main" noGrp="1"/>
          </p:cNvSpPr>
          <p:nvPr/>
        </p:nvSpPr>
        <p:spPr>
          <a:xfrm xmlns:a="http://schemas.openxmlformats.org/drawingml/2006/main">
            <a:off x="971550" y="4324350"/>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F8FAFC"/>
                </a:solidFill>
                <a:latin typeface="Arial"/>
                <a:ea typeface="Arial"/>
                <a:cs typeface="Arial"/>
              </a:defRPr>
            </a:pPr>
            <a:r>
              <a:rPr sz="1200" b="1" i="0">
                <a:solidFill>
                  <a:srgbClr val="F8FAFC"/>
                </a:solidFill>
                <a:latin typeface="Arial"/>
                <a:ea typeface="Arial"/>
                <a:cs typeface="Arial"/>
              </a:rPr>
              <a:t>Evidence on demand</a:t>
            </a:r>
          </a:p>
        </p:txBody>
      </p:sp>
      <p:sp>
        <p:nvSpPr>
          <p:cNvPr id="16" name="">
            <a:extLst xmlns:a="http://schemas.openxmlformats.org/drawingml/2006/main">
              <a:ext uri="{FF2B5EF4-FFF2-40B4-BE49-F238E27FC236}">
                <a16:creationId xmlns:a16="http://schemas.microsoft.com/office/drawing/2014/main" id="{E5D91501-B341-49C4-9242-CEF9C1F2D376}"/>
              </a:ext>
            </a:extLst>
          </p:cNvPr>
          <p:cNvSpPr>
            <a:spLocks xmlns:a="http://schemas.openxmlformats.org/drawingml/2006/main" noGrp="1"/>
          </p:cNvSpPr>
          <p:nvPr/>
        </p:nvSpPr>
        <p:spPr>
          <a:xfrm xmlns:a="http://schemas.openxmlformats.org/drawingml/2006/main">
            <a:off x="971550" y="4552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54"/>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The original quote and verification ID remain one click away.</a:t>
            </a:r>
          </a:p>
        </p:txBody>
      </p:sp>
      <p:sp>
        <p:nvSpPr>
          <p:cNvPr id="17" name="">
            <a:extLst xmlns:a="http://schemas.openxmlformats.org/drawingml/2006/main">
              <a:ext uri="{FF2B5EF4-FFF2-40B4-BE49-F238E27FC236}">
                <a16:creationId xmlns:a16="http://schemas.microsoft.com/office/drawing/2014/main" id="{376F2360-DE28-4C09-8A8F-60EAC3708ABC}"/>
              </a:ext>
            </a:extLst>
          </p:cNvPr>
          <p:cNvSpPr>
            <a:spLocks xmlns:a="http://schemas.openxmlformats.org/drawingml/2006/main" noGrp="1"/>
          </p:cNvSpPr>
          <p:nvPr/>
        </p:nvSpPr>
        <p:spPr>
          <a:xfrm xmlns:a="http://schemas.openxmlformats.org/drawingml/2006/main">
            <a:off x="781050" y="5143500"/>
            <a:ext cx="2381250" cy="266700"/>
          </a:xfrm>
          <a:prstGeom xmlns:a="http://schemas.openxmlformats.org/drawingml/2006/main" prst="roundRect">
            <a:avLst>
              <a:gd name="adj" fmla="val 50000"/>
            </a:avLst>
          </a:prstGeom>
          <a:solidFill xmlns:a="http://schemas.openxmlformats.org/drawingml/2006/main">
            <a:srgbClr val="182D4D"/>
          </a:solidFill>
          <a:ln xmlns:a="http://schemas.openxmlformats.org/drawingml/2006/main" w="9525">
            <a:solidFill>
              <a:srgbClr val="182D4D"/>
            </a:solidFill>
            <a:prstDash val="solid"/>
          </a:ln>
        </p:spPr>
      </p:sp>
      <p:sp>
        <p:nvSpPr>
          <p:cNvPr id="18" name="">
            <a:extLst xmlns:a="http://schemas.openxmlformats.org/drawingml/2006/main">
              <a:ext uri="{FF2B5EF4-FFF2-40B4-BE49-F238E27FC236}">
                <a16:creationId xmlns:a16="http://schemas.microsoft.com/office/drawing/2014/main" id="{5148CDB2-A376-4F96-8B96-00CDB8D6CF81}"/>
              </a:ext>
            </a:extLst>
          </p:cNvPr>
          <p:cNvSpPr>
            <a:spLocks xmlns:a="http://schemas.openxmlformats.org/drawingml/2006/main" noGrp="1"/>
          </p:cNvSpPr>
          <p:nvPr/>
        </p:nvSpPr>
        <p:spPr>
          <a:xfrm xmlns:a="http://schemas.openxmlformats.org/drawingml/2006/main">
            <a:off x="781050" y="51816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5EEAD4"/>
                </a:solidFill>
                <a:latin typeface="Arial"/>
                <a:ea typeface="Arial"/>
                <a:cs typeface="Arial"/>
              </a:defRPr>
            </a:pPr>
            <a:r>
              <a:rPr sz="900" b="1" i="0">
                <a:solidFill>
                  <a:srgbClr val="5EEAD4"/>
                </a:solidFill>
                <a:latin typeface="Arial"/>
                <a:ea typeface="Arial"/>
                <a:cs typeface="Arial"/>
              </a:rPr>
              <a:t>Simple first · details available</a:t>
            </a:r>
          </a:p>
        </p:txBody>
      </p:sp>
      <p:sp>
        <p:nvSpPr>
          <p:cNvPr id="19" name="">
            <a:extLst xmlns:a="http://schemas.openxmlformats.org/drawingml/2006/main">
              <a:ext uri="{FF2B5EF4-FFF2-40B4-BE49-F238E27FC236}">
                <a16:creationId xmlns:a16="http://schemas.microsoft.com/office/drawing/2014/main" id="{58242E13-FF43-4246-B7D1-417776DA14F5}"/>
              </a:ext>
            </a:extLst>
          </p:cNvPr>
          <p:cNvSpPr>
            <a:spLocks xmlns:a="http://schemas.openxmlformats.org/drawingml/2006/main" noGrp="1"/>
          </p:cNvSpPr>
          <p:nvPr/>
        </p:nvSpPr>
        <p:spPr>
          <a:xfrm xmlns:a="http://schemas.openxmlformats.org/drawingml/2006/main">
            <a:off x="4533900" y="1790700"/>
            <a:ext cx="6705600" cy="3829050"/>
          </a:xfrm>
          <a:prstGeom xmlns:a="http://schemas.openxmlformats.org/drawingml/2006/main" prst="roundRect">
            <a:avLst>
              <a:gd name="adj" fmla="val 5473"/>
            </a:avLst>
          </a:prstGeom>
          <a:solidFill xmlns:a="http://schemas.openxmlformats.org/drawingml/2006/main">
            <a:srgbClr val="111D38"/>
          </a:solidFill>
          <a:ln xmlns:a="http://schemas.openxmlformats.org/drawingml/2006/main" w="9525">
            <a:solidFill>
              <a:srgbClr val="294262"/>
            </a:solidFill>
            <a:prstDash val="solid"/>
          </a:ln>
        </p:spPr>
      </p:sp>
      <p:sp>
        <p:nvSpPr>
          <p:cNvPr id="20" name="">
            <a:extLst xmlns:a="http://schemas.openxmlformats.org/drawingml/2006/main">
              <a:ext uri="{FF2B5EF4-FFF2-40B4-BE49-F238E27FC236}">
                <a16:creationId xmlns:a16="http://schemas.microsoft.com/office/drawing/2014/main" id="{2A176E00-F2F6-4B0A-B3D4-D235FFC414A9}"/>
              </a:ext>
            </a:extLst>
          </p:cNvPr>
          <p:cNvSpPr>
            <a:spLocks xmlns:a="http://schemas.openxmlformats.org/drawingml/2006/main" noGrp="1"/>
          </p:cNvSpPr>
          <p:nvPr/>
        </p:nvSpPr>
        <p:spPr>
          <a:xfrm xmlns:a="http://schemas.openxmlformats.org/drawingml/2006/main">
            <a:off x="4800600" y="20764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What the user sees</a:t>
            </a:r>
          </a:p>
        </p:txBody>
      </p:sp>
      <p:sp>
        <p:nvSpPr>
          <p:cNvPr id="21" name="">
            <a:extLst xmlns:a="http://schemas.openxmlformats.org/drawingml/2006/main">
              <a:ext uri="{FF2B5EF4-FFF2-40B4-BE49-F238E27FC236}">
                <a16:creationId xmlns:a16="http://schemas.microsoft.com/office/drawing/2014/main" id="{D5BFB1F0-DBFE-4BF3-BAEF-6063F0BE027C}"/>
              </a:ext>
            </a:extLst>
          </p:cNvPr>
          <p:cNvSpPr>
            <a:spLocks xmlns:a="http://schemas.openxmlformats.org/drawingml/2006/main" noGrp="1"/>
          </p:cNvSpPr>
          <p:nvPr/>
        </p:nvSpPr>
        <p:spPr>
          <a:xfrm xmlns:a="http://schemas.openxmlformats.org/drawingml/2006/main">
            <a:off x="4800600" y="24003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4 findings from this report</a:t>
            </a:r>
          </a:p>
        </p:txBody>
      </p:sp>
      <p:graphicFrame>
        <p:nvGraphicFramePr>
          <p:cNvPr id="47" name=""/>
          <p:cNvGraphicFramePr/>
          <p:nvPr/>
        </p:nvGraphicFramePr>
        <p:xfrm>
          <a:off xmlns:a="http://schemas.openxmlformats.org/drawingml/2006/main" x="4800600" y="2781300"/>
          <a:ext xmlns:a="http://schemas.openxmlformats.org/drawingml/2006/main" cx="5943600" cy="2076450"/>
        </p:xfrm>
        <a:graphic xmlns:a="http://schemas.openxmlformats.org/drawingml/2006/main">
          <a:graphicData uri="http://schemas.openxmlformats.org/drawingml/2006/table">
            <a:tbl>
              <a:tblPr/>
              <a:tblGrid>
                <a:gridCol w="1905000"/>
                <a:gridCol w="838200"/>
                <a:gridCol w="1066800"/>
                <a:gridCol w="2133600"/>
              </a:tblGrid>
              <a:tr h="415290">
                <a:tc>
                  <a:txBody>
                    <a:bodyPr/>
                    <a:lstStyle/>
                    <a:p>
                      <a:r>
                        <a:rPr sz="900" b="1">
                          <a:solidFill>
                            <a:srgbClr val="5EEAD4"/>
                          </a:solidFill>
                        </a:rPr>
                        <a:t>Test</a:t>
                      </a:r>
                    </a:p>
                  </a:txBody>
                  <a:tcPr marL="91440" marR="91440" marT="45720" marB="45720">
                    <a:solidFill>
                      <a:srgbClr val="182D4D"/>
                    </a:solidFill>
                  </a:tcPr>
                </a:tc>
                <a:tc>
                  <a:txBody>
                    <a:bodyPr/>
                    <a:lstStyle/>
                    <a:p>
                      <a:r>
                        <a:rPr sz="900" b="1">
                          <a:solidFill>
                            <a:srgbClr val="5EEAD4"/>
                          </a:solidFill>
                        </a:rPr>
                        <a:t>Value</a:t>
                      </a:r>
                    </a:p>
                  </a:txBody>
                  <a:tcPr marL="91440" marR="91440" marT="45720" marB="45720">
                    <a:solidFill>
                      <a:srgbClr val="182D4D"/>
                    </a:solidFill>
                  </a:tcPr>
                </a:tc>
                <a:tc>
                  <a:txBody>
                    <a:bodyPr/>
                    <a:lstStyle/>
                    <a:p>
                      <a:r>
                        <a:rPr sz="900" b="1">
                          <a:solidFill>
                            <a:srgbClr val="5EEAD4"/>
                          </a:solidFill>
                        </a:rPr>
                        <a:t>Status</a:t>
                      </a:r>
                    </a:p>
                  </a:txBody>
                  <a:tcPr marL="91440" marR="91440" marT="45720" marB="45720">
                    <a:solidFill>
                      <a:srgbClr val="182D4D"/>
                    </a:solidFill>
                  </a:tcPr>
                </a:tc>
                <a:tc>
                  <a:txBody>
                    <a:bodyPr/>
                    <a:lstStyle/>
                    <a:p>
                      <a:r>
                        <a:rPr sz="900" b="1">
                          <a:solidFill>
                            <a:srgbClr val="5EEAD4"/>
                          </a:solidFill>
                        </a:rPr>
                        <a:t>What it means</a:t>
                      </a:r>
                    </a:p>
                  </a:txBody>
                  <a:tcPr marL="91440" marR="91440" marT="45720" marB="45720">
                    <a:solidFill>
                      <a:srgbClr val="182D4D"/>
                    </a:solidFill>
                  </a:tcPr>
                </a:tc>
              </a:tr>
              <a:tr h="415290">
                <a:tc>
                  <a:txBody>
                    <a:bodyPr/>
                    <a:lstStyle/>
                    <a:p>
                      <a:r>
                        <a:rPr sz="900" b="0">
                          <a:solidFill>
                            <a:srgbClr val="F8FAFC"/>
                          </a:solidFill>
                        </a:rPr>
                        <a:t>Hemoglobin</a:t>
                      </a:r>
                    </a:p>
                  </a:txBody>
                  <a:tcPr marL="91440" marR="91440" marT="45720" marB="45720">
                    <a:solidFill>
                      <a:srgbClr val="142642"/>
                    </a:solidFill>
                  </a:tcPr>
                </a:tc>
                <a:tc>
                  <a:txBody>
                    <a:bodyPr/>
                    <a:lstStyle/>
                    <a:p>
                      <a:r>
                        <a:rPr sz="900" b="0">
                          <a:solidFill>
                            <a:srgbClr val="F8FAFC"/>
                          </a:solidFill>
                        </a:rPr>
                        <a:t>11.2 g/dL</a:t>
                      </a:r>
                    </a:p>
                  </a:txBody>
                  <a:tcPr marL="91440" marR="91440" marT="45720" marB="45720">
                    <a:solidFill>
                      <a:srgbClr val="142642"/>
                    </a:solidFill>
                  </a:tcPr>
                </a:tc>
                <a:tc>
                  <a:txBody>
                    <a:bodyPr/>
                    <a:lstStyle/>
                    <a:p>
                      <a:r>
                        <a:rPr sz="900" b="1">
                          <a:solidFill>
                            <a:srgbClr val="FB7185"/>
                          </a:solidFill>
                        </a:rPr>
                        <a:t>LOW</a:t>
                      </a:r>
                    </a:p>
                  </a:txBody>
                  <a:tcPr marL="91440" marR="91440" marT="45720" marB="45720">
                    <a:solidFill>
                      <a:srgbClr val="4C2030"/>
                    </a:solidFill>
                  </a:tcPr>
                </a:tc>
                <a:tc>
                  <a:txBody>
                    <a:bodyPr/>
                    <a:lstStyle/>
                    <a:p>
                      <a:r>
                        <a:rPr sz="900" b="0">
                          <a:solidFill>
                            <a:srgbClr val="F8FAFC"/>
                          </a:solidFill>
                        </a:rPr>
                        <a:t>Below this lab’s usual range</a:t>
                      </a:r>
                    </a:p>
                  </a:txBody>
                  <a:tcPr marL="91440" marR="91440" marT="45720" marB="45720">
                    <a:solidFill>
                      <a:srgbClr val="142642"/>
                    </a:solidFill>
                  </a:tcPr>
                </a:tc>
              </a:tr>
              <a:tr h="415290">
                <a:tc>
                  <a:txBody>
                    <a:bodyPr/>
                    <a:lstStyle/>
                    <a:p>
                      <a:r>
                        <a:rPr sz="900" b="0">
                          <a:solidFill>
                            <a:srgbClr val="F8FAFC"/>
                          </a:solidFill>
                        </a:rPr>
                        <a:t>Platelet Count</a:t>
                      </a:r>
                    </a:p>
                  </a:txBody>
                  <a:tcPr marL="91440" marR="91440" marT="45720" marB="45720">
                    <a:solidFill>
                      <a:srgbClr val="111D38"/>
                    </a:solidFill>
                  </a:tcPr>
                </a:tc>
                <a:tc>
                  <a:txBody>
                    <a:bodyPr/>
                    <a:lstStyle/>
                    <a:p>
                      <a:r>
                        <a:rPr sz="900" b="0">
                          <a:solidFill>
                            <a:srgbClr val="F8FAFC"/>
                          </a:solidFill>
                        </a:rPr>
                        <a:t>138 K/uL</a:t>
                      </a:r>
                    </a:p>
                  </a:txBody>
                  <a:tcPr marL="91440" marR="91440" marT="45720" marB="45720">
                    <a:solidFill>
                      <a:srgbClr val="111D38"/>
                    </a:solidFill>
                  </a:tcPr>
                </a:tc>
                <a:tc>
                  <a:txBody>
                    <a:bodyPr/>
                    <a:lstStyle/>
                    <a:p>
                      <a:r>
                        <a:rPr sz="900" b="1">
                          <a:solidFill>
                            <a:srgbClr val="FB7185"/>
                          </a:solidFill>
                        </a:rPr>
                        <a:t>LOW</a:t>
                      </a:r>
                    </a:p>
                  </a:txBody>
                  <a:tcPr marL="91440" marR="91440" marT="45720" marB="45720">
                    <a:solidFill>
                      <a:srgbClr val="4C2030"/>
                    </a:solidFill>
                  </a:tcPr>
                </a:tc>
                <a:tc>
                  <a:txBody>
                    <a:bodyPr/>
                    <a:lstStyle/>
                    <a:p>
                      <a:r>
                        <a:rPr sz="900" b="0">
                          <a:solidFill>
                            <a:srgbClr val="F8FAFC"/>
                          </a:solidFill>
                        </a:rPr>
                        <a:t>A little below the usual range</a:t>
                      </a:r>
                    </a:p>
                  </a:txBody>
                  <a:tcPr marL="91440" marR="91440" marT="45720" marB="45720">
                    <a:solidFill>
                      <a:srgbClr val="111D38"/>
                    </a:solidFill>
                  </a:tcPr>
                </a:tc>
              </a:tr>
              <a:tr h="415290">
                <a:tc>
                  <a:txBody>
                    <a:bodyPr/>
                    <a:lstStyle/>
                    <a:p>
                      <a:r>
                        <a:rPr sz="900" b="0">
                          <a:solidFill>
                            <a:srgbClr val="F8FAFC"/>
                          </a:solidFill>
                        </a:rPr>
                        <a:t>Fasting Glucose</a:t>
                      </a:r>
                    </a:p>
                  </a:txBody>
                  <a:tcPr marL="91440" marR="91440" marT="45720" marB="45720">
                    <a:solidFill>
                      <a:srgbClr val="142642"/>
                    </a:solidFill>
                  </a:tcPr>
                </a:tc>
                <a:tc>
                  <a:txBody>
                    <a:bodyPr/>
                    <a:lstStyle/>
                    <a:p>
                      <a:r>
                        <a:rPr sz="900" b="0">
                          <a:solidFill>
                            <a:srgbClr val="F8FAFC"/>
                          </a:solidFill>
                        </a:rPr>
                        <a:t>92 mg/dL</a:t>
                      </a:r>
                    </a:p>
                  </a:txBody>
                  <a:tcPr marL="91440" marR="91440" marT="45720" marB="45720">
                    <a:solidFill>
                      <a:srgbClr val="142642"/>
                    </a:solidFill>
                  </a:tcPr>
                </a:tc>
                <a:tc>
                  <a:txBody>
                    <a:bodyPr/>
                    <a:lstStyle/>
                    <a:p>
                      <a:r>
                        <a:rPr sz="900" b="1">
                          <a:solidFill>
                            <a:srgbClr val="4ADE80"/>
                          </a:solidFill>
                        </a:rPr>
                        <a:t>NORMAL</a:t>
                      </a:r>
                    </a:p>
                  </a:txBody>
                  <a:tcPr marL="91440" marR="91440" marT="45720" marB="45720">
                    <a:solidFill>
                      <a:srgbClr val="133A35"/>
                    </a:solidFill>
                  </a:tcPr>
                </a:tc>
                <a:tc>
                  <a:txBody>
                    <a:bodyPr/>
                    <a:lstStyle/>
                    <a:p>
                      <a:r>
                        <a:rPr sz="900" b="0">
                          <a:solidFill>
                            <a:srgbClr val="F8FAFC"/>
                          </a:solidFill>
                        </a:rPr>
                        <a:t>Within the usual range</a:t>
                      </a:r>
                    </a:p>
                  </a:txBody>
                  <a:tcPr marL="91440" marR="91440" marT="45720" marB="45720">
                    <a:solidFill>
                      <a:srgbClr val="142642"/>
                    </a:solidFill>
                  </a:tcPr>
                </a:tc>
              </a:tr>
              <a:tr h="415290">
                <a:tc>
                  <a:txBody>
                    <a:bodyPr/>
                    <a:lstStyle/>
                    <a:p>
                      <a:r>
                        <a:rPr sz="900" b="0">
                          <a:solidFill>
                            <a:srgbClr val="F8FAFC"/>
                          </a:solidFill>
                        </a:rPr>
                        <a:t>Total Cholesterol</a:t>
                      </a:r>
                    </a:p>
                  </a:txBody>
                  <a:tcPr marL="91440" marR="91440" marT="45720" marB="45720">
                    <a:solidFill>
                      <a:srgbClr val="111D38"/>
                    </a:solidFill>
                  </a:tcPr>
                </a:tc>
                <a:tc>
                  <a:txBody>
                    <a:bodyPr/>
                    <a:lstStyle/>
                    <a:p>
                      <a:r>
                        <a:rPr sz="900" b="0">
                          <a:solidFill>
                            <a:srgbClr val="F8FAFC"/>
                          </a:solidFill>
                        </a:rPr>
                        <a:t>224 mg/dL</a:t>
                      </a:r>
                    </a:p>
                  </a:txBody>
                  <a:tcPr marL="91440" marR="91440" marT="45720" marB="45720">
                    <a:solidFill>
                      <a:srgbClr val="111D38"/>
                    </a:solidFill>
                  </a:tcPr>
                </a:tc>
                <a:tc>
                  <a:txBody>
                    <a:bodyPr/>
                    <a:lstStyle/>
                    <a:p>
                      <a:r>
                        <a:rPr sz="900" b="1">
                          <a:solidFill>
                            <a:srgbClr val="FBBF24"/>
                          </a:solidFill>
                        </a:rPr>
                        <a:t>HIGH</a:t>
                      </a:r>
                    </a:p>
                  </a:txBody>
                  <a:tcPr marL="91440" marR="91440" marT="45720" marB="45720">
                    <a:solidFill>
                      <a:srgbClr val="4A3917"/>
                    </a:solidFill>
                  </a:tcPr>
                </a:tc>
                <a:tc>
                  <a:txBody>
                    <a:bodyPr/>
                    <a:lstStyle/>
                    <a:p>
                      <a:r>
                        <a:rPr sz="900" b="0">
                          <a:solidFill>
                            <a:srgbClr val="F8FAFC"/>
                          </a:solidFill>
                        </a:rPr>
                        <a:t>Above the usual range</a:t>
                      </a:r>
                    </a:p>
                  </a:txBody>
                  <a:tcPr marL="91440" marR="91440" marT="45720" marB="45720">
                    <a:solidFill>
                      <a:srgbClr val="111D38"/>
                    </a:solidFill>
                  </a:tcPr>
                </a:tc>
              </a:tr>
            </a:tbl>
          </a:graphicData>
        </a:graphic>
      </p:graphicFrame>
      <p:sp>
        <p:nvSpPr>
          <p:cNvPr id="23" name="">
            <a:extLst xmlns:a="http://schemas.openxmlformats.org/drawingml/2006/main">
              <a:ext uri="{FF2B5EF4-FFF2-40B4-BE49-F238E27FC236}">
                <a16:creationId xmlns:a16="http://schemas.microsoft.com/office/drawing/2014/main" id="{F42BF52C-48F0-4EF8-9940-B6A3481B6F1A}"/>
              </a:ext>
            </a:extLst>
          </p:cNvPr>
          <p:cNvSpPr>
            <a:spLocks xmlns:a="http://schemas.openxmlformats.org/drawingml/2006/main" noGrp="1"/>
          </p:cNvSpPr>
          <p:nvPr/>
        </p:nvSpPr>
        <p:spPr>
          <a:xfrm xmlns:a="http://schemas.openxmlformats.org/drawingml/2006/main">
            <a:off x="4800600" y="5105400"/>
            <a:ext cx="5581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5EEAD4"/>
                </a:solidFill>
                <a:latin typeface="Arial"/>
                <a:ea typeface="Arial"/>
                <a:cs typeface="Arial"/>
              </a:defRPr>
            </a:pPr>
            <a:r>
              <a:rPr sz="975" b="0" i="0">
                <a:solidFill>
                  <a:srgbClr val="5EEAD4"/>
                </a:solidFill>
                <a:latin typeface="Arial"/>
                <a:ea typeface="Arial"/>
                <a:cs typeface="Arial"/>
              </a:rPr>
              <a:t>Tap a row for precautions, questions to ask, and when to get help.</a:t>
            </a:r>
          </a:p>
        </p:txBody>
      </p:sp>
      <p:sp>
        <p:nvSpPr>
          <p:cNvPr id="24" name="">
            <a:extLst xmlns:a="http://schemas.openxmlformats.org/drawingml/2006/main">
              <a:ext uri="{FF2B5EF4-FFF2-40B4-BE49-F238E27FC236}">
                <a16:creationId xmlns:a16="http://schemas.microsoft.com/office/drawing/2014/main" id="{E51F2D90-6A87-419D-886C-AEF6BD653CE0}"/>
              </a:ext>
            </a:extLst>
          </p:cNvPr>
          <p:cNvSpPr>
            <a:spLocks xmlns:a="http://schemas.openxmlformats.org/drawingml/2006/main" noGrp="1"/>
          </p:cNvSpPr>
          <p:nvPr/>
        </p:nvSpPr>
        <p:spPr>
          <a:xfrm xmlns:a="http://schemas.openxmlformats.org/drawingml/2006/main">
            <a:off x="533400" y="645795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25" name="">
            <a:extLst xmlns:a="http://schemas.openxmlformats.org/drawingml/2006/main">
              <a:ext uri="{FF2B5EF4-FFF2-40B4-BE49-F238E27FC236}">
                <a16:creationId xmlns:a16="http://schemas.microsoft.com/office/drawing/2014/main" id="{A476174A-34D5-4DE4-B207-3D90CEC766D2}"/>
              </a:ext>
            </a:extLst>
          </p:cNvPr>
          <p:cNvSpPr>
            <a:spLocks xmlns:a="http://schemas.openxmlformats.org/drawingml/2006/main" noGrp="1"/>
          </p:cNvSpPr>
          <p:nvPr/>
        </p:nvSpPr>
        <p:spPr>
          <a:xfrm xmlns:a="http://schemas.openxmlformats.org/drawingml/2006/main">
            <a:off x="533400" y="65722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94A3B8"/>
                </a:solidFill>
                <a:latin typeface="Arial"/>
                <a:ea typeface="Arial"/>
                <a:cs typeface="Arial"/>
              </a:defRPr>
            </a:pPr>
            <a:r>
              <a:rPr sz="825" b="0" i="0">
                <a:solidFill>
                  <a:srgbClr val="94A3B8"/>
                </a:solidFill>
                <a:latin typeface="Arial"/>
                <a:ea typeface="Arial"/>
                <a:cs typeface="Arial"/>
              </a:rPr>
              <a:t>MediScan · AI medical report analyzer</a:t>
            </a:r>
          </a:p>
        </p:txBody>
      </p:sp>
    </p:spTree>
    <p:extLst>
      <p:ext uri="{BB962C8B-B14F-4D97-AF65-F5344CB8AC3E}">
        <p14:creationId xmlns:p14="http://schemas.microsoft.com/office/powerpoint/2010/main" val="1518211044"/>
      </p:ext>
    </p:extLst>
  </p:cSld>
</p:sld>
</file>

<file path=ppt/slides/slide5.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1CADDEE4-4BE0-4C9D-B8C5-C9EDE086303C}"/>
              </a:ext>
            </a:extLst>
          </p:cNvPr>
          <p:cNvSpPr>
            <a:spLocks xmlns:a="http://schemas.openxmlformats.org/drawingml/2006/main" noGrp="1"/>
          </p:cNvSpPr>
          <p:nvPr/>
        </p:nvSpPr>
        <p:spPr>
          <a:xfrm xmlns:a="http://schemas.openxmlformats.org/drawingml/2006/main">
            <a:off x="533400" y="2857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MODULE 02</a:t>
            </a:r>
          </a:p>
        </p:txBody>
      </p:sp>
      <p:sp>
        <p:nvSpPr>
          <p:cNvPr id="2" name="">
            <a:extLst xmlns:a="http://schemas.openxmlformats.org/drawingml/2006/main">
              <a:ext uri="{FF2B5EF4-FFF2-40B4-BE49-F238E27FC236}">
                <a16:creationId xmlns:a16="http://schemas.microsoft.com/office/drawing/2014/main" id="{7810AA04-4012-4B4D-A13A-6B4CB6C63FBB}"/>
              </a:ext>
            </a:extLst>
          </p:cNvPr>
          <p:cNvSpPr>
            <a:spLocks xmlns:a="http://schemas.openxmlformats.org/drawingml/2006/main" noGrp="1"/>
          </p:cNvSpPr>
          <p:nvPr/>
        </p:nvSpPr>
        <p:spPr>
          <a:xfrm xmlns:a="http://schemas.openxmlformats.org/drawingml/2006/main">
            <a:off x="533400" y="5524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8FAFC"/>
                </a:solidFill>
                <a:latin typeface="Arial"/>
                <a:ea typeface="Arial"/>
                <a:cs typeface="Arial"/>
              </a:defRPr>
            </a:pPr>
            <a:r>
              <a:rPr sz="2250" b="1" i="0">
                <a:solidFill>
                  <a:srgbClr val="F8FAFC"/>
                </a:solidFill>
                <a:latin typeface="Arial"/>
                <a:ea typeface="Arial"/>
                <a:cs typeface="Arial"/>
              </a:rPr>
              <a:t>Medicine Lens and interaction safety</a:t>
            </a:r>
          </a:p>
        </p:txBody>
      </p:sp>
      <p:sp>
        <p:nvSpPr>
          <p:cNvPr id="3" name="">
            <a:extLst xmlns:a="http://schemas.openxmlformats.org/drawingml/2006/main">
              <a:ext uri="{FF2B5EF4-FFF2-40B4-BE49-F238E27FC236}">
                <a16:creationId xmlns:a16="http://schemas.microsoft.com/office/drawing/2014/main" id="{CF8722C9-7520-4DEB-B422-15DDD5897FC8}"/>
              </a:ext>
            </a:extLst>
          </p:cNvPr>
          <p:cNvSpPr>
            <a:spLocks xmlns:a="http://schemas.openxmlformats.org/drawingml/2006/main" noGrp="1"/>
          </p:cNvSpPr>
          <p:nvPr/>
        </p:nvSpPr>
        <p:spPr>
          <a:xfrm xmlns:a="http://schemas.openxmlformats.org/drawingml/2006/main">
            <a:off x="11144250" y="3238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94A3B8"/>
                </a:solidFill>
                <a:latin typeface="Arial"/>
                <a:ea typeface="Arial"/>
                <a:cs typeface="Arial"/>
              </a:defRPr>
            </a:pPr>
            <a:r>
              <a:rPr sz="1050" b="1" i="0">
                <a:solidFill>
                  <a:srgbClr val="94A3B8"/>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398FB42-C42A-4617-B929-3CBC613B7F28}"/>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 name="">
            <a:extLst xmlns:a="http://schemas.openxmlformats.org/drawingml/2006/main">
              <a:ext uri="{FF2B5EF4-FFF2-40B4-BE49-F238E27FC236}">
                <a16:creationId xmlns:a16="http://schemas.microsoft.com/office/drawing/2014/main" id="{4AF82FD2-AC40-439F-BF09-71134D4E8F8C}"/>
              </a:ext>
            </a:extLst>
          </p:cNvPr>
          <p:cNvSpPr>
            <a:spLocks xmlns:a="http://schemas.openxmlformats.org/drawingml/2006/main" noGrp="1"/>
          </p:cNvSpPr>
          <p:nvPr/>
        </p:nvSpPr>
        <p:spPr>
          <a:xfrm xmlns:a="http://schemas.openxmlformats.org/drawingml/2006/main">
            <a:off x="533400" y="12573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Medicine details become quick answers instead of a long monograph.</a:t>
            </a:r>
          </a:p>
        </p:txBody>
      </p:sp>
      <p:sp>
        <p:nvSpPr>
          <p:cNvPr id="6" name="">
            <a:extLst xmlns:a="http://schemas.openxmlformats.org/drawingml/2006/main">
              <a:ext uri="{FF2B5EF4-FFF2-40B4-BE49-F238E27FC236}">
                <a16:creationId xmlns:a16="http://schemas.microsoft.com/office/drawing/2014/main" id="{F3CB545E-6D8F-4F41-AD18-6173685BD900}"/>
              </a:ext>
            </a:extLst>
          </p:cNvPr>
          <p:cNvSpPr>
            <a:spLocks xmlns:a="http://schemas.openxmlformats.org/drawingml/2006/main" noGrp="1"/>
          </p:cNvSpPr>
          <p:nvPr/>
        </p:nvSpPr>
        <p:spPr>
          <a:xfrm xmlns:a="http://schemas.openxmlformats.org/drawingml/2006/main">
            <a:off x="533400" y="18097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Three quick answers</a:t>
            </a:r>
          </a:p>
        </p:txBody>
      </p:sp>
      <p:sp>
        <p:nvSpPr>
          <p:cNvPr id="7" name="">
            <a:extLst xmlns:a="http://schemas.openxmlformats.org/drawingml/2006/main">
              <a:ext uri="{FF2B5EF4-FFF2-40B4-BE49-F238E27FC236}">
                <a16:creationId xmlns:a16="http://schemas.microsoft.com/office/drawing/2014/main" id="{27D7C912-5058-48C3-824A-047D3F2AF5B7}"/>
              </a:ext>
            </a:extLst>
          </p:cNvPr>
          <p:cNvSpPr>
            <a:spLocks xmlns:a="http://schemas.openxmlformats.org/drawingml/2006/main" noGrp="1"/>
          </p:cNvSpPr>
          <p:nvPr/>
        </p:nvSpPr>
        <p:spPr>
          <a:xfrm xmlns:a="http://schemas.openxmlformats.org/drawingml/2006/main">
            <a:off x="533400" y="2190750"/>
            <a:ext cx="3467100" cy="1352550"/>
          </a:xfrm>
          <a:prstGeom xmlns:a="http://schemas.openxmlformats.org/drawingml/2006/main" prst="roundRect">
            <a:avLst>
              <a:gd name="adj" fmla="val 12676"/>
            </a:avLst>
          </a:prstGeom>
          <a:solidFill xmlns:a="http://schemas.openxmlformats.org/drawingml/2006/main">
            <a:srgbClr val="111D38"/>
          </a:solidFill>
          <a:ln xmlns:a="http://schemas.openxmlformats.org/drawingml/2006/main" w="9525">
            <a:solidFill>
              <a:srgbClr val="294262"/>
            </a:solidFill>
            <a:prstDash val="solid"/>
          </a:ln>
        </p:spPr>
      </p:sp>
      <p:sp>
        <p:nvSpPr>
          <p:cNvPr id="8" name="">
            <a:extLst xmlns:a="http://schemas.openxmlformats.org/drawingml/2006/main">
              <a:ext uri="{FF2B5EF4-FFF2-40B4-BE49-F238E27FC236}">
                <a16:creationId xmlns:a16="http://schemas.microsoft.com/office/drawing/2014/main" id="{5FD0428C-BFDE-4FD5-9E41-F3FC149AD658}"/>
              </a:ext>
            </a:extLst>
          </p:cNvPr>
          <p:cNvSpPr>
            <a:spLocks xmlns:a="http://schemas.openxmlformats.org/drawingml/2006/main" noGrp="1"/>
          </p:cNvSpPr>
          <p:nvPr/>
        </p:nvSpPr>
        <p:spPr>
          <a:xfrm xmlns:a="http://schemas.openxmlformats.org/drawingml/2006/main">
            <a:off x="704850" y="2362200"/>
            <a:ext cx="361950" cy="361950"/>
          </a:xfrm>
          <a:prstGeom xmlns:a="http://schemas.openxmlformats.org/drawingml/2006/main" prst="roundRect">
            <a:avLst>
              <a:gd name="adj" fmla="val 31579"/>
            </a:avLst>
          </a:prstGeom>
          <a:solidFill xmlns:a="http://schemas.openxmlformats.org/drawingml/2006/main">
            <a:srgbClr val="38BDF8"/>
          </a:solidFill>
          <a:ln xmlns:a="http://schemas.openxmlformats.org/drawingml/2006/main" w="9525">
            <a:solidFill>
              <a:srgbClr val="38BDF8"/>
            </a:solidFill>
            <a:prstDash val="solid"/>
          </a:ln>
        </p:spPr>
      </p:sp>
      <p:sp>
        <p:nvSpPr>
          <p:cNvPr id="9" name="">
            <a:extLst xmlns:a="http://schemas.openxmlformats.org/drawingml/2006/main">
              <a:ext uri="{FF2B5EF4-FFF2-40B4-BE49-F238E27FC236}">
                <a16:creationId xmlns:a16="http://schemas.microsoft.com/office/drawing/2014/main" id="{C088F8F9-4E3D-4908-9FD3-296868151E15}"/>
              </a:ext>
            </a:extLst>
          </p:cNvPr>
          <p:cNvSpPr>
            <a:spLocks xmlns:a="http://schemas.openxmlformats.org/drawingml/2006/main" noGrp="1"/>
          </p:cNvSpPr>
          <p:nvPr/>
        </p:nvSpPr>
        <p:spPr>
          <a:xfrm xmlns:a="http://schemas.openxmlformats.org/drawingml/2006/main">
            <a:off x="704850" y="24193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132B"/>
                </a:solidFill>
                <a:latin typeface="Arial"/>
                <a:ea typeface="Arial"/>
                <a:cs typeface="Arial"/>
              </a:defRPr>
            </a:pPr>
            <a:r>
              <a:rPr sz="1200" b="1" i="0">
                <a:solidFill>
                  <a:srgbClr val="0B132B"/>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B7B1E1D4-D609-4969-B82B-0FA730587AE2}"/>
              </a:ext>
            </a:extLst>
          </p:cNvPr>
          <p:cNvSpPr>
            <a:spLocks xmlns:a="http://schemas.openxmlformats.org/drawingml/2006/main" noGrp="1"/>
          </p:cNvSpPr>
          <p:nvPr/>
        </p:nvSpPr>
        <p:spPr>
          <a:xfrm xmlns:a="http://schemas.openxmlformats.org/drawingml/2006/main">
            <a:off x="1219200" y="2352675"/>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What is it for?</a:t>
            </a:r>
          </a:p>
        </p:txBody>
      </p:sp>
      <p:sp>
        <p:nvSpPr>
          <p:cNvPr id="11" name="">
            <a:extLst xmlns:a="http://schemas.openxmlformats.org/drawingml/2006/main">
              <a:ext uri="{FF2B5EF4-FFF2-40B4-BE49-F238E27FC236}">
                <a16:creationId xmlns:a16="http://schemas.microsoft.com/office/drawing/2014/main" id="{9A1B82E5-BB7F-4FB6-9681-04C978B9D1D5}"/>
              </a:ext>
            </a:extLst>
          </p:cNvPr>
          <p:cNvSpPr>
            <a:spLocks xmlns:a="http://schemas.openxmlformats.org/drawingml/2006/main" noGrp="1"/>
          </p:cNvSpPr>
          <p:nvPr/>
        </p:nvSpPr>
        <p:spPr>
          <a:xfrm xmlns:a="http://schemas.openxmlformats.org/drawingml/2006/main">
            <a:off x="1219200" y="2667000"/>
            <a:ext cx="2590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A one-line use in everyday language, with the ingredient and form shown clearly.</a:t>
            </a:r>
          </a:p>
        </p:txBody>
      </p:sp>
      <p:sp>
        <p:nvSpPr>
          <p:cNvPr id="12" name="">
            <a:extLst xmlns:a="http://schemas.openxmlformats.org/drawingml/2006/main">
              <a:ext uri="{FF2B5EF4-FFF2-40B4-BE49-F238E27FC236}">
                <a16:creationId xmlns:a16="http://schemas.microsoft.com/office/drawing/2014/main" id="{91385235-5F5F-40E1-8C73-0E1878670D32}"/>
              </a:ext>
            </a:extLst>
          </p:cNvPr>
          <p:cNvSpPr>
            <a:spLocks xmlns:a="http://schemas.openxmlformats.org/drawingml/2006/main" noGrp="1"/>
          </p:cNvSpPr>
          <p:nvPr/>
        </p:nvSpPr>
        <p:spPr>
          <a:xfrm xmlns:a="http://schemas.openxmlformats.org/drawingml/2006/main">
            <a:off x="4343400" y="2190750"/>
            <a:ext cx="3467100" cy="1352550"/>
          </a:xfrm>
          <a:prstGeom xmlns:a="http://schemas.openxmlformats.org/drawingml/2006/main" prst="roundRect">
            <a:avLst>
              <a:gd name="adj" fmla="val 12676"/>
            </a:avLst>
          </a:prstGeom>
          <a:solidFill xmlns:a="http://schemas.openxmlformats.org/drawingml/2006/main">
            <a:srgbClr val="111D38"/>
          </a:solidFill>
          <a:ln xmlns:a="http://schemas.openxmlformats.org/drawingml/2006/main" w="9525">
            <a:solidFill>
              <a:srgbClr val="294262"/>
            </a:solidFill>
            <a:prstDash val="solid"/>
          </a:ln>
        </p:spPr>
      </p:sp>
      <p:sp>
        <p:nvSpPr>
          <p:cNvPr id="13" name="">
            <a:extLst xmlns:a="http://schemas.openxmlformats.org/drawingml/2006/main">
              <a:ext uri="{FF2B5EF4-FFF2-40B4-BE49-F238E27FC236}">
                <a16:creationId xmlns:a16="http://schemas.microsoft.com/office/drawing/2014/main" id="{62EAECA0-2C04-418F-A23D-59C2E1DE84FF}"/>
              </a:ext>
            </a:extLst>
          </p:cNvPr>
          <p:cNvSpPr>
            <a:spLocks xmlns:a="http://schemas.openxmlformats.org/drawingml/2006/main" noGrp="1"/>
          </p:cNvSpPr>
          <p:nvPr/>
        </p:nvSpPr>
        <p:spPr>
          <a:xfrm xmlns:a="http://schemas.openxmlformats.org/drawingml/2006/main">
            <a:off x="4514850" y="2362200"/>
            <a:ext cx="361950" cy="361950"/>
          </a:xfrm>
          <a:prstGeom xmlns:a="http://schemas.openxmlformats.org/drawingml/2006/main" prst="roundRect">
            <a:avLst>
              <a:gd name="adj" fmla="val 31579"/>
            </a:avLst>
          </a:prstGeom>
          <a:solidFill xmlns:a="http://schemas.openxmlformats.org/drawingml/2006/main">
            <a:srgbClr val="14B8A6"/>
          </a:solidFill>
          <a:ln xmlns:a="http://schemas.openxmlformats.org/drawingml/2006/main" w="9525">
            <a:solidFill>
              <a:srgbClr val="14B8A6"/>
            </a:solidFill>
            <a:prstDash val="solid"/>
          </a:ln>
        </p:spPr>
      </p:sp>
      <p:sp>
        <p:nvSpPr>
          <p:cNvPr id="14" name="">
            <a:extLst xmlns:a="http://schemas.openxmlformats.org/drawingml/2006/main">
              <a:ext uri="{FF2B5EF4-FFF2-40B4-BE49-F238E27FC236}">
                <a16:creationId xmlns:a16="http://schemas.microsoft.com/office/drawing/2014/main" id="{E1FA889E-E9A8-4A05-BADD-2F975A24FCFB}"/>
              </a:ext>
            </a:extLst>
          </p:cNvPr>
          <p:cNvSpPr>
            <a:spLocks xmlns:a="http://schemas.openxmlformats.org/drawingml/2006/main" noGrp="1"/>
          </p:cNvSpPr>
          <p:nvPr/>
        </p:nvSpPr>
        <p:spPr>
          <a:xfrm xmlns:a="http://schemas.openxmlformats.org/drawingml/2006/main">
            <a:off x="4514850" y="24193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132B"/>
                </a:solidFill>
                <a:latin typeface="Arial"/>
                <a:ea typeface="Arial"/>
                <a:cs typeface="Arial"/>
              </a:defRPr>
            </a:pPr>
            <a:r>
              <a:rPr sz="1200" b="1" i="0">
                <a:solidFill>
                  <a:srgbClr val="0B132B"/>
                </a:solidFill>
                <a:latin typeface="Arial"/>
                <a:ea typeface="Arial"/>
                <a:cs typeface="Arial"/>
              </a:rPr>
              <a:t>02</a:t>
            </a:r>
          </a:p>
        </p:txBody>
      </p:sp>
      <p:sp>
        <p:nvSpPr>
          <p:cNvPr id="15" name="">
            <a:extLst xmlns:a="http://schemas.openxmlformats.org/drawingml/2006/main">
              <a:ext uri="{FF2B5EF4-FFF2-40B4-BE49-F238E27FC236}">
                <a16:creationId xmlns:a16="http://schemas.microsoft.com/office/drawing/2014/main" id="{4616ED6E-E906-4292-AADF-49755DECB6A2}"/>
              </a:ext>
            </a:extLst>
          </p:cNvPr>
          <p:cNvSpPr>
            <a:spLocks xmlns:a="http://schemas.openxmlformats.org/drawingml/2006/main" noGrp="1"/>
          </p:cNvSpPr>
          <p:nvPr/>
        </p:nvSpPr>
        <p:spPr>
          <a:xfrm xmlns:a="http://schemas.openxmlformats.org/drawingml/2006/main">
            <a:off x="5029200" y="2352675"/>
            <a:ext cx="2590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How should I use it?</a:t>
            </a:r>
          </a:p>
        </p:txBody>
      </p:sp>
      <p:sp>
        <p:nvSpPr>
          <p:cNvPr id="16" name="">
            <a:extLst xmlns:a="http://schemas.openxmlformats.org/drawingml/2006/main">
              <a:ext uri="{FF2B5EF4-FFF2-40B4-BE49-F238E27FC236}">
                <a16:creationId xmlns:a16="http://schemas.microsoft.com/office/drawing/2014/main" id="{8129A873-87DF-490C-9772-67AAF3B616B3}"/>
              </a:ext>
            </a:extLst>
          </p:cNvPr>
          <p:cNvSpPr>
            <a:spLocks xmlns:a="http://schemas.openxmlformats.org/drawingml/2006/main" noGrp="1"/>
          </p:cNvSpPr>
          <p:nvPr/>
        </p:nvSpPr>
        <p:spPr>
          <a:xfrm xmlns:a="http://schemas.openxmlformats.org/drawingml/2006/main">
            <a:off x="5029200" y="2667000"/>
            <a:ext cx="2590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Simple timing and label reminders help the user avoid guesswork.</a:t>
            </a:r>
          </a:p>
        </p:txBody>
      </p:sp>
      <p:sp>
        <p:nvSpPr>
          <p:cNvPr id="17" name="">
            <a:extLst xmlns:a="http://schemas.openxmlformats.org/drawingml/2006/main">
              <a:ext uri="{FF2B5EF4-FFF2-40B4-BE49-F238E27FC236}">
                <a16:creationId xmlns:a16="http://schemas.microsoft.com/office/drawing/2014/main" id="{4551FFD1-CF1F-46F7-BAFA-581C73E82F96}"/>
              </a:ext>
            </a:extLst>
          </p:cNvPr>
          <p:cNvSpPr>
            <a:spLocks xmlns:a="http://schemas.openxmlformats.org/drawingml/2006/main" noGrp="1"/>
          </p:cNvSpPr>
          <p:nvPr/>
        </p:nvSpPr>
        <p:spPr>
          <a:xfrm xmlns:a="http://schemas.openxmlformats.org/drawingml/2006/main">
            <a:off x="8153400" y="2190750"/>
            <a:ext cx="3086100" cy="1352550"/>
          </a:xfrm>
          <a:prstGeom xmlns:a="http://schemas.openxmlformats.org/drawingml/2006/main" prst="roundRect">
            <a:avLst>
              <a:gd name="adj" fmla="val 12676"/>
            </a:avLst>
          </a:prstGeom>
          <a:solidFill xmlns:a="http://schemas.openxmlformats.org/drawingml/2006/main">
            <a:srgbClr val="111D38"/>
          </a:solidFill>
          <a:ln xmlns:a="http://schemas.openxmlformats.org/drawingml/2006/main" w="9525">
            <a:solidFill>
              <a:srgbClr val="294262"/>
            </a:solidFill>
            <a:prstDash val="solid"/>
          </a:ln>
        </p:spPr>
      </p:sp>
      <p:sp>
        <p:nvSpPr>
          <p:cNvPr id="18" name="">
            <a:extLst xmlns:a="http://schemas.openxmlformats.org/drawingml/2006/main">
              <a:ext uri="{FF2B5EF4-FFF2-40B4-BE49-F238E27FC236}">
                <a16:creationId xmlns:a16="http://schemas.microsoft.com/office/drawing/2014/main" id="{375D09F3-7FFD-4521-A431-065AA862D19C}"/>
              </a:ext>
            </a:extLst>
          </p:cNvPr>
          <p:cNvSpPr>
            <a:spLocks xmlns:a="http://schemas.openxmlformats.org/drawingml/2006/main" noGrp="1"/>
          </p:cNvSpPr>
          <p:nvPr/>
        </p:nvSpPr>
        <p:spPr>
          <a:xfrm xmlns:a="http://schemas.openxmlformats.org/drawingml/2006/main">
            <a:off x="8324850" y="2362200"/>
            <a:ext cx="361950" cy="361950"/>
          </a:xfrm>
          <a:prstGeom xmlns:a="http://schemas.openxmlformats.org/drawingml/2006/main" prst="roundRect">
            <a:avLst>
              <a:gd name="adj" fmla="val 31579"/>
            </a:avLst>
          </a:prstGeom>
          <a:solidFill xmlns:a="http://schemas.openxmlformats.org/drawingml/2006/main">
            <a:srgbClr val="FBBF24"/>
          </a:solidFill>
          <a:ln xmlns:a="http://schemas.openxmlformats.org/drawingml/2006/main" w="9525">
            <a:solidFill>
              <a:srgbClr val="FBBF24"/>
            </a:solidFill>
            <a:prstDash val="solid"/>
          </a:ln>
        </p:spPr>
      </p:sp>
      <p:sp>
        <p:nvSpPr>
          <p:cNvPr id="19" name="">
            <a:extLst xmlns:a="http://schemas.openxmlformats.org/drawingml/2006/main">
              <a:ext uri="{FF2B5EF4-FFF2-40B4-BE49-F238E27FC236}">
                <a16:creationId xmlns:a16="http://schemas.microsoft.com/office/drawing/2014/main" id="{071C08B1-3720-4764-B722-8163A8FF8FFE}"/>
              </a:ext>
            </a:extLst>
          </p:cNvPr>
          <p:cNvSpPr>
            <a:spLocks xmlns:a="http://schemas.openxmlformats.org/drawingml/2006/main" noGrp="1"/>
          </p:cNvSpPr>
          <p:nvPr/>
        </p:nvSpPr>
        <p:spPr>
          <a:xfrm xmlns:a="http://schemas.openxmlformats.org/drawingml/2006/main">
            <a:off x="8324850" y="2419350"/>
            <a:ext cx="361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i="0">
                <a:solidFill>
                  <a:srgbClr val="0B132B"/>
                </a:solidFill>
                <a:latin typeface="Arial"/>
                <a:ea typeface="Arial"/>
                <a:cs typeface="Arial"/>
              </a:defRPr>
            </a:pPr>
            <a:r>
              <a:rPr sz="1200" b="1" i="0">
                <a:solidFill>
                  <a:srgbClr val="0B132B"/>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F1FA6224-B70E-481C-91FC-0A6B614BE175}"/>
              </a:ext>
            </a:extLst>
          </p:cNvPr>
          <p:cNvSpPr>
            <a:spLocks xmlns:a="http://schemas.openxmlformats.org/drawingml/2006/main" noGrp="1"/>
          </p:cNvSpPr>
          <p:nvPr/>
        </p:nvSpPr>
        <p:spPr>
          <a:xfrm xmlns:a="http://schemas.openxmlformats.org/drawingml/2006/main">
            <a:off x="8839200" y="2352675"/>
            <a:ext cx="2209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What should I watch?</a:t>
            </a:r>
          </a:p>
        </p:txBody>
      </p:sp>
      <p:sp>
        <p:nvSpPr>
          <p:cNvPr id="21" name="">
            <a:extLst xmlns:a="http://schemas.openxmlformats.org/drawingml/2006/main">
              <a:ext uri="{FF2B5EF4-FFF2-40B4-BE49-F238E27FC236}">
                <a16:creationId xmlns:a16="http://schemas.microsoft.com/office/drawing/2014/main" id="{9FE544A7-C5AA-4821-B8E1-B78835606677}"/>
              </a:ext>
            </a:extLst>
          </p:cNvPr>
          <p:cNvSpPr>
            <a:spLocks xmlns:a="http://schemas.openxmlformats.org/drawingml/2006/main" noGrp="1"/>
          </p:cNvSpPr>
          <p:nvPr/>
        </p:nvSpPr>
        <p:spPr>
          <a:xfrm xmlns:a="http://schemas.openxmlformats.org/drawingml/2006/main">
            <a:off x="8839200" y="2667000"/>
            <a:ext cx="220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Key warnings sit beside the medicine, not hidden at the end.</a:t>
            </a:r>
          </a:p>
        </p:txBody>
      </p:sp>
      <p:sp>
        <p:nvSpPr>
          <p:cNvPr id="22" name="">
            <a:extLst xmlns:a="http://schemas.openxmlformats.org/drawingml/2006/main">
              <a:ext uri="{FF2B5EF4-FFF2-40B4-BE49-F238E27FC236}">
                <a16:creationId xmlns:a16="http://schemas.microsoft.com/office/drawing/2014/main" id="{355C4422-25F5-40F5-A00F-4C8D57610FCC}"/>
              </a:ext>
            </a:extLst>
          </p:cNvPr>
          <p:cNvSpPr>
            <a:spLocks xmlns:a="http://schemas.openxmlformats.org/drawingml/2006/main" noGrp="1"/>
          </p:cNvSpPr>
          <p:nvPr/>
        </p:nvSpPr>
        <p:spPr>
          <a:xfrm xmlns:a="http://schemas.openxmlformats.org/drawingml/2006/main">
            <a:off x="533400" y="39814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Interaction results</a:t>
            </a:r>
          </a:p>
        </p:txBody>
      </p:sp>
      <p:sp>
        <p:nvSpPr>
          <p:cNvPr id="23" name="">
            <a:extLst xmlns:a="http://schemas.openxmlformats.org/drawingml/2006/main">
              <a:ext uri="{FF2B5EF4-FFF2-40B4-BE49-F238E27FC236}">
                <a16:creationId xmlns:a16="http://schemas.microsoft.com/office/drawing/2014/main" id="{CE9ADB4B-EF18-4509-BBA4-6577C60F68F3}"/>
              </a:ext>
            </a:extLst>
          </p:cNvPr>
          <p:cNvSpPr>
            <a:spLocks xmlns:a="http://schemas.openxmlformats.org/drawingml/2006/main" noGrp="1"/>
          </p:cNvSpPr>
          <p:nvPr/>
        </p:nvSpPr>
        <p:spPr>
          <a:xfrm xmlns:a="http://schemas.openxmlformats.org/drawingml/2006/main">
            <a:off x="533400" y="4343400"/>
            <a:ext cx="3467100" cy="1143000"/>
          </a:xfrm>
          <a:prstGeom xmlns:a="http://schemas.openxmlformats.org/drawingml/2006/main" prst="roundRect">
            <a:avLst>
              <a:gd name="adj" fmla="val 15000"/>
            </a:avLst>
          </a:prstGeom>
          <a:solidFill xmlns:a="http://schemas.openxmlformats.org/drawingml/2006/main">
            <a:srgbClr val="111D38"/>
          </a:solidFill>
          <a:ln xmlns:a="http://schemas.openxmlformats.org/drawingml/2006/main" w="9525">
            <a:solidFill>
              <a:srgbClr val="294262"/>
            </a:solidFill>
            <a:prstDash val="solid"/>
          </a:ln>
        </p:spPr>
      </p:sp>
      <p:sp>
        <p:nvSpPr>
          <p:cNvPr id="24" name="">
            <a:extLst xmlns:a="http://schemas.openxmlformats.org/drawingml/2006/main">
              <a:ext uri="{FF2B5EF4-FFF2-40B4-BE49-F238E27FC236}">
                <a16:creationId xmlns:a16="http://schemas.microsoft.com/office/drawing/2014/main" id="{F4AF5C75-102F-4592-B713-23E313FE4F5C}"/>
              </a:ext>
            </a:extLst>
          </p:cNvPr>
          <p:cNvSpPr>
            <a:spLocks xmlns:a="http://schemas.openxmlformats.org/drawingml/2006/main" noGrp="1"/>
          </p:cNvSpPr>
          <p:nvPr/>
        </p:nvSpPr>
        <p:spPr>
          <a:xfrm xmlns:a="http://schemas.openxmlformats.org/drawingml/2006/main">
            <a:off x="723900" y="4533900"/>
            <a:ext cx="800100" cy="266700"/>
          </a:xfrm>
          <a:prstGeom xmlns:a="http://schemas.openxmlformats.org/drawingml/2006/main" prst="roundRect">
            <a:avLst>
              <a:gd name="adj" fmla="val 50000"/>
            </a:avLst>
          </a:prstGeom>
          <a:solidFill xmlns:a="http://schemas.openxmlformats.org/drawingml/2006/main">
            <a:srgbClr val="FB7185"/>
          </a:solidFill>
          <a:ln xmlns:a="http://schemas.openxmlformats.org/drawingml/2006/main" w="9525">
            <a:solidFill>
              <a:srgbClr val="FB7185"/>
            </a:solidFill>
            <a:prstDash val="solid"/>
          </a:ln>
        </p:spPr>
      </p:sp>
      <p:sp>
        <p:nvSpPr>
          <p:cNvPr id="25" name="">
            <a:extLst xmlns:a="http://schemas.openxmlformats.org/drawingml/2006/main">
              <a:ext uri="{FF2B5EF4-FFF2-40B4-BE49-F238E27FC236}">
                <a16:creationId xmlns:a16="http://schemas.microsoft.com/office/drawing/2014/main" id="{CB572FF6-E00D-4F76-8DD9-C3203F5CE7E1}"/>
              </a:ext>
            </a:extLst>
          </p:cNvPr>
          <p:cNvSpPr>
            <a:spLocks xmlns:a="http://schemas.openxmlformats.org/drawingml/2006/main" noGrp="1"/>
          </p:cNvSpPr>
          <p:nvPr/>
        </p:nvSpPr>
        <p:spPr>
          <a:xfrm xmlns:a="http://schemas.openxmlformats.org/drawingml/2006/main">
            <a:off x="723900" y="4572000"/>
            <a:ext cx="800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MAJOR</a:t>
            </a:r>
          </a:p>
        </p:txBody>
      </p:sp>
      <p:sp>
        <p:nvSpPr>
          <p:cNvPr id="26" name="">
            <a:extLst xmlns:a="http://schemas.openxmlformats.org/drawingml/2006/main">
              <a:ext uri="{FF2B5EF4-FFF2-40B4-BE49-F238E27FC236}">
                <a16:creationId xmlns:a16="http://schemas.microsoft.com/office/drawing/2014/main" id="{B5742044-42F4-4476-A2EC-C3AD2FC6E0CA}"/>
              </a:ext>
            </a:extLst>
          </p:cNvPr>
          <p:cNvSpPr>
            <a:spLocks xmlns:a="http://schemas.openxmlformats.org/drawingml/2006/main" noGrp="1"/>
          </p:cNvSpPr>
          <p:nvPr/>
        </p:nvSpPr>
        <p:spPr>
          <a:xfrm xmlns:a="http://schemas.openxmlformats.org/drawingml/2006/main">
            <a:off x="723900" y="49339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8FAFC"/>
                </a:solidFill>
                <a:latin typeface="Arial"/>
                <a:ea typeface="Arial"/>
                <a:cs typeface="Arial"/>
              </a:defRPr>
            </a:pPr>
            <a:r>
              <a:rPr sz="1275" b="1" i="0">
                <a:solidFill>
                  <a:srgbClr val="F8FAFC"/>
                </a:solidFill>
                <a:latin typeface="Arial"/>
                <a:ea typeface="Arial"/>
                <a:cs typeface="Arial"/>
              </a:rPr>
              <a:t>Aspirin + Ibuprofen</a:t>
            </a:r>
          </a:p>
        </p:txBody>
      </p:sp>
      <p:sp>
        <p:nvSpPr>
          <p:cNvPr id="27" name="">
            <a:extLst xmlns:a="http://schemas.openxmlformats.org/drawingml/2006/main">
              <a:ext uri="{FF2B5EF4-FFF2-40B4-BE49-F238E27FC236}">
                <a16:creationId xmlns:a16="http://schemas.microsoft.com/office/drawing/2014/main" id="{74370040-F3F0-45A8-96B9-5BC5E2909523}"/>
              </a:ext>
            </a:extLst>
          </p:cNvPr>
          <p:cNvSpPr>
            <a:spLocks xmlns:a="http://schemas.openxmlformats.org/drawingml/2006/main" noGrp="1"/>
          </p:cNvSpPr>
          <p:nvPr/>
        </p:nvSpPr>
        <p:spPr>
          <a:xfrm xmlns:a="http://schemas.openxmlformats.org/drawingml/2006/main">
            <a:off x="723900" y="52006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Ask a clinician before combining these.</a:t>
            </a:r>
          </a:p>
        </p:txBody>
      </p:sp>
      <p:sp>
        <p:nvSpPr>
          <p:cNvPr id="28" name="">
            <a:extLst xmlns:a="http://schemas.openxmlformats.org/drawingml/2006/main">
              <a:ext uri="{FF2B5EF4-FFF2-40B4-BE49-F238E27FC236}">
                <a16:creationId xmlns:a16="http://schemas.microsoft.com/office/drawing/2014/main" id="{7509CD2C-D2FF-473B-B900-D88BF0CCA3B9}"/>
              </a:ext>
            </a:extLst>
          </p:cNvPr>
          <p:cNvSpPr>
            <a:spLocks xmlns:a="http://schemas.openxmlformats.org/drawingml/2006/main" noGrp="1"/>
          </p:cNvSpPr>
          <p:nvPr/>
        </p:nvSpPr>
        <p:spPr>
          <a:xfrm xmlns:a="http://schemas.openxmlformats.org/drawingml/2006/main">
            <a:off x="4343400" y="4343400"/>
            <a:ext cx="3467100" cy="1143000"/>
          </a:xfrm>
          <a:prstGeom xmlns:a="http://schemas.openxmlformats.org/drawingml/2006/main" prst="roundRect">
            <a:avLst>
              <a:gd name="adj" fmla="val 15000"/>
            </a:avLst>
          </a:prstGeom>
          <a:solidFill xmlns:a="http://schemas.openxmlformats.org/drawingml/2006/main">
            <a:srgbClr val="111D38"/>
          </a:solidFill>
          <a:ln xmlns:a="http://schemas.openxmlformats.org/drawingml/2006/main" w="9525">
            <a:solidFill>
              <a:srgbClr val="294262"/>
            </a:solidFill>
            <a:prstDash val="solid"/>
          </a:ln>
        </p:spPr>
      </p:sp>
      <p:sp>
        <p:nvSpPr>
          <p:cNvPr id="29" name="">
            <a:extLst xmlns:a="http://schemas.openxmlformats.org/drawingml/2006/main">
              <a:ext uri="{FF2B5EF4-FFF2-40B4-BE49-F238E27FC236}">
                <a16:creationId xmlns:a16="http://schemas.microsoft.com/office/drawing/2014/main" id="{4CEBD56A-9E24-41A9-AB66-4B4339673327}"/>
              </a:ext>
            </a:extLst>
          </p:cNvPr>
          <p:cNvSpPr>
            <a:spLocks xmlns:a="http://schemas.openxmlformats.org/drawingml/2006/main" noGrp="1"/>
          </p:cNvSpPr>
          <p:nvPr/>
        </p:nvSpPr>
        <p:spPr>
          <a:xfrm xmlns:a="http://schemas.openxmlformats.org/drawingml/2006/main">
            <a:off x="4533900" y="4533900"/>
            <a:ext cx="971550" cy="266700"/>
          </a:xfrm>
          <a:prstGeom xmlns:a="http://schemas.openxmlformats.org/drawingml/2006/main" prst="roundRect">
            <a:avLst>
              <a:gd name="adj" fmla="val 50000"/>
            </a:avLst>
          </a:prstGeom>
          <a:solidFill xmlns:a="http://schemas.openxmlformats.org/drawingml/2006/main">
            <a:srgbClr val="FBBF24"/>
          </a:solidFill>
          <a:ln xmlns:a="http://schemas.openxmlformats.org/drawingml/2006/main" w="9525">
            <a:solidFill>
              <a:srgbClr val="FBBF24"/>
            </a:solidFill>
            <a:prstDash val="solid"/>
          </a:ln>
        </p:spPr>
      </p:sp>
      <p:sp>
        <p:nvSpPr>
          <p:cNvPr id="30" name="">
            <a:extLst xmlns:a="http://schemas.openxmlformats.org/drawingml/2006/main">
              <a:ext uri="{FF2B5EF4-FFF2-40B4-BE49-F238E27FC236}">
                <a16:creationId xmlns:a16="http://schemas.microsoft.com/office/drawing/2014/main" id="{3061A1F3-A079-4898-B157-54245332A5A2}"/>
              </a:ext>
            </a:extLst>
          </p:cNvPr>
          <p:cNvSpPr>
            <a:spLocks xmlns:a="http://schemas.openxmlformats.org/drawingml/2006/main" noGrp="1"/>
          </p:cNvSpPr>
          <p:nvPr/>
        </p:nvSpPr>
        <p:spPr>
          <a:xfrm xmlns:a="http://schemas.openxmlformats.org/drawingml/2006/main">
            <a:off x="4533900" y="457200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MODERATE</a:t>
            </a:r>
          </a:p>
        </p:txBody>
      </p:sp>
      <p:sp>
        <p:nvSpPr>
          <p:cNvPr id="31" name="">
            <a:extLst xmlns:a="http://schemas.openxmlformats.org/drawingml/2006/main">
              <a:ext uri="{FF2B5EF4-FFF2-40B4-BE49-F238E27FC236}">
                <a16:creationId xmlns:a16="http://schemas.microsoft.com/office/drawing/2014/main" id="{EE98CB11-A540-4ADD-B158-368EBE2E717F}"/>
              </a:ext>
            </a:extLst>
          </p:cNvPr>
          <p:cNvSpPr>
            <a:spLocks xmlns:a="http://schemas.openxmlformats.org/drawingml/2006/main" noGrp="1"/>
          </p:cNvSpPr>
          <p:nvPr/>
        </p:nvSpPr>
        <p:spPr>
          <a:xfrm xmlns:a="http://schemas.openxmlformats.org/drawingml/2006/main">
            <a:off x="4533900" y="49339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8FAFC"/>
                </a:solidFill>
                <a:latin typeface="Arial"/>
                <a:ea typeface="Arial"/>
                <a:cs typeface="Arial"/>
              </a:defRPr>
            </a:pPr>
            <a:r>
              <a:rPr sz="1275" b="1" i="0">
                <a:solidFill>
                  <a:srgbClr val="F8FAFC"/>
                </a:solidFill>
                <a:latin typeface="Arial"/>
                <a:ea typeface="Arial"/>
                <a:cs typeface="Arial"/>
              </a:rPr>
              <a:t>Paracetamol + cold syrup</a:t>
            </a:r>
          </a:p>
        </p:txBody>
      </p:sp>
      <p:sp>
        <p:nvSpPr>
          <p:cNvPr id="32" name="">
            <a:extLst xmlns:a="http://schemas.openxmlformats.org/drawingml/2006/main">
              <a:ext uri="{FF2B5EF4-FFF2-40B4-BE49-F238E27FC236}">
                <a16:creationId xmlns:a16="http://schemas.microsoft.com/office/drawing/2014/main" id="{A6AA86C3-099A-4BF1-BFB9-0D370F0E414C}"/>
              </a:ext>
            </a:extLst>
          </p:cNvPr>
          <p:cNvSpPr>
            <a:spLocks xmlns:a="http://schemas.openxmlformats.org/drawingml/2006/main" noGrp="1"/>
          </p:cNvSpPr>
          <p:nvPr/>
        </p:nvSpPr>
        <p:spPr>
          <a:xfrm xmlns:a="http://schemas.openxmlformats.org/drawingml/2006/main">
            <a:off x="4533900" y="52006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Check for duplicate ingredients.</a:t>
            </a:r>
          </a:p>
        </p:txBody>
      </p:sp>
      <p:sp>
        <p:nvSpPr>
          <p:cNvPr id="33" name="">
            <a:extLst xmlns:a="http://schemas.openxmlformats.org/drawingml/2006/main">
              <a:ext uri="{FF2B5EF4-FFF2-40B4-BE49-F238E27FC236}">
                <a16:creationId xmlns:a16="http://schemas.microsoft.com/office/drawing/2014/main" id="{095417FB-AD5B-4FA7-A16B-E3AB347FD9C2}"/>
              </a:ext>
            </a:extLst>
          </p:cNvPr>
          <p:cNvSpPr>
            <a:spLocks xmlns:a="http://schemas.openxmlformats.org/drawingml/2006/main" noGrp="1"/>
          </p:cNvSpPr>
          <p:nvPr/>
        </p:nvSpPr>
        <p:spPr>
          <a:xfrm xmlns:a="http://schemas.openxmlformats.org/drawingml/2006/main">
            <a:off x="8153400" y="4343400"/>
            <a:ext cx="3086100" cy="1143000"/>
          </a:xfrm>
          <a:prstGeom xmlns:a="http://schemas.openxmlformats.org/drawingml/2006/main" prst="roundRect">
            <a:avLst>
              <a:gd name="adj" fmla="val 15000"/>
            </a:avLst>
          </a:prstGeom>
          <a:solidFill xmlns:a="http://schemas.openxmlformats.org/drawingml/2006/main">
            <a:srgbClr val="111D38"/>
          </a:solidFill>
          <a:ln xmlns:a="http://schemas.openxmlformats.org/drawingml/2006/main" w="9525">
            <a:solidFill>
              <a:srgbClr val="294262"/>
            </a:solidFill>
            <a:prstDash val="solid"/>
          </a:ln>
        </p:spPr>
      </p:sp>
      <p:sp>
        <p:nvSpPr>
          <p:cNvPr id="34" name="">
            <a:extLst xmlns:a="http://schemas.openxmlformats.org/drawingml/2006/main">
              <a:ext uri="{FF2B5EF4-FFF2-40B4-BE49-F238E27FC236}">
                <a16:creationId xmlns:a16="http://schemas.microsoft.com/office/drawing/2014/main" id="{ADA0C451-6AFA-46DA-8A5B-82CDBDF066F6}"/>
              </a:ext>
            </a:extLst>
          </p:cNvPr>
          <p:cNvSpPr>
            <a:spLocks xmlns:a="http://schemas.openxmlformats.org/drawingml/2006/main" noGrp="1"/>
          </p:cNvSpPr>
          <p:nvPr/>
        </p:nvSpPr>
        <p:spPr>
          <a:xfrm xmlns:a="http://schemas.openxmlformats.org/drawingml/2006/main">
            <a:off x="8343900" y="4533900"/>
            <a:ext cx="800100" cy="266700"/>
          </a:xfrm>
          <a:prstGeom xmlns:a="http://schemas.openxmlformats.org/drawingml/2006/main" prst="roundRect">
            <a:avLst>
              <a:gd name="adj" fmla="val 50000"/>
            </a:avLst>
          </a:prstGeom>
          <a:solidFill xmlns:a="http://schemas.openxmlformats.org/drawingml/2006/main">
            <a:srgbClr val="60A5FA"/>
          </a:solidFill>
          <a:ln xmlns:a="http://schemas.openxmlformats.org/drawingml/2006/main" w="9525">
            <a:solidFill>
              <a:srgbClr val="60A5FA"/>
            </a:solidFill>
            <a:prstDash val="solid"/>
          </a:ln>
        </p:spPr>
      </p:sp>
      <p:sp>
        <p:nvSpPr>
          <p:cNvPr id="35" name="">
            <a:extLst xmlns:a="http://schemas.openxmlformats.org/drawingml/2006/main">
              <a:ext uri="{FF2B5EF4-FFF2-40B4-BE49-F238E27FC236}">
                <a16:creationId xmlns:a16="http://schemas.microsoft.com/office/drawing/2014/main" id="{E2075CA6-2C06-4E32-A6A9-7B629B373BF2}"/>
              </a:ext>
            </a:extLst>
          </p:cNvPr>
          <p:cNvSpPr>
            <a:spLocks xmlns:a="http://schemas.openxmlformats.org/drawingml/2006/main" noGrp="1"/>
          </p:cNvSpPr>
          <p:nvPr/>
        </p:nvSpPr>
        <p:spPr>
          <a:xfrm xmlns:a="http://schemas.openxmlformats.org/drawingml/2006/main">
            <a:off x="8343900" y="4572000"/>
            <a:ext cx="800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UNKNOWN</a:t>
            </a:r>
          </a:p>
        </p:txBody>
      </p:sp>
      <p:sp>
        <p:nvSpPr>
          <p:cNvPr id="36" name="">
            <a:extLst xmlns:a="http://schemas.openxmlformats.org/drawingml/2006/main">
              <a:ext uri="{FF2B5EF4-FFF2-40B4-BE49-F238E27FC236}">
                <a16:creationId xmlns:a16="http://schemas.microsoft.com/office/drawing/2014/main" id="{DC53F884-E9F3-4B16-901F-9ACF19361BCD}"/>
              </a:ext>
            </a:extLst>
          </p:cNvPr>
          <p:cNvSpPr>
            <a:spLocks xmlns:a="http://schemas.openxmlformats.org/drawingml/2006/main" noGrp="1"/>
          </p:cNvSpPr>
          <p:nvPr/>
        </p:nvSpPr>
        <p:spPr>
          <a:xfrm xmlns:a="http://schemas.openxmlformats.org/drawingml/2006/main">
            <a:off x="8343900" y="4933950"/>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i="0">
                <a:solidFill>
                  <a:srgbClr val="F8FAFC"/>
                </a:solidFill>
                <a:latin typeface="Arial"/>
                <a:ea typeface="Arial"/>
                <a:cs typeface="Arial"/>
              </a:defRPr>
            </a:pPr>
            <a:r>
              <a:rPr sz="1275" b="1" i="0">
                <a:solidFill>
                  <a:srgbClr val="F8FAFC"/>
                </a:solidFill>
                <a:latin typeface="Arial"/>
                <a:ea typeface="Arial"/>
                <a:cs typeface="Arial"/>
              </a:rPr>
              <a:t>Novel medicine + supplement</a:t>
            </a:r>
          </a:p>
        </p:txBody>
      </p:sp>
      <p:sp>
        <p:nvSpPr>
          <p:cNvPr id="37" name="">
            <a:extLst xmlns:a="http://schemas.openxmlformats.org/drawingml/2006/main">
              <a:ext uri="{FF2B5EF4-FFF2-40B4-BE49-F238E27FC236}">
                <a16:creationId xmlns:a16="http://schemas.microsoft.com/office/drawing/2014/main" id="{763832F8-D508-46EC-A1E0-F4C34596EA45}"/>
              </a:ext>
            </a:extLst>
          </p:cNvPr>
          <p:cNvSpPr>
            <a:spLocks xmlns:a="http://schemas.openxmlformats.org/drawingml/2006/main" noGrp="1"/>
          </p:cNvSpPr>
          <p:nvPr/>
        </p:nvSpPr>
        <p:spPr>
          <a:xfrm xmlns:a="http://schemas.openxmlformats.org/drawingml/2006/main">
            <a:off x="8343900" y="520065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Review the label and bring both to a pharmacist.</a:t>
            </a:r>
          </a:p>
        </p:txBody>
      </p:sp>
      <p:sp>
        <p:nvSpPr>
          <p:cNvPr id="38" name="">
            <a:extLst xmlns:a="http://schemas.openxmlformats.org/drawingml/2006/main">
              <a:ext uri="{FF2B5EF4-FFF2-40B4-BE49-F238E27FC236}">
                <a16:creationId xmlns:a16="http://schemas.microsoft.com/office/drawing/2014/main" id="{9D30BBAE-24BD-4AFD-90F8-6F6ADB33A6C8}"/>
              </a:ext>
            </a:extLst>
          </p:cNvPr>
          <p:cNvSpPr>
            <a:spLocks xmlns:a="http://schemas.openxmlformats.org/drawingml/2006/main" noGrp="1"/>
          </p:cNvSpPr>
          <p:nvPr/>
        </p:nvSpPr>
        <p:spPr>
          <a:xfrm xmlns:a="http://schemas.openxmlformats.org/drawingml/2006/main">
            <a:off x="533400" y="5753100"/>
            <a:ext cx="447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EEAD4"/>
                </a:solidFill>
                <a:latin typeface="Arial"/>
                <a:ea typeface="Arial"/>
                <a:cs typeface="Arial"/>
              </a:defRPr>
            </a:pPr>
            <a:r>
              <a:rPr sz="1050" b="1" i="0">
                <a:solidFill>
                  <a:srgbClr val="5EEAD4"/>
                </a:solidFill>
                <a:latin typeface="Arial"/>
                <a:ea typeface="Arial"/>
                <a:cs typeface="Arial"/>
              </a:rPr>
              <a:t>Severity is a conversation starter, not a diagnosis.</a:t>
            </a:r>
          </a:p>
        </p:txBody>
      </p:sp>
      <p:sp>
        <p:nvSpPr>
          <p:cNvPr id="39" name="">
            <a:extLst xmlns:a="http://schemas.openxmlformats.org/drawingml/2006/main">
              <a:ext uri="{FF2B5EF4-FFF2-40B4-BE49-F238E27FC236}">
                <a16:creationId xmlns:a16="http://schemas.microsoft.com/office/drawing/2014/main" id="{A152086C-4650-491E-9B22-FBC515635D65}"/>
              </a:ext>
            </a:extLst>
          </p:cNvPr>
          <p:cNvSpPr>
            <a:spLocks xmlns:a="http://schemas.openxmlformats.org/drawingml/2006/main" noGrp="1"/>
          </p:cNvSpPr>
          <p:nvPr/>
        </p:nvSpPr>
        <p:spPr>
          <a:xfrm xmlns:a="http://schemas.openxmlformats.org/drawingml/2006/main">
            <a:off x="533400" y="645795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40" name="">
            <a:extLst xmlns:a="http://schemas.openxmlformats.org/drawingml/2006/main">
              <a:ext uri="{FF2B5EF4-FFF2-40B4-BE49-F238E27FC236}">
                <a16:creationId xmlns:a16="http://schemas.microsoft.com/office/drawing/2014/main" id="{EA1689B7-B4E7-47F4-86F4-6F8E59917AEB}"/>
              </a:ext>
            </a:extLst>
          </p:cNvPr>
          <p:cNvSpPr>
            <a:spLocks xmlns:a="http://schemas.openxmlformats.org/drawingml/2006/main" noGrp="1"/>
          </p:cNvSpPr>
          <p:nvPr/>
        </p:nvSpPr>
        <p:spPr>
          <a:xfrm xmlns:a="http://schemas.openxmlformats.org/drawingml/2006/main">
            <a:off x="533400" y="65722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94A3B8"/>
                </a:solidFill>
                <a:latin typeface="Arial"/>
                <a:ea typeface="Arial"/>
                <a:cs typeface="Arial"/>
              </a:defRPr>
            </a:pPr>
            <a:r>
              <a:rPr sz="825" b="0" i="0">
                <a:solidFill>
                  <a:srgbClr val="94A3B8"/>
                </a:solidFill>
                <a:latin typeface="Arial"/>
                <a:ea typeface="Arial"/>
                <a:cs typeface="Arial"/>
              </a:rPr>
              <a:t>MediScan · AI medical report analyzer</a:t>
            </a:r>
          </a:p>
        </p:txBody>
      </p:sp>
    </p:spTree>
    <p:extLst>
      <p:ext uri="{BB962C8B-B14F-4D97-AF65-F5344CB8AC3E}">
        <p14:creationId xmlns:p14="http://schemas.microsoft.com/office/powerpoint/2010/main" val="1023017881"/>
      </p:ext>
    </p:extLst>
  </p:cSld>
</p:sld>
</file>

<file path=ppt/slides/slide6.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FA4A92EC-F98F-4B40-8820-5759032A291A}"/>
              </a:ext>
            </a:extLst>
          </p:cNvPr>
          <p:cNvSpPr>
            <a:spLocks xmlns:a="http://schemas.openxmlformats.org/drawingml/2006/main" noGrp="1"/>
          </p:cNvSpPr>
          <p:nvPr/>
        </p:nvSpPr>
        <p:spPr>
          <a:xfrm xmlns:a="http://schemas.openxmlformats.org/drawingml/2006/main">
            <a:off x="533400" y="2857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TRUST LAYER</a:t>
            </a:r>
          </a:p>
        </p:txBody>
      </p:sp>
      <p:sp>
        <p:nvSpPr>
          <p:cNvPr id="2" name="">
            <a:extLst xmlns:a="http://schemas.openxmlformats.org/drawingml/2006/main">
              <a:ext uri="{FF2B5EF4-FFF2-40B4-BE49-F238E27FC236}">
                <a16:creationId xmlns:a16="http://schemas.microsoft.com/office/drawing/2014/main" id="{A89CCB4C-AF4F-42F5-80BC-3A37EEFBB912}"/>
              </a:ext>
            </a:extLst>
          </p:cNvPr>
          <p:cNvSpPr>
            <a:spLocks xmlns:a="http://schemas.openxmlformats.org/drawingml/2006/main" noGrp="1"/>
          </p:cNvSpPr>
          <p:nvPr/>
        </p:nvSpPr>
        <p:spPr>
          <a:xfrm xmlns:a="http://schemas.openxmlformats.org/drawingml/2006/main">
            <a:off x="533400" y="5524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8FAFC"/>
                </a:solidFill>
                <a:latin typeface="Arial"/>
                <a:ea typeface="Arial"/>
                <a:cs typeface="Arial"/>
              </a:defRPr>
            </a:pPr>
            <a:r>
              <a:rPr sz="2250" b="1" i="0">
                <a:solidFill>
                  <a:srgbClr val="F8FAFC"/>
                </a:solidFill>
                <a:latin typeface="Arial"/>
                <a:ea typeface="Arial"/>
                <a:cs typeface="Arial"/>
              </a:rPr>
              <a:t>Security, verification, and Doctor Brief</a:t>
            </a:r>
          </a:p>
        </p:txBody>
      </p:sp>
      <p:sp>
        <p:nvSpPr>
          <p:cNvPr id="3" name="">
            <a:extLst xmlns:a="http://schemas.openxmlformats.org/drawingml/2006/main">
              <a:ext uri="{FF2B5EF4-FFF2-40B4-BE49-F238E27FC236}">
                <a16:creationId xmlns:a16="http://schemas.microsoft.com/office/drawing/2014/main" id="{AA07167C-6695-40DC-967D-63B1D14DFB4A}"/>
              </a:ext>
            </a:extLst>
          </p:cNvPr>
          <p:cNvSpPr>
            <a:spLocks xmlns:a="http://schemas.openxmlformats.org/drawingml/2006/main" noGrp="1"/>
          </p:cNvSpPr>
          <p:nvPr/>
        </p:nvSpPr>
        <p:spPr>
          <a:xfrm xmlns:a="http://schemas.openxmlformats.org/drawingml/2006/main">
            <a:off x="11144250" y="3238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94A3B8"/>
                </a:solidFill>
                <a:latin typeface="Arial"/>
                <a:ea typeface="Arial"/>
                <a:cs typeface="Arial"/>
              </a:defRPr>
            </a:pPr>
            <a:r>
              <a:rPr sz="1050" b="1" i="0">
                <a:solidFill>
                  <a:srgbClr val="94A3B8"/>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F675E5CF-77B0-4AF7-8F71-3BB8C9C99887}"/>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 name="">
            <a:extLst xmlns:a="http://schemas.openxmlformats.org/drawingml/2006/main">
              <a:ext uri="{FF2B5EF4-FFF2-40B4-BE49-F238E27FC236}">
                <a16:creationId xmlns:a16="http://schemas.microsoft.com/office/drawing/2014/main" id="{5004D99C-7AF3-4C66-903F-C72804205444}"/>
              </a:ext>
            </a:extLst>
          </p:cNvPr>
          <p:cNvSpPr>
            <a:spLocks xmlns:a="http://schemas.openxmlformats.org/drawingml/2006/main" noGrp="1"/>
          </p:cNvSpPr>
          <p:nvPr/>
        </p:nvSpPr>
        <p:spPr>
          <a:xfrm xmlns:a="http://schemas.openxmlformats.org/drawingml/2006/main">
            <a:off x="533400" y="1257300"/>
            <a:ext cx="781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Trust is visible in the interface, not hidden in the backend.</a:t>
            </a:r>
          </a:p>
        </p:txBody>
      </p:sp>
      <p:sp>
        <p:nvSpPr>
          <p:cNvPr id="6" name="">
            <a:extLst xmlns:a="http://schemas.openxmlformats.org/drawingml/2006/main">
              <a:ext uri="{FF2B5EF4-FFF2-40B4-BE49-F238E27FC236}">
                <a16:creationId xmlns:a16="http://schemas.microsoft.com/office/drawing/2014/main" id="{4BEA31C6-DF25-4AB9-8772-9675ECBB6FBC}"/>
              </a:ext>
            </a:extLst>
          </p:cNvPr>
          <p:cNvSpPr>
            <a:spLocks xmlns:a="http://schemas.openxmlformats.org/drawingml/2006/main" noGrp="1"/>
          </p:cNvSpPr>
          <p:nvPr/>
        </p:nvSpPr>
        <p:spPr>
          <a:xfrm xmlns:a="http://schemas.openxmlformats.org/drawingml/2006/main">
            <a:off x="533400" y="1790700"/>
            <a:ext cx="4057650" cy="3829050"/>
          </a:xfrm>
          <a:prstGeom xmlns:a="http://schemas.openxmlformats.org/drawingml/2006/main" prst="roundRect">
            <a:avLst>
              <a:gd name="adj" fmla="val 5473"/>
            </a:avLst>
          </a:prstGeom>
          <a:solidFill xmlns:a="http://schemas.openxmlformats.org/drawingml/2006/main">
            <a:srgbClr val="111D38"/>
          </a:solidFill>
          <a:ln xmlns:a="http://schemas.openxmlformats.org/drawingml/2006/main" w="9525">
            <a:solidFill>
              <a:srgbClr val="294262"/>
            </a:solidFill>
            <a:prstDash val="solid"/>
          </a:ln>
        </p:spPr>
      </p:sp>
      <p:sp>
        <p:nvSpPr>
          <p:cNvPr id="7" name="">
            <a:extLst xmlns:a="http://schemas.openxmlformats.org/drawingml/2006/main">
              <a:ext uri="{FF2B5EF4-FFF2-40B4-BE49-F238E27FC236}">
                <a16:creationId xmlns:a16="http://schemas.microsoft.com/office/drawing/2014/main" id="{F03EA494-1C3A-4312-A863-5DB7478A93E0}"/>
              </a:ext>
            </a:extLst>
          </p:cNvPr>
          <p:cNvSpPr>
            <a:spLocks xmlns:a="http://schemas.openxmlformats.org/drawingml/2006/main" noGrp="1"/>
          </p:cNvSpPr>
          <p:nvPr/>
        </p:nvSpPr>
        <p:spPr>
          <a:xfrm xmlns:a="http://schemas.openxmlformats.org/drawingml/2006/main">
            <a:off x="800100" y="207645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Security and proof</a:t>
            </a:r>
          </a:p>
        </p:txBody>
      </p:sp>
      <p:sp>
        <p:nvSpPr>
          <p:cNvPr id="8" name="">
            <a:extLst xmlns:a="http://schemas.openxmlformats.org/drawingml/2006/main">
              <a:ext uri="{FF2B5EF4-FFF2-40B4-BE49-F238E27FC236}">
                <a16:creationId xmlns:a16="http://schemas.microsoft.com/office/drawing/2014/main" id="{92E4BC40-44A7-41CB-A7BD-5FC712671A2C}"/>
              </a:ext>
            </a:extLst>
          </p:cNvPr>
          <p:cNvSpPr>
            <a:spLocks xmlns:a="http://schemas.openxmlformats.org/drawingml/2006/main" noGrp="1"/>
          </p:cNvSpPr>
          <p:nvPr/>
        </p:nvSpPr>
        <p:spPr>
          <a:xfrm xmlns:a="http://schemas.openxmlformats.org/drawingml/2006/main">
            <a:off x="800100" y="2619375"/>
            <a:ext cx="85725" cy="85725"/>
          </a:xfrm>
          <a:prstGeom xmlns:a="http://schemas.openxmlformats.org/drawingml/2006/main" prst="ellipse">
            <a:avLst/>
          </a:prstGeom>
          <a:solidFill xmlns:a="http://schemas.openxmlformats.org/drawingml/2006/main">
            <a:srgbClr val="38BDF8"/>
          </a:solidFill>
          <a:ln xmlns:a="http://schemas.openxmlformats.org/drawingml/2006/main" w="0">
            <a:solidFill>
              <a:srgbClr val="38BDF8"/>
            </a:solidFill>
          </a:ln>
        </p:spPr>
      </p:sp>
      <p:sp>
        <p:nvSpPr>
          <p:cNvPr id="9" name="">
            <a:extLst xmlns:a="http://schemas.openxmlformats.org/drawingml/2006/main">
              <a:ext uri="{FF2B5EF4-FFF2-40B4-BE49-F238E27FC236}">
                <a16:creationId xmlns:a16="http://schemas.microsoft.com/office/drawing/2014/main" id="{D6C883A2-9480-4965-9775-FEAACE7580D9}"/>
              </a:ext>
            </a:extLst>
          </p:cNvPr>
          <p:cNvSpPr>
            <a:spLocks xmlns:a="http://schemas.openxmlformats.org/drawingml/2006/main" noGrp="1"/>
          </p:cNvSpPr>
          <p:nvPr/>
        </p:nvSpPr>
        <p:spPr>
          <a:xfrm xmlns:a="http://schemas.openxmlformats.org/drawingml/2006/main">
            <a:off x="990600" y="25717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F8FAFC"/>
                </a:solidFill>
                <a:latin typeface="Arial"/>
                <a:ea typeface="Arial"/>
                <a:cs typeface="Arial"/>
              </a:defRPr>
            </a:pPr>
            <a:r>
              <a:rPr sz="1200" b="1" i="0">
                <a:solidFill>
                  <a:srgbClr val="F8FAFC"/>
                </a:solidFill>
                <a:latin typeface="Arial"/>
                <a:ea typeface="Arial"/>
                <a:cs typeface="Arial"/>
              </a:rPr>
              <a:t>Verification ID</a:t>
            </a:r>
          </a:p>
        </p:txBody>
      </p:sp>
      <p:sp>
        <p:nvSpPr>
          <p:cNvPr id="10" name="">
            <a:extLst xmlns:a="http://schemas.openxmlformats.org/drawingml/2006/main">
              <a:ext uri="{FF2B5EF4-FFF2-40B4-BE49-F238E27FC236}">
                <a16:creationId xmlns:a16="http://schemas.microsoft.com/office/drawing/2014/main" id="{B8D1F448-E043-4A40-BEFD-C338C76CD906}"/>
              </a:ext>
            </a:extLst>
          </p:cNvPr>
          <p:cNvSpPr>
            <a:spLocks xmlns:a="http://schemas.openxmlformats.org/drawingml/2006/main" noGrp="1"/>
          </p:cNvSpPr>
          <p:nvPr/>
        </p:nvSpPr>
        <p:spPr>
          <a:xfrm xmlns:a="http://schemas.openxmlformats.org/drawingml/2006/main">
            <a:off x="990600" y="28003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Every result can be referred to as MS-XXXXXXXX.</a:t>
            </a:r>
          </a:p>
        </p:txBody>
      </p:sp>
      <p:sp>
        <p:nvSpPr>
          <p:cNvPr id="11" name="">
            <a:extLst xmlns:a="http://schemas.openxmlformats.org/drawingml/2006/main">
              <a:ext uri="{FF2B5EF4-FFF2-40B4-BE49-F238E27FC236}">
                <a16:creationId xmlns:a16="http://schemas.microsoft.com/office/drawing/2014/main" id="{5BA210A5-C917-4327-A6D9-1AAB6F0FB5B9}"/>
              </a:ext>
            </a:extLst>
          </p:cNvPr>
          <p:cNvSpPr>
            <a:spLocks xmlns:a="http://schemas.openxmlformats.org/drawingml/2006/main" noGrp="1"/>
          </p:cNvSpPr>
          <p:nvPr/>
        </p:nvSpPr>
        <p:spPr>
          <a:xfrm xmlns:a="http://schemas.openxmlformats.org/drawingml/2006/main">
            <a:off x="800100" y="3476625"/>
            <a:ext cx="85725" cy="85725"/>
          </a:xfrm>
          <a:prstGeom xmlns:a="http://schemas.openxmlformats.org/drawingml/2006/main" prst="ellipse">
            <a:avLst/>
          </a:prstGeom>
          <a:solidFill xmlns:a="http://schemas.openxmlformats.org/drawingml/2006/main">
            <a:srgbClr val="14B8A6"/>
          </a:solidFill>
          <a:ln xmlns:a="http://schemas.openxmlformats.org/drawingml/2006/main" w="0">
            <a:solidFill>
              <a:srgbClr val="14B8A6"/>
            </a:solidFill>
          </a:ln>
        </p:spPr>
      </p:sp>
      <p:sp>
        <p:nvSpPr>
          <p:cNvPr id="12" name="">
            <a:extLst xmlns:a="http://schemas.openxmlformats.org/drawingml/2006/main">
              <a:ext uri="{FF2B5EF4-FFF2-40B4-BE49-F238E27FC236}">
                <a16:creationId xmlns:a16="http://schemas.microsoft.com/office/drawing/2014/main" id="{12434790-0FA7-477E-B8DA-8FC9C32D69EF}"/>
              </a:ext>
            </a:extLst>
          </p:cNvPr>
          <p:cNvSpPr>
            <a:spLocks xmlns:a="http://schemas.openxmlformats.org/drawingml/2006/main" noGrp="1"/>
          </p:cNvSpPr>
          <p:nvPr/>
        </p:nvSpPr>
        <p:spPr>
          <a:xfrm xmlns:a="http://schemas.openxmlformats.org/drawingml/2006/main">
            <a:off x="990600" y="34290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F8FAFC"/>
                </a:solidFill>
                <a:latin typeface="Arial"/>
                <a:ea typeface="Arial"/>
                <a:cs typeface="Arial"/>
              </a:defRPr>
            </a:pPr>
            <a:r>
              <a:rPr sz="1200" b="1" i="0">
                <a:solidFill>
                  <a:srgbClr val="F8FAFC"/>
                </a:solidFill>
                <a:latin typeface="Arial"/>
                <a:ea typeface="Arial"/>
                <a:cs typeface="Arial"/>
              </a:rPr>
              <a:t>Evidence fingerprint</a:t>
            </a:r>
          </a:p>
        </p:txBody>
      </p:sp>
      <p:sp>
        <p:nvSpPr>
          <p:cNvPr id="13" name="">
            <a:extLst xmlns:a="http://schemas.openxmlformats.org/drawingml/2006/main">
              <a:ext uri="{FF2B5EF4-FFF2-40B4-BE49-F238E27FC236}">
                <a16:creationId xmlns:a16="http://schemas.microsoft.com/office/drawing/2014/main" id="{A3FCA090-0039-4E77-9CAE-994EB1DEC38C}"/>
              </a:ext>
            </a:extLst>
          </p:cNvPr>
          <p:cNvSpPr>
            <a:spLocks xmlns:a="http://schemas.openxmlformats.org/drawingml/2006/main" noGrp="1"/>
          </p:cNvSpPr>
          <p:nvPr/>
        </p:nvSpPr>
        <p:spPr>
          <a:xfrm xmlns:a="http://schemas.openxmlformats.org/drawingml/2006/main">
            <a:off x="990600" y="36576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testName | valueText | status | quote</a:t>
            </a:r>
          </a:p>
        </p:txBody>
      </p:sp>
      <p:sp>
        <p:nvSpPr>
          <p:cNvPr id="14" name="">
            <a:extLst xmlns:a="http://schemas.openxmlformats.org/drawingml/2006/main">
              <a:ext uri="{FF2B5EF4-FFF2-40B4-BE49-F238E27FC236}">
                <a16:creationId xmlns:a16="http://schemas.microsoft.com/office/drawing/2014/main" id="{656CA1F5-2F67-4B87-8DA6-42781493E35D}"/>
              </a:ext>
            </a:extLst>
          </p:cNvPr>
          <p:cNvSpPr>
            <a:spLocks xmlns:a="http://schemas.openxmlformats.org/drawingml/2006/main" noGrp="1"/>
          </p:cNvSpPr>
          <p:nvPr/>
        </p:nvSpPr>
        <p:spPr>
          <a:xfrm xmlns:a="http://schemas.openxmlformats.org/drawingml/2006/main">
            <a:off x="800100" y="4333875"/>
            <a:ext cx="85725" cy="85725"/>
          </a:xfrm>
          <a:prstGeom xmlns:a="http://schemas.openxmlformats.org/drawingml/2006/main" prst="ellipse">
            <a:avLst/>
          </a:prstGeom>
          <a:solidFill xmlns:a="http://schemas.openxmlformats.org/drawingml/2006/main">
            <a:srgbClr val="FBBF24"/>
          </a:solidFill>
          <a:ln xmlns:a="http://schemas.openxmlformats.org/drawingml/2006/main" w="0">
            <a:solidFill>
              <a:srgbClr val="FBBF24"/>
            </a:solidFill>
          </a:ln>
        </p:spPr>
      </p:sp>
      <p:sp>
        <p:nvSpPr>
          <p:cNvPr id="15" name="">
            <a:extLst xmlns:a="http://schemas.openxmlformats.org/drawingml/2006/main">
              <a:ext uri="{FF2B5EF4-FFF2-40B4-BE49-F238E27FC236}">
                <a16:creationId xmlns:a16="http://schemas.microsoft.com/office/drawing/2014/main" id="{3FACBEEA-7EA0-4E83-92BC-74BCB74A7456}"/>
              </a:ext>
            </a:extLst>
          </p:cNvPr>
          <p:cNvSpPr>
            <a:spLocks xmlns:a="http://schemas.openxmlformats.org/drawingml/2006/main" noGrp="1"/>
          </p:cNvSpPr>
          <p:nvPr/>
        </p:nvSpPr>
        <p:spPr>
          <a:xfrm xmlns:a="http://schemas.openxmlformats.org/drawingml/2006/main">
            <a:off x="990600" y="42862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i="0">
                <a:solidFill>
                  <a:srgbClr val="F8FAFC"/>
                </a:solidFill>
                <a:latin typeface="Arial"/>
                <a:ea typeface="Arial"/>
                <a:cs typeface="Arial"/>
              </a:defRPr>
            </a:pPr>
            <a:r>
              <a:rPr sz="1200" b="1" i="0">
                <a:solidFill>
                  <a:srgbClr val="F8FAFC"/>
                </a:solidFill>
                <a:latin typeface="Arial"/>
                <a:ea typeface="Arial"/>
                <a:cs typeface="Arial"/>
              </a:rPr>
              <a:t>Protected by default</a:t>
            </a:r>
          </a:p>
        </p:txBody>
      </p:sp>
      <p:sp>
        <p:nvSpPr>
          <p:cNvPr id="16" name="">
            <a:extLst xmlns:a="http://schemas.openxmlformats.org/drawingml/2006/main">
              <a:ext uri="{FF2B5EF4-FFF2-40B4-BE49-F238E27FC236}">
                <a16:creationId xmlns:a16="http://schemas.microsoft.com/office/drawing/2014/main" id="{DF8610E4-A8AB-477E-A2A2-1EC40C76E42F}"/>
              </a:ext>
            </a:extLst>
          </p:cNvPr>
          <p:cNvSpPr>
            <a:spLocks xmlns:a="http://schemas.openxmlformats.org/drawingml/2006/main" noGrp="1"/>
          </p:cNvSpPr>
          <p:nvPr/>
        </p:nvSpPr>
        <p:spPr>
          <a:xfrm xmlns:a="http://schemas.openxmlformats.org/drawingml/2006/main">
            <a:off x="990600" y="451485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Google sign-in, PostgreSQL row rules, and guest mode.</a:t>
            </a:r>
          </a:p>
        </p:txBody>
      </p:sp>
      <p:sp>
        <p:nvSpPr>
          <p:cNvPr id="17" name="">
            <a:extLst xmlns:a="http://schemas.openxmlformats.org/drawingml/2006/main">
              <a:ext uri="{FF2B5EF4-FFF2-40B4-BE49-F238E27FC236}">
                <a16:creationId xmlns:a16="http://schemas.microsoft.com/office/drawing/2014/main" id="{186A2EC8-56E4-4BD0-AEC1-757FBEB41836}"/>
              </a:ext>
            </a:extLst>
          </p:cNvPr>
          <p:cNvSpPr>
            <a:spLocks xmlns:a="http://schemas.openxmlformats.org/drawingml/2006/main" noGrp="1"/>
          </p:cNvSpPr>
          <p:nvPr/>
        </p:nvSpPr>
        <p:spPr>
          <a:xfrm xmlns:a="http://schemas.openxmlformats.org/drawingml/2006/main">
            <a:off x="800100" y="5162550"/>
            <a:ext cx="1657350" cy="266700"/>
          </a:xfrm>
          <a:prstGeom xmlns:a="http://schemas.openxmlformats.org/drawingml/2006/main" prst="roundRect">
            <a:avLst>
              <a:gd name="adj" fmla="val 50000"/>
            </a:avLst>
          </a:prstGeom>
          <a:solidFill xmlns:a="http://schemas.openxmlformats.org/drawingml/2006/main">
            <a:srgbClr val="182D4D"/>
          </a:solidFill>
          <a:ln xmlns:a="http://schemas.openxmlformats.org/drawingml/2006/main" w="9525">
            <a:solidFill>
              <a:srgbClr val="182D4D"/>
            </a:solidFill>
            <a:prstDash val="solid"/>
          </a:ln>
        </p:spPr>
      </p:sp>
      <p:sp>
        <p:nvSpPr>
          <p:cNvPr id="18" name="">
            <a:extLst xmlns:a="http://schemas.openxmlformats.org/drawingml/2006/main">
              <a:ext uri="{FF2B5EF4-FFF2-40B4-BE49-F238E27FC236}">
                <a16:creationId xmlns:a16="http://schemas.microsoft.com/office/drawing/2014/main" id="{14E42BE7-3F99-4A19-9C57-3B9DE69BD116}"/>
              </a:ext>
            </a:extLst>
          </p:cNvPr>
          <p:cNvSpPr>
            <a:spLocks xmlns:a="http://schemas.openxmlformats.org/drawingml/2006/main" noGrp="1"/>
          </p:cNvSpPr>
          <p:nvPr/>
        </p:nvSpPr>
        <p:spPr>
          <a:xfrm xmlns:a="http://schemas.openxmlformats.org/drawingml/2006/main">
            <a:off x="800100" y="5200650"/>
            <a:ext cx="1657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5EEAD4"/>
                </a:solidFill>
                <a:latin typeface="Arial"/>
                <a:ea typeface="Arial"/>
                <a:cs typeface="Arial"/>
              </a:defRPr>
            </a:pPr>
            <a:r>
              <a:rPr sz="900" b="1" i="0">
                <a:solidFill>
                  <a:srgbClr val="5EEAD4"/>
                </a:solidFill>
                <a:latin typeface="Arial"/>
                <a:ea typeface="Arial"/>
                <a:cs typeface="Arial"/>
              </a:rPr>
              <a:t>Tamper check ready</a:t>
            </a:r>
          </a:p>
        </p:txBody>
      </p:sp>
      <p:sp>
        <p:nvSpPr>
          <p:cNvPr id="19" name="">
            <a:extLst xmlns:a="http://schemas.openxmlformats.org/drawingml/2006/main">
              <a:ext uri="{FF2B5EF4-FFF2-40B4-BE49-F238E27FC236}">
                <a16:creationId xmlns:a16="http://schemas.microsoft.com/office/drawing/2014/main" id="{58639884-521F-4C86-A00D-71F53A4F679E}"/>
              </a:ext>
            </a:extLst>
          </p:cNvPr>
          <p:cNvSpPr>
            <a:spLocks xmlns:a="http://schemas.openxmlformats.org/drawingml/2006/main" noGrp="1"/>
          </p:cNvSpPr>
          <p:nvPr/>
        </p:nvSpPr>
        <p:spPr>
          <a:xfrm xmlns:a="http://schemas.openxmlformats.org/drawingml/2006/main">
            <a:off x="4953000" y="1790700"/>
            <a:ext cx="6286500" cy="3829050"/>
          </a:xfrm>
          <a:prstGeom xmlns:a="http://schemas.openxmlformats.org/drawingml/2006/main" prst="roundRect">
            <a:avLst>
              <a:gd name="adj" fmla="val 5473"/>
            </a:avLst>
          </a:prstGeom>
          <a:solidFill xmlns:a="http://schemas.openxmlformats.org/drawingml/2006/main">
            <a:srgbClr val="111D38"/>
          </a:solidFill>
          <a:ln xmlns:a="http://schemas.openxmlformats.org/drawingml/2006/main" w="9525">
            <a:solidFill>
              <a:srgbClr val="294262"/>
            </a:solidFill>
            <a:prstDash val="solid"/>
          </a:ln>
        </p:spPr>
      </p:sp>
      <p:sp>
        <p:nvSpPr>
          <p:cNvPr id="20" name="">
            <a:extLst xmlns:a="http://schemas.openxmlformats.org/drawingml/2006/main">
              <a:ext uri="{FF2B5EF4-FFF2-40B4-BE49-F238E27FC236}">
                <a16:creationId xmlns:a16="http://schemas.microsoft.com/office/drawing/2014/main" id="{B6C20457-3DFF-4218-B19A-30FF5050F973}"/>
              </a:ext>
            </a:extLst>
          </p:cNvPr>
          <p:cNvSpPr>
            <a:spLocks xmlns:a="http://schemas.openxmlformats.org/drawingml/2006/main" noGrp="1"/>
          </p:cNvSpPr>
          <p:nvPr/>
        </p:nvSpPr>
        <p:spPr>
          <a:xfrm xmlns:a="http://schemas.openxmlformats.org/drawingml/2006/main">
            <a:off x="5219700" y="207645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Doctor Brief</a:t>
            </a:r>
          </a:p>
        </p:txBody>
      </p:sp>
      <p:sp>
        <p:nvSpPr>
          <p:cNvPr id="21" name="">
            <a:extLst xmlns:a="http://schemas.openxmlformats.org/drawingml/2006/main">
              <a:ext uri="{FF2B5EF4-FFF2-40B4-BE49-F238E27FC236}">
                <a16:creationId xmlns:a16="http://schemas.microsoft.com/office/drawing/2014/main" id="{B190FF7A-585B-4EAF-AF44-6FF245D3202F}"/>
              </a:ext>
            </a:extLst>
          </p:cNvPr>
          <p:cNvSpPr>
            <a:spLocks xmlns:a="http://schemas.openxmlformats.org/drawingml/2006/main" noGrp="1"/>
          </p:cNvSpPr>
          <p:nvPr/>
        </p:nvSpPr>
        <p:spPr>
          <a:xfrm xmlns:a="http://schemas.openxmlformats.org/drawingml/2006/main">
            <a:off x="5219700" y="240030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A short handoff users can save or share</a:t>
            </a:r>
          </a:p>
        </p:txBody>
      </p:sp>
      <p:sp>
        <p:nvSpPr>
          <p:cNvPr id="22" name="">
            <a:extLst xmlns:a="http://schemas.openxmlformats.org/drawingml/2006/main">
              <a:ext uri="{FF2B5EF4-FFF2-40B4-BE49-F238E27FC236}">
                <a16:creationId xmlns:a16="http://schemas.microsoft.com/office/drawing/2014/main" id="{08C7E99E-05DE-40A5-A012-8D61A4A6865B}"/>
              </a:ext>
            </a:extLst>
          </p:cNvPr>
          <p:cNvSpPr>
            <a:spLocks xmlns:a="http://schemas.openxmlformats.org/drawingml/2006/main" noGrp="1"/>
          </p:cNvSpPr>
          <p:nvPr/>
        </p:nvSpPr>
        <p:spPr>
          <a:xfrm xmlns:a="http://schemas.openxmlformats.org/drawingml/2006/main">
            <a:off x="5219700" y="2857500"/>
            <a:ext cx="5657850" cy="533400"/>
          </a:xfrm>
          <a:prstGeom xmlns:a="http://schemas.openxmlformats.org/drawingml/2006/main" prst="roundRect">
            <a:avLst>
              <a:gd name="adj" fmla="val 25000"/>
            </a:avLst>
          </a:prstGeom>
          <a:solidFill xmlns:a="http://schemas.openxmlformats.org/drawingml/2006/main">
            <a:srgbClr val="142642"/>
          </a:solidFill>
          <a:ln xmlns:a="http://schemas.openxmlformats.org/drawingml/2006/main" w="9525">
            <a:solidFill>
              <a:srgbClr val="294262"/>
            </a:solidFill>
            <a:prstDash val="solid"/>
          </a:ln>
        </p:spPr>
      </p:sp>
      <p:sp>
        <p:nvSpPr>
          <p:cNvPr id="23" name="">
            <a:extLst xmlns:a="http://schemas.openxmlformats.org/drawingml/2006/main">
              <a:ext uri="{FF2B5EF4-FFF2-40B4-BE49-F238E27FC236}">
                <a16:creationId xmlns:a16="http://schemas.microsoft.com/office/drawing/2014/main" id="{FA6CC511-7627-4661-9F32-F205990080D9}"/>
              </a:ext>
            </a:extLst>
          </p:cNvPr>
          <p:cNvSpPr>
            <a:spLocks xmlns:a="http://schemas.openxmlformats.org/drawingml/2006/main" noGrp="1"/>
          </p:cNvSpPr>
          <p:nvPr/>
        </p:nvSpPr>
        <p:spPr>
          <a:xfrm xmlns:a="http://schemas.openxmlformats.org/drawingml/2006/main">
            <a:off x="5391150" y="30194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EEAD4"/>
                </a:solidFill>
                <a:latin typeface="Arial"/>
                <a:ea typeface="Arial"/>
                <a:cs typeface="Arial"/>
              </a:defRPr>
            </a:pPr>
            <a:r>
              <a:rPr sz="1050" b="1" i="0">
                <a:solidFill>
                  <a:srgbClr val="5EEAD4"/>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7FDCA419-69CA-4F67-959C-2D386E182E85}"/>
              </a:ext>
            </a:extLst>
          </p:cNvPr>
          <p:cNvSpPr>
            <a:spLocks xmlns:a="http://schemas.openxmlformats.org/drawingml/2006/main" noGrp="1"/>
          </p:cNvSpPr>
          <p:nvPr/>
        </p:nvSpPr>
        <p:spPr>
          <a:xfrm xmlns:a="http://schemas.openxmlformats.org/drawingml/2006/main">
            <a:off x="5867400" y="2962275"/>
            <a:ext cx="1790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Key results</a:t>
            </a:r>
          </a:p>
        </p:txBody>
      </p:sp>
      <p:sp>
        <p:nvSpPr>
          <p:cNvPr id="25" name="">
            <a:extLst xmlns:a="http://schemas.openxmlformats.org/drawingml/2006/main">
              <a:ext uri="{FF2B5EF4-FFF2-40B4-BE49-F238E27FC236}">
                <a16:creationId xmlns:a16="http://schemas.microsoft.com/office/drawing/2014/main" id="{F210E025-3509-4D1D-9F24-17896E561754}"/>
              </a:ext>
            </a:extLst>
          </p:cNvPr>
          <p:cNvSpPr>
            <a:spLocks xmlns:a="http://schemas.openxmlformats.org/drawingml/2006/main" noGrp="1"/>
          </p:cNvSpPr>
          <p:nvPr/>
        </p:nvSpPr>
        <p:spPr>
          <a:xfrm xmlns:a="http://schemas.openxmlformats.org/drawingml/2006/main">
            <a:off x="7715250" y="29622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Only the findings that need attention</a:t>
            </a:r>
          </a:p>
        </p:txBody>
      </p:sp>
      <p:sp>
        <p:nvSpPr>
          <p:cNvPr id="26" name="">
            <a:extLst xmlns:a="http://schemas.openxmlformats.org/drawingml/2006/main">
              <a:ext uri="{FF2B5EF4-FFF2-40B4-BE49-F238E27FC236}">
                <a16:creationId xmlns:a16="http://schemas.microsoft.com/office/drawing/2014/main" id="{589B17F4-96CC-4D4D-9F2D-6B30673ECBBE}"/>
              </a:ext>
            </a:extLst>
          </p:cNvPr>
          <p:cNvSpPr>
            <a:spLocks xmlns:a="http://schemas.openxmlformats.org/drawingml/2006/main" noGrp="1"/>
          </p:cNvSpPr>
          <p:nvPr/>
        </p:nvSpPr>
        <p:spPr>
          <a:xfrm xmlns:a="http://schemas.openxmlformats.org/drawingml/2006/main">
            <a:off x="5219700" y="3562350"/>
            <a:ext cx="5657850" cy="533400"/>
          </a:xfrm>
          <a:prstGeom xmlns:a="http://schemas.openxmlformats.org/drawingml/2006/main" prst="roundRect">
            <a:avLst>
              <a:gd name="adj" fmla="val 25000"/>
            </a:avLst>
          </a:prstGeom>
          <a:solidFill xmlns:a="http://schemas.openxmlformats.org/drawingml/2006/main">
            <a:srgbClr val="142642"/>
          </a:solidFill>
          <a:ln xmlns:a="http://schemas.openxmlformats.org/drawingml/2006/main" w="9525">
            <a:solidFill>
              <a:srgbClr val="294262"/>
            </a:solidFill>
            <a:prstDash val="solid"/>
          </a:ln>
        </p:spPr>
      </p:sp>
      <p:sp>
        <p:nvSpPr>
          <p:cNvPr id="27" name="">
            <a:extLst xmlns:a="http://schemas.openxmlformats.org/drawingml/2006/main">
              <a:ext uri="{FF2B5EF4-FFF2-40B4-BE49-F238E27FC236}">
                <a16:creationId xmlns:a16="http://schemas.microsoft.com/office/drawing/2014/main" id="{3CEA1FC0-7F6C-40C0-862D-C401CAE06090}"/>
              </a:ext>
            </a:extLst>
          </p:cNvPr>
          <p:cNvSpPr>
            <a:spLocks xmlns:a="http://schemas.openxmlformats.org/drawingml/2006/main" noGrp="1"/>
          </p:cNvSpPr>
          <p:nvPr/>
        </p:nvSpPr>
        <p:spPr>
          <a:xfrm xmlns:a="http://schemas.openxmlformats.org/drawingml/2006/main">
            <a:off x="5391150" y="372427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EEAD4"/>
                </a:solidFill>
                <a:latin typeface="Arial"/>
                <a:ea typeface="Arial"/>
                <a:cs typeface="Arial"/>
              </a:defRPr>
            </a:pPr>
            <a:r>
              <a:rPr sz="1050" b="1" i="0">
                <a:solidFill>
                  <a:srgbClr val="5EEAD4"/>
                </a:solidFill>
                <a:latin typeface="Arial"/>
                <a:ea typeface="Arial"/>
                <a:cs typeface="Arial"/>
              </a:rPr>
              <a:t>02</a:t>
            </a:r>
          </a:p>
        </p:txBody>
      </p:sp>
      <p:sp>
        <p:nvSpPr>
          <p:cNvPr id="28" name="">
            <a:extLst xmlns:a="http://schemas.openxmlformats.org/drawingml/2006/main">
              <a:ext uri="{FF2B5EF4-FFF2-40B4-BE49-F238E27FC236}">
                <a16:creationId xmlns:a16="http://schemas.microsoft.com/office/drawing/2014/main" id="{0DEC8B6D-8AD6-4021-B935-ED07BC7F2879}"/>
              </a:ext>
            </a:extLst>
          </p:cNvPr>
          <p:cNvSpPr>
            <a:spLocks xmlns:a="http://schemas.openxmlformats.org/drawingml/2006/main" noGrp="1"/>
          </p:cNvSpPr>
          <p:nvPr/>
        </p:nvSpPr>
        <p:spPr>
          <a:xfrm xmlns:a="http://schemas.openxmlformats.org/drawingml/2006/main">
            <a:off x="5867400" y="3667125"/>
            <a:ext cx="1790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Current medicines</a:t>
            </a:r>
          </a:p>
        </p:txBody>
      </p:sp>
      <p:sp>
        <p:nvSpPr>
          <p:cNvPr id="29" name="">
            <a:extLst xmlns:a="http://schemas.openxmlformats.org/drawingml/2006/main">
              <a:ext uri="{FF2B5EF4-FFF2-40B4-BE49-F238E27FC236}">
                <a16:creationId xmlns:a16="http://schemas.microsoft.com/office/drawing/2014/main" id="{09F0C89A-56A1-47D0-980F-0E94DAAE3E03}"/>
              </a:ext>
            </a:extLst>
          </p:cNvPr>
          <p:cNvSpPr>
            <a:spLocks xmlns:a="http://schemas.openxmlformats.org/drawingml/2006/main" noGrp="1"/>
          </p:cNvSpPr>
          <p:nvPr/>
        </p:nvSpPr>
        <p:spPr>
          <a:xfrm xmlns:a="http://schemas.openxmlformats.org/drawingml/2006/main">
            <a:off x="7715250" y="36671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Names, dose text, and interaction flags</a:t>
            </a:r>
          </a:p>
        </p:txBody>
      </p:sp>
      <p:sp>
        <p:nvSpPr>
          <p:cNvPr id="30" name="">
            <a:extLst xmlns:a="http://schemas.openxmlformats.org/drawingml/2006/main">
              <a:ext uri="{FF2B5EF4-FFF2-40B4-BE49-F238E27FC236}">
                <a16:creationId xmlns:a16="http://schemas.microsoft.com/office/drawing/2014/main" id="{09749801-2179-4CF6-8C69-C8BC24E87EEF}"/>
              </a:ext>
            </a:extLst>
          </p:cNvPr>
          <p:cNvSpPr>
            <a:spLocks xmlns:a="http://schemas.openxmlformats.org/drawingml/2006/main" noGrp="1"/>
          </p:cNvSpPr>
          <p:nvPr/>
        </p:nvSpPr>
        <p:spPr>
          <a:xfrm xmlns:a="http://schemas.openxmlformats.org/drawingml/2006/main">
            <a:off x="5219700" y="4267200"/>
            <a:ext cx="5657850" cy="533400"/>
          </a:xfrm>
          <a:prstGeom xmlns:a="http://schemas.openxmlformats.org/drawingml/2006/main" prst="roundRect">
            <a:avLst>
              <a:gd name="adj" fmla="val 25000"/>
            </a:avLst>
          </a:prstGeom>
          <a:solidFill xmlns:a="http://schemas.openxmlformats.org/drawingml/2006/main">
            <a:srgbClr val="142642"/>
          </a:solidFill>
          <a:ln xmlns:a="http://schemas.openxmlformats.org/drawingml/2006/main" w="9525">
            <a:solidFill>
              <a:srgbClr val="294262"/>
            </a:solidFill>
            <a:prstDash val="solid"/>
          </a:ln>
        </p:spPr>
      </p:sp>
      <p:sp>
        <p:nvSpPr>
          <p:cNvPr id="31" name="">
            <a:extLst xmlns:a="http://schemas.openxmlformats.org/drawingml/2006/main">
              <a:ext uri="{FF2B5EF4-FFF2-40B4-BE49-F238E27FC236}">
                <a16:creationId xmlns:a16="http://schemas.microsoft.com/office/drawing/2014/main" id="{92A22E93-3B5B-4D2C-BB0D-F515BB88973F}"/>
              </a:ext>
            </a:extLst>
          </p:cNvPr>
          <p:cNvSpPr>
            <a:spLocks xmlns:a="http://schemas.openxmlformats.org/drawingml/2006/main" noGrp="1"/>
          </p:cNvSpPr>
          <p:nvPr/>
        </p:nvSpPr>
        <p:spPr>
          <a:xfrm xmlns:a="http://schemas.openxmlformats.org/drawingml/2006/main">
            <a:off x="5391150" y="44291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5EEAD4"/>
                </a:solidFill>
                <a:latin typeface="Arial"/>
                <a:ea typeface="Arial"/>
                <a:cs typeface="Arial"/>
              </a:defRPr>
            </a:pPr>
            <a:r>
              <a:rPr sz="1050" b="1" i="0">
                <a:solidFill>
                  <a:srgbClr val="5EEAD4"/>
                </a:solidFill>
                <a:latin typeface="Arial"/>
                <a:ea typeface="Arial"/>
                <a:cs typeface="Arial"/>
              </a:rPr>
              <a:t>03</a:t>
            </a:r>
          </a:p>
        </p:txBody>
      </p:sp>
      <p:sp>
        <p:nvSpPr>
          <p:cNvPr id="32" name="">
            <a:extLst xmlns:a="http://schemas.openxmlformats.org/drawingml/2006/main">
              <a:ext uri="{FF2B5EF4-FFF2-40B4-BE49-F238E27FC236}">
                <a16:creationId xmlns:a16="http://schemas.microsoft.com/office/drawing/2014/main" id="{7C7EB523-48D7-4ECE-8895-191BEBA5A9D7}"/>
              </a:ext>
            </a:extLst>
          </p:cNvPr>
          <p:cNvSpPr>
            <a:spLocks xmlns:a="http://schemas.openxmlformats.org/drawingml/2006/main" noGrp="1"/>
          </p:cNvSpPr>
          <p:nvPr/>
        </p:nvSpPr>
        <p:spPr>
          <a:xfrm xmlns:a="http://schemas.openxmlformats.org/drawingml/2006/main">
            <a:off x="5867400" y="4371975"/>
            <a:ext cx="1790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Questions</a:t>
            </a:r>
          </a:p>
        </p:txBody>
      </p:sp>
      <p:sp>
        <p:nvSpPr>
          <p:cNvPr id="33" name="">
            <a:extLst xmlns:a="http://schemas.openxmlformats.org/drawingml/2006/main">
              <a:ext uri="{FF2B5EF4-FFF2-40B4-BE49-F238E27FC236}">
                <a16:creationId xmlns:a16="http://schemas.microsoft.com/office/drawing/2014/main" id="{55CEE605-0C92-45DB-9629-DF0236ED0790}"/>
              </a:ext>
            </a:extLst>
          </p:cNvPr>
          <p:cNvSpPr>
            <a:spLocks xmlns:a="http://schemas.openxmlformats.org/drawingml/2006/main" noGrp="1"/>
          </p:cNvSpPr>
          <p:nvPr/>
        </p:nvSpPr>
        <p:spPr>
          <a:xfrm xmlns:a="http://schemas.openxmlformats.org/drawingml/2006/main">
            <a:off x="7715250" y="437197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i="0">
                <a:solidFill>
                  <a:srgbClr val="94A3B8"/>
                </a:solidFill>
                <a:latin typeface="Arial"/>
                <a:ea typeface="Arial"/>
                <a:cs typeface="Arial"/>
              </a:defRPr>
            </a:pPr>
            <a:r>
              <a:rPr sz="975" b="0" i="0">
                <a:solidFill>
                  <a:srgbClr val="94A3B8"/>
                </a:solidFill>
                <a:latin typeface="Arial"/>
                <a:ea typeface="Arial"/>
                <a:cs typeface="Arial"/>
              </a:rPr>
              <a:t>Prompts for the next appointment</a:t>
            </a:r>
          </a:p>
        </p:txBody>
      </p:sp>
      <p:sp>
        <p:nvSpPr>
          <p:cNvPr id="34" name="">
            <a:extLst xmlns:a="http://schemas.openxmlformats.org/drawingml/2006/main">
              <a:ext uri="{FF2B5EF4-FFF2-40B4-BE49-F238E27FC236}">
                <a16:creationId xmlns:a16="http://schemas.microsoft.com/office/drawing/2014/main" id="{54B34785-324D-498B-ACA4-DAC103B4CFC3}"/>
              </a:ext>
            </a:extLst>
          </p:cNvPr>
          <p:cNvSpPr>
            <a:spLocks xmlns:a="http://schemas.openxmlformats.org/drawingml/2006/main" noGrp="1"/>
          </p:cNvSpPr>
          <p:nvPr/>
        </p:nvSpPr>
        <p:spPr>
          <a:xfrm xmlns:a="http://schemas.openxmlformats.org/drawingml/2006/main">
            <a:off x="5219700" y="5124450"/>
            <a:ext cx="1104900" cy="266700"/>
          </a:xfrm>
          <a:prstGeom xmlns:a="http://schemas.openxmlformats.org/drawingml/2006/main" prst="roundRect">
            <a:avLst>
              <a:gd name="adj" fmla="val 50000"/>
            </a:avLst>
          </a:prstGeom>
          <a:solidFill xmlns:a="http://schemas.openxmlformats.org/drawingml/2006/main">
            <a:srgbClr val="14B8A6"/>
          </a:solidFill>
          <a:ln xmlns:a="http://schemas.openxmlformats.org/drawingml/2006/main" w="9525">
            <a:solidFill>
              <a:srgbClr val="14B8A6"/>
            </a:solidFill>
            <a:prstDash val="solid"/>
          </a:ln>
        </p:spPr>
      </p:sp>
      <p:sp>
        <p:nvSpPr>
          <p:cNvPr id="35" name="">
            <a:extLst xmlns:a="http://schemas.openxmlformats.org/drawingml/2006/main">
              <a:ext uri="{FF2B5EF4-FFF2-40B4-BE49-F238E27FC236}">
                <a16:creationId xmlns:a16="http://schemas.microsoft.com/office/drawing/2014/main" id="{AB4CC1C4-A571-442B-A919-E5D5CDE302DF}"/>
              </a:ext>
            </a:extLst>
          </p:cNvPr>
          <p:cNvSpPr>
            <a:spLocks xmlns:a="http://schemas.openxmlformats.org/drawingml/2006/main" noGrp="1"/>
          </p:cNvSpPr>
          <p:nvPr/>
        </p:nvSpPr>
        <p:spPr>
          <a:xfrm xmlns:a="http://schemas.openxmlformats.org/drawingml/2006/main">
            <a:off x="5219700" y="5162550"/>
            <a:ext cx="1104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Export PDF</a:t>
            </a:r>
          </a:p>
        </p:txBody>
      </p:sp>
      <p:sp>
        <p:nvSpPr>
          <p:cNvPr id="36" name="">
            <a:extLst xmlns:a="http://schemas.openxmlformats.org/drawingml/2006/main">
              <a:ext uri="{FF2B5EF4-FFF2-40B4-BE49-F238E27FC236}">
                <a16:creationId xmlns:a16="http://schemas.microsoft.com/office/drawing/2014/main" id="{1D236349-591B-4A84-AA80-980DD0F86DF6}"/>
              </a:ext>
            </a:extLst>
          </p:cNvPr>
          <p:cNvSpPr>
            <a:spLocks xmlns:a="http://schemas.openxmlformats.org/drawingml/2006/main" noGrp="1"/>
          </p:cNvSpPr>
          <p:nvPr/>
        </p:nvSpPr>
        <p:spPr>
          <a:xfrm xmlns:a="http://schemas.openxmlformats.org/drawingml/2006/main">
            <a:off x="6438900" y="5124450"/>
            <a:ext cx="1238250" cy="266700"/>
          </a:xfrm>
          <a:prstGeom xmlns:a="http://schemas.openxmlformats.org/drawingml/2006/main" prst="roundRect">
            <a:avLst>
              <a:gd name="adj" fmla="val 50000"/>
            </a:avLst>
          </a:prstGeom>
          <a:solidFill xmlns:a="http://schemas.openxmlformats.org/drawingml/2006/main">
            <a:srgbClr val="182D4D"/>
          </a:solidFill>
          <a:ln xmlns:a="http://schemas.openxmlformats.org/drawingml/2006/main" w="9525">
            <a:solidFill>
              <a:srgbClr val="182D4D"/>
            </a:solidFill>
            <a:prstDash val="solid"/>
          </a:ln>
        </p:spPr>
      </p:sp>
      <p:sp>
        <p:nvSpPr>
          <p:cNvPr id="37" name="">
            <a:extLst xmlns:a="http://schemas.openxmlformats.org/drawingml/2006/main">
              <a:ext uri="{FF2B5EF4-FFF2-40B4-BE49-F238E27FC236}">
                <a16:creationId xmlns:a16="http://schemas.microsoft.com/office/drawing/2014/main" id="{4C7E0369-BEFB-4BF2-A308-DBB3444CDADE}"/>
              </a:ext>
            </a:extLst>
          </p:cNvPr>
          <p:cNvSpPr>
            <a:spLocks xmlns:a="http://schemas.openxmlformats.org/drawingml/2006/main" noGrp="1"/>
          </p:cNvSpPr>
          <p:nvPr/>
        </p:nvSpPr>
        <p:spPr>
          <a:xfrm xmlns:a="http://schemas.openxmlformats.org/drawingml/2006/main">
            <a:off x="6438900" y="5162550"/>
            <a:ext cx="1238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1" i="0">
                <a:solidFill>
                  <a:srgbClr val="5EEAD4"/>
                </a:solidFill>
                <a:latin typeface="Arial"/>
                <a:ea typeface="Arial"/>
                <a:cs typeface="Arial"/>
              </a:defRPr>
            </a:pPr>
            <a:r>
              <a:rPr sz="900" b="1" i="0">
                <a:solidFill>
                  <a:srgbClr val="5EEAD4"/>
                </a:solidFill>
                <a:latin typeface="Arial"/>
                <a:ea typeface="Arial"/>
                <a:cs typeface="Arial"/>
              </a:rPr>
              <a:t>Copy summary</a:t>
            </a:r>
          </a:p>
        </p:txBody>
      </p:sp>
      <p:sp>
        <p:nvSpPr>
          <p:cNvPr id="38" name="">
            <a:extLst xmlns:a="http://schemas.openxmlformats.org/drawingml/2006/main">
              <a:ext uri="{FF2B5EF4-FFF2-40B4-BE49-F238E27FC236}">
                <a16:creationId xmlns:a16="http://schemas.microsoft.com/office/drawing/2014/main" id="{55CC6BDB-4AA7-487A-87CF-D9F01BC89600}"/>
              </a:ext>
            </a:extLst>
          </p:cNvPr>
          <p:cNvSpPr>
            <a:spLocks xmlns:a="http://schemas.openxmlformats.org/drawingml/2006/main" noGrp="1"/>
          </p:cNvSpPr>
          <p:nvPr/>
        </p:nvSpPr>
        <p:spPr>
          <a:xfrm xmlns:a="http://schemas.openxmlformats.org/drawingml/2006/main">
            <a:off x="8020050" y="5153025"/>
            <a:ext cx="266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i="0">
                <a:solidFill>
                  <a:srgbClr val="5EEAD4"/>
                </a:solidFill>
                <a:latin typeface="Arial"/>
                <a:ea typeface="Arial"/>
                <a:cs typeface="Arial"/>
              </a:defRPr>
            </a:pPr>
            <a:r>
              <a:rPr sz="975" b="0" i="0">
                <a:solidFill>
                  <a:srgbClr val="5EEAD4"/>
                </a:solidFill>
                <a:latin typeface="Arial"/>
                <a:ea typeface="Arial"/>
                <a:cs typeface="Arial"/>
              </a:rPr>
              <a:t>Built for a calmer conversation with a clinician.</a:t>
            </a:r>
          </a:p>
        </p:txBody>
      </p:sp>
      <p:sp>
        <p:nvSpPr>
          <p:cNvPr id="39" name="">
            <a:extLst xmlns:a="http://schemas.openxmlformats.org/drawingml/2006/main">
              <a:ext uri="{FF2B5EF4-FFF2-40B4-BE49-F238E27FC236}">
                <a16:creationId xmlns:a16="http://schemas.microsoft.com/office/drawing/2014/main" id="{846AD517-DB83-40C4-BC50-C097135298B7}"/>
              </a:ext>
            </a:extLst>
          </p:cNvPr>
          <p:cNvSpPr>
            <a:spLocks xmlns:a="http://schemas.openxmlformats.org/drawingml/2006/main" noGrp="1"/>
          </p:cNvSpPr>
          <p:nvPr/>
        </p:nvSpPr>
        <p:spPr>
          <a:xfrm xmlns:a="http://schemas.openxmlformats.org/drawingml/2006/main">
            <a:off x="533400" y="645795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40" name="">
            <a:extLst xmlns:a="http://schemas.openxmlformats.org/drawingml/2006/main">
              <a:ext uri="{FF2B5EF4-FFF2-40B4-BE49-F238E27FC236}">
                <a16:creationId xmlns:a16="http://schemas.microsoft.com/office/drawing/2014/main" id="{A39A47BE-ACD1-4B59-8888-F6BC199BDC94}"/>
              </a:ext>
            </a:extLst>
          </p:cNvPr>
          <p:cNvSpPr>
            <a:spLocks xmlns:a="http://schemas.openxmlformats.org/drawingml/2006/main" noGrp="1"/>
          </p:cNvSpPr>
          <p:nvPr/>
        </p:nvSpPr>
        <p:spPr>
          <a:xfrm xmlns:a="http://schemas.openxmlformats.org/drawingml/2006/main">
            <a:off x="533400" y="65722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94A3B8"/>
                </a:solidFill>
                <a:latin typeface="Arial"/>
                <a:ea typeface="Arial"/>
                <a:cs typeface="Arial"/>
              </a:defRPr>
            </a:pPr>
            <a:r>
              <a:rPr sz="825" b="0" i="0">
                <a:solidFill>
                  <a:srgbClr val="94A3B8"/>
                </a:solidFill>
                <a:latin typeface="Arial"/>
                <a:ea typeface="Arial"/>
                <a:cs typeface="Arial"/>
              </a:rPr>
              <a:t>MediScan · AI medical report analyzer</a:t>
            </a:r>
          </a:p>
        </p:txBody>
      </p:sp>
    </p:spTree>
    <p:extLst>
      <p:ext uri="{BB962C8B-B14F-4D97-AF65-F5344CB8AC3E}">
        <p14:creationId xmlns:p14="http://schemas.microsoft.com/office/powerpoint/2010/main" val="1058667698"/>
      </p:ext>
    </p:extLst>
  </p:cSld>
</p:sld>
</file>

<file path=ppt/slides/slide7.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08A52D-3308-43ED-A652-2B36EA56F755}"/>
              </a:ext>
            </a:extLst>
          </p:cNvPr>
          <p:cNvSpPr>
            <a:spLocks xmlns:a="http://schemas.openxmlformats.org/drawingml/2006/main" noGrp="1"/>
          </p:cNvSpPr>
          <p:nvPr/>
        </p:nvSpPr>
        <p:spPr>
          <a:xfrm xmlns:a="http://schemas.openxmlformats.org/drawingml/2006/main">
            <a:off x="533400" y="2857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RELEASE CONFIDENCE</a:t>
            </a:r>
          </a:p>
        </p:txBody>
      </p:sp>
      <p:sp>
        <p:nvSpPr>
          <p:cNvPr id="2" name="">
            <a:extLst xmlns:a="http://schemas.openxmlformats.org/drawingml/2006/main">
              <a:ext uri="{FF2B5EF4-FFF2-40B4-BE49-F238E27FC236}">
                <a16:creationId xmlns:a16="http://schemas.microsoft.com/office/drawing/2014/main" id="{CD6AD3A7-DAE7-48C2-97F1-F1CFDF193378}"/>
              </a:ext>
            </a:extLst>
          </p:cNvPr>
          <p:cNvSpPr>
            <a:spLocks xmlns:a="http://schemas.openxmlformats.org/drawingml/2006/main" noGrp="1"/>
          </p:cNvSpPr>
          <p:nvPr/>
        </p:nvSpPr>
        <p:spPr>
          <a:xfrm xmlns:a="http://schemas.openxmlformats.org/drawingml/2006/main">
            <a:off x="533400" y="5524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8FAFC"/>
                </a:solidFill>
                <a:latin typeface="Arial"/>
                <a:ea typeface="Arial"/>
                <a:cs typeface="Arial"/>
              </a:defRPr>
            </a:pPr>
            <a:r>
              <a:rPr sz="2250" b="1" i="0">
                <a:solidFill>
                  <a:srgbClr val="F8FAFC"/>
                </a:solidFill>
                <a:latin typeface="Arial"/>
                <a:ea typeface="Arial"/>
                <a:cs typeface="Arial"/>
              </a:rPr>
              <a:t>Testing and quality</a:t>
            </a:r>
          </a:p>
        </p:txBody>
      </p:sp>
      <p:sp>
        <p:nvSpPr>
          <p:cNvPr id="3" name="">
            <a:extLst xmlns:a="http://schemas.openxmlformats.org/drawingml/2006/main">
              <a:ext uri="{FF2B5EF4-FFF2-40B4-BE49-F238E27FC236}">
                <a16:creationId xmlns:a16="http://schemas.microsoft.com/office/drawing/2014/main" id="{846B1C87-B891-4065-ABE4-78DE59F2EA2B}"/>
              </a:ext>
            </a:extLst>
          </p:cNvPr>
          <p:cNvSpPr>
            <a:spLocks xmlns:a="http://schemas.openxmlformats.org/drawingml/2006/main" noGrp="1"/>
          </p:cNvSpPr>
          <p:nvPr/>
        </p:nvSpPr>
        <p:spPr>
          <a:xfrm xmlns:a="http://schemas.openxmlformats.org/drawingml/2006/main">
            <a:off x="11144250" y="3238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94A3B8"/>
                </a:solidFill>
                <a:latin typeface="Arial"/>
                <a:ea typeface="Arial"/>
                <a:cs typeface="Arial"/>
              </a:defRPr>
            </a:pPr>
            <a:r>
              <a:rPr sz="1050" b="1" i="0">
                <a:solidFill>
                  <a:srgbClr val="94A3B8"/>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AE44029-7CEB-4881-8650-F5D1263F3C44}"/>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 name="">
            <a:extLst xmlns:a="http://schemas.openxmlformats.org/drawingml/2006/main">
              <a:ext uri="{FF2B5EF4-FFF2-40B4-BE49-F238E27FC236}">
                <a16:creationId xmlns:a16="http://schemas.microsoft.com/office/drawing/2014/main" id="{BD34C938-1B29-4767-BFB3-72A512163FD5}"/>
              </a:ext>
            </a:extLst>
          </p:cNvPr>
          <p:cNvSpPr>
            <a:spLocks xmlns:a="http://schemas.openxmlformats.org/drawingml/2006/main" noGrp="1"/>
          </p:cNvSpPr>
          <p:nvPr/>
        </p:nvSpPr>
        <p:spPr>
          <a:xfrm xmlns:a="http://schemas.openxmlformats.org/drawingml/2006/main">
            <a:off x="533400" y="1257300"/>
            <a:ext cx="819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The product is checked at the levels that matter to a health workflow.</a:t>
            </a:r>
          </a:p>
        </p:txBody>
      </p:sp>
      <p:sp>
        <p:nvSpPr>
          <p:cNvPr id="6" name="">
            <a:extLst xmlns:a="http://schemas.openxmlformats.org/drawingml/2006/main">
              <a:ext uri="{FF2B5EF4-FFF2-40B4-BE49-F238E27FC236}">
                <a16:creationId xmlns:a16="http://schemas.microsoft.com/office/drawing/2014/main" id="{08E5B334-EC8F-48F2-860E-8F3FCD77642F}"/>
              </a:ext>
            </a:extLst>
          </p:cNvPr>
          <p:cNvSpPr>
            <a:spLocks xmlns:a="http://schemas.openxmlformats.org/drawingml/2006/main" noGrp="1"/>
          </p:cNvSpPr>
          <p:nvPr/>
        </p:nvSpPr>
        <p:spPr>
          <a:xfrm xmlns:a="http://schemas.openxmlformats.org/drawingml/2006/main">
            <a:off x="533400" y="1790700"/>
            <a:ext cx="2286000" cy="990600"/>
          </a:xfrm>
          <a:prstGeom xmlns:a="http://schemas.openxmlformats.org/drawingml/2006/main" prst="roundRect">
            <a:avLst>
              <a:gd name="adj" fmla="val 17308"/>
            </a:avLst>
          </a:prstGeom>
          <a:solidFill xmlns:a="http://schemas.openxmlformats.org/drawingml/2006/main">
            <a:srgbClr val="111D38"/>
          </a:solidFill>
          <a:ln xmlns:a="http://schemas.openxmlformats.org/drawingml/2006/main" w="9525">
            <a:solidFill>
              <a:srgbClr val="294262"/>
            </a:solidFill>
            <a:prstDash val="solid"/>
          </a:ln>
        </p:spPr>
      </p:sp>
      <p:sp>
        <p:nvSpPr>
          <p:cNvPr id="7" name="">
            <a:extLst xmlns:a="http://schemas.openxmlformats.org/drawingml/2006/main">
              <a:ext uri="{FF2B5EF4-FFF2-40B4-BE49-F238E27FC236}">
                <a16:creationId xmlns:a16="http://schemas.microsoft.com/office/drawing/2014/main" id="{AF68611A-58AE-40FE-A188-B96A57CA6381}"/>
              </a:ext>
            </a:extLst>
          </p:cNvPr>
          <p:cNvSpPr>
            <a:spLocks xmlns:a="http://schemas.openxmlformats.org/drawingml/2006/main" noGrp="1"/>
          </p:cNvSpPr>
          <p:nvPr/>
        </p:nvSpPr>
        <p:spPr>
          <a:xfrm xmlns:a="http://schemas.openxmlformats.org/drawingml/2006/main">
            <a:off x="742950" y="1943100"/>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38BDF8"/>
                </a:solidFill>
                <a:latin typeface="Arial"/>
                <a:ea typeface="Arial"/>
                <a:cs typeface="Arial"/>
              </a:defRPr>
            </a:pPr>
            <a:r>
              <a:rPr sz="2550" b="1" i="0">
                <a:solidFill>
                  <a:srgbClr val="38BDF8"/>
                </a:solidFill>
                <a:latin typeface="Arial"/>
                <a:ea typeface="Arial"/>
                <a:cs typeface="Arial"/>
              </a:rPr>
              <a:t>19</a:t>
            </a:r>
          </a:p>
        </p:txBody>
      </p:sp>
      <p:sp>
        <p:nvSpPr>
          <p:cNvPr id="8" name="">
            <a:extLst xmlns:a="http://schemas.openxmlformats.org/drawingml/2006/main">
              <a:ext uri="{FF2B5EF4-FFF2-40B4-BE49-F238E27FC236}">
                <a16:creationId xmlns:a16="http://schemas.microsoft.com/office/drawing/2014/main" id="{2ACF0F81-1A5B-49DC-BA54-97A8A5829939}"/>
              </a:ext>
            </a:extLst>
          </p:cNvPr>
          <p:cNvSpPr>
            <a:spLocks xmlns:a="http://schemas.openxmlformats.org/drawingml/2006/main" noGrp="1"/>
          </p:cNvSpPr>
          <p:nvPr/>
        </p:nvSpPr>
        <p:spPr>
          <a:xfrm xmlns:a="http://schemas.openxmlformats.org/drawingml/2006/main">
            <a:off x="742950" y="2400300"/>
            <a:ext cx="1790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test suites</a:t>
            </a:r>
          </a:p>
        </p:txBody>
      </p:sp>
      <p:sp>
        <p:nvSpPr>
          <p:cNvPr id="9" name="">
            <a:extLst xmlns:a="http://schemas.openxmlformats.org/drawingml/2006/main">
              <a:ext uri="{FF2B5EF4-FFF2-40B4-BE49-F238E27FC236}">
                <a16:creationId xmlns:a16="http://schemas.microsoft.com/office/drawing/2014/main" id="{5613387F-1B41-4DA9-A934-32310CDFC2AE}"/>
              </a:ext>
            </a:extLst>
          </p:cNvPr>
          <p:cNvSpPr>
            <a:spLocks xmlns:a="http://schemas.openxmlformats.org/drawingml/2006/main" noGrp="1"/>
          </p:cNvSpPr>
          <p:nvPr/>
        </p:nvSpPr>
        <p:spPr>
          <a:xfrm xmlns:a="http://schemas.openxmlformats.org/drawingml/2006/main">
            <a:off x="3181350" y="1790700"/>
            <a:ext cx="2286000" cy="990600"/>
          </a:xfrm>
          <a:prstGeom xmlns:a="http://schemas.openxmlformats.org/drawingml/2006/main" prst="roundRect">
            <a:avLst>
              <a:gd name="adj" fmla="val 17308"/>
            </a:avLst>
          </a:prstGeom>
          <a:solidFill xmlns:a="http://schemas.openxmlformats.org/drawingml/2006/main">
            <a:srgbClr val="111D38"/>
          </a:solidFill>
          <a:ln xmlns:a="http://schemas.openxmlformats.org/drawingml/2006/main" w="9525">
            <a:solidFill>
              <a:srgbClr val="294262"/>
            </a:solidFill>
            <a:prstDash val="solid"/>
          </a:ln>
        </p:spPr>
      </p:sp>
      <p:sp>
        <p:nvSpPr>
          <p:cNvPr id="10" name="">
            <a:extLst xmlns:a="http://schemas.openxmlformats.org/drawingml/2006/main">
              <a:ext uri="{FF2B5EF4-FFF2-40B4-BE49-F238E27FC236}">
                <a16:creationId xmlns:a16="http://schemas.microsoft.com/office/drawing/2014/main" id="{85F6C4C2-3739-4820-9ECA-6D6C08D35852}"/>
              </a:ext>
            </a:extLst>
          </p:cNvPr>
          <p:cNvSpPr>
            <a:spLocks xmlns:a="http://schemas.openxmlformats.org/drawingml/2006/main" noGrp="1"/>
          </p:cNvSpPr>
          <p:nvPr/>
        </p:nvSpPr>
        <p:spPr>
          <a:xfrm xmlns:a="http://schemas.openxmlformats.org/drawingml/2006/main">
            <a:off x="3390900" y="1943100"/>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4B8A6"/>
                </a:solidFill>
                <a:latin typeface="Arial"/>
                <a:ea typeface="Arial"/>
                <a:cs typeface="Arial"/>
              </a:defRPr>
            </a:pPr>
            <a:r>
              <a:rPr sz="2550" b="1" i="0">
                <a:solidFill>
                  <a:srgbClr val="14B8A6"/>
                </a:solidFill>
                <a:latin typeface="Arial"/>
                <a:ea typeface="Arial"/>
                <a:cs typeface="Arial"/>
              </a:rPr>
              <a:t>201</a:t>
            </a:r>
          </a:p>
        </p:txBody>
      </p:sp>
      <p:sp>
        <p:nvSpPr>
          <p:cNvPr id="11" name="">
            <a:extLst xmlns:a="http://schemas.openxmlformats.org/drawingml/2006/main">
              <a:ext uri="{FF2B5EF4-FFF2-40B4-BE49-F238E27FC236}">
                <a16:creationId xmlns:a16="http://schemas.microsoft.com/office/drawing/2014/main" id="{3C279DA3-96C8-47BE-83B5-BD25DB3E9B17}"/>
              </a:ext>
            </a:extLst>
          </p:cNvPr>
          <p:cNvSpPr>
            <a:spLocks xmlns:a="http://schemas.openxmlformats.org/drawingml/2006/main" noGrp="1"/>
          </p:cNvSpPr>
          <p:nvPr/>
        </p:nvSpPr>
        <p:spPr>
          <a:xfrm xmlns:a="http://schemas.openxmlformats.org/drawingml/2006/main">
            <a:off x="3390900" y="2400300"/>
            <a:ext cx="1790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passing tests</a:t>
            </a:r>
          </a:p>
        </p:txBody>
      </p:sp>
      <p:sp>
        <p:nvSpPr>
          <p:cNvPr id="12" name="">
            <a:extLst xmlns:a="http://schemas.openxmlformats.org/drawingml/2006/main">
              <a:ext uri="{FF2B5EF4-FFF2-40B4-BE49-F238E27FC236}">
                <a16:creationId xmlns:a16="http://schemas.microsoft.com/office/drawing/2014/main" id="{18E3E4D6-EE12-4416-B0C5-D120C074803C}"/>
              </a:ext>
            </a:extLst>
          </p:cNvPr>
          <p:cNvSpPr>
            <a:spLocks xmlns:a="http://schemas.openxmlformats.org/drawingml/2006/main" noGrp="1"/>
          </p:cNvSpPr>
          <p:nvPr/>
        </p:nvSpPr>
        <p:spPr>
          <a:xfrm xmlns:a="http://schemas.openxmlformats.org/drawingml/2006/main">
            <a:off x="5829300" y="1790700"/>
            <a:ext cx="2286000" cy="990600"/>
          </a:xfrm>
          <a:prstGeom xmlns:a="http://schemas.openxmlformats.org/drawingml/2006/main" prst="roundRect">
            <a:avLst>
              <a:gd name="adj" fmla="val 17308"/>
            </a:avLst>
          </a:prstGeom>
          <a:solidFill xmlns:a="http://schemas.openxmlformats.org/drawingml/2006/main">
            <a:srgbClr val="111D38"/>
          </a:solidFill>
          <a:ln xmlns:a="http://schemas.openxmlformats.org/drawingml/2006/main" w="9525">
            <a:solidFill>
              <a:srgbClr val="294262"/>
            </a:solidFill>
            <a:prstDash val="solid"/>
          </a:ln>
        </p:spPr>
      </p:sp>
      <p:sp>
        <p:nvSpPr>
          <p:cNvPr id="13" name="">
            <a:extLst xmlns:a="http://schemas.openxmlformats.org/drawingml/2006/main">
              <a:ext uri="{FF2B5EF4-FFF2-40B4-BE49-F238E27FC236}">
                <a16:creationId xmlns:a16="http://schemas.microsoft.com/office/drawing/2014/main" id="{3B662F71-E471-41B7-B56A-31BCE97D66CD}"/>
              </a:ext>
            </a:extLst>
          </p:cNvPr>
          <p:cNvSpPr>
            <a:spLocks xmlns:a="http://schemas.openxmlformats.org/drawingml/2006/main" noGrp="1"/>
          </p:cNvSpPr>
          <p:nvPr/>
        </p:nvSpPr>
        <p:spPr>
          <a:xfrm xmlns:a="http://schemas.openxmlformats.org/drawingml/2006/main">
            <a:off x="6038850" y="1943100"/>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4ADE80"/>
                </a:solidFill>
                <a:latin typeface="Arial"/>
                <a:ea typeface="Arial"/>
                <a:cs typeface="Arial"/>
              </a:defRPr>
            </a:pPr>
            <a:r>
              <a:rPr sz="2550" b="1" i="0">
                <a:solidFill>
                  <a:srgbClr val="4ADE80"/>
                </a:solidFill>
                <a:latin typeface="Arial"/>
                <a:ea typeface="Arial"/>
                <a:cs typeface="Arial"/>
              </a:rPr>
              <a:t>0</a:t>
            </a:r>
          </a:p>
        </p:txBody>
      </p:sp>
      <p:sp>
        <p:nvSpPr>
          <p:cNvPr id="14" name="">
            <a:extLst xmlns:a="http://schemas.openxmlformats.org/drawingml/2006/main">
              <a:ext uri="{FF2B5EF4-FFF2-40B4-BE49-F238E27FC236}">
                <a16:creationId xmlns:a16="http://schemas.microsoft.com/office/drawing/2014/main" id="{053DAC27-F3F6-4820-B63A-0AC1F49CCA06}"/>
              </a:ext>
            </a:extLst>
          </p:cNvPr>
          <p:cNvSpPr>
            <a:spLocks xmlns:a="http://schemas.openxmlformats.org/drawingml/2006/main" noGrp="1"/>
          </p:cNvSpPr>
          <p:nvPr/>
        </p:nvSpPr>
        <p:spPr>
          <a:xfrm xmlns:a="http://schemas.openxmlformats.org/drawingml/2006/main">
            <a:off x="6038850" y="2400300"/>
            <a:ext cx="1790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TypeScript errors</a:t>
            </a:r>
          </a:p>
        </p:txBody>
      </p:sp>
      <p:sp>
        <p:nvSpPr>
          <p:cNvPr id="15" name="">
            <a:extLst xmlns:a="http://schemas.openxmlformats.org/drawingml/2006/main">
              <a:ext uri="{FF2B5EF4-FFF2-40B4-BE49-F238E27FC236}">
                <a16:creationId xmlns:a16="http://schemas.microsoft.com/office/drawing/2014/main" id="{707CA1E7-A230-48E6-A782-22C8194268E0}"/>
              </a:ext>
            </a:extLst>
          </p:cNvPr>
          <p:cNvSpPr>
            <a:spLocks xmlns:a="http://schemas.openxmlformats.org/drawingml/2006/main" noGrp="1"/>
          </p:cNvSpPr>
          <p:nvPr/>
        </p:nvSpPr>
        <p:spPr>
          <a:xfrm xmlns:a="http://schemas.openxmlformats.org/drawingml/2006/main">
            <a:off x="8477250" y="1790700"/>
            <a:ext cx="2286000" cy="990600"/>
          </a:xfrm>
          <a:prstGeom xmlns:a="http://schemas.openxmlformats.org/drawingml/2006/main" prst="roundRect">
            <a:avLst>
              <a:gd name="adj" fmla="val 17308"/>
            </a:avLst>
          </a:prstGeom>
          <a:solidFill xmlns:a="http://schemas.openxmlformats.org/drawingml/2006/main">
            <a:srgbClr val="111D38"/>
          </a:solidFill>
          <a:ln xmlns:a="http://schemas.openxmlformats.org/drawingml/2006/main" w="9525">
            <a:solidFill>
              <a:srgbClr val="294262"/>
            </a:solidFill>
            <a:prstDash val="solid"/>
          </a:ln>
        </p:spPr>
      </p:sp>
      <p:sp>
        <p:nvSpPr>
          <p:cNvPr id="16" name="">
            <a:extLst xmlns:a="http://schemas.openxmlformats.org/drawingml/2006/main">
              <a:ext uri="{FF2B5EF4-FFF2-40B4-BE49-F238E27FC236}">
                <a16:creationId xmlns:a16="http://schemas.microsoft.com/office/drawing/2014/main" id="{C4BF4D57-8FC6-4172-A4B4-987D448545B7}"/>
              </a:ext>
            </a:extLst>
          </p:cNvPr>
          <p:cNvSpPr>
            <a:spLocks xmlns:a="http://schemas.openxmlformats.org/drawingml/2006/main" noGrp="1"/>
          </p:cNvSpPr>
          <p:nvPr/>
        </p:nvSpPr>
        <p:spPr>
          <a:xfrm xmlns:a="http://schemas.openxmlformats.org/drawingml/2006/main">
            <a:off x="8686800" y="1943100"/>
            <a:ext cx="876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FBBF24"/>
                </a:solidFill>
                <a:latin typeface="Arial"/>
                <a:ea typeface="Arial"/>
                <a:cs typeface="Arial"/>
              </a:defRPr>
            </a:pPr>
            <a:r>
              <a:rPr sz="2550" b="1" i="0">
                <a:solidFill>
                  <a:srgbClr val="FBBF24"/>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378229BD-2F0C-4C9F-9F2F-423AEAAD4B73}"/>
              </a:ext>
            </a:extLst>
          </p:cNvPr>
          <p:cNvSpPr>
            <a:spLocks xmlns:a="http://schemas.openxmlformats.org/drawingml/2006/main" noGrp="1"/>
          </p:cNvSpPr>
          <p:nvPr/>
        </p:nvSpPr>
        <p:spPr>
          <a:xfrm xmlns:a="http://schemas.openxmlformats.org/drawingml/2006/main">
            <a:off x="8686800" y="2400300"/>
            <a:ext cx="1790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i="0">
                <a:solidFill>
                  <a:srgbClr val="94A3B8"/>
                </a:solidFill>
                <a:latin typeface="Arial"/>
                <a:ea typeface="Arial"/>
                <a:cs typeface="Arial"/>
              </a:defRPr>
            </a:pPr>
            <a:r>
              <a:rPr sz="1050" b="0" i="0">
                <a:solidFill>
                  <a:srgbClr val="94A3B8"/>
                </a:solidFill>
                <a:latin typeface="Arial"/>
                <a:ea typeface="Arial"/>
                <a:cs typeface="Arial"/>
              </a:rPr>
              <a:t>clean production build</a:t>
            </a:r>
          </a:p>
        </p:txBody>
      </p:sp>
      <p:sp>
        <p:nvSpPr>
          <p:cNvPr id="18" name="">
            <a:extLst xmlns:a="http://schemas.openxmlformats.org/drawingml/2006/main">
              <a:ext uri="{FF2B5EF4-FFF2-40B4-BE49-F238E27FC236}">
                <a16:creationId xmlns:a16="http://schemas.microsoft.com/office/drawing/2014/main" id="{71A610FC-835F-4BE2-B263-F93A00C9FAF4}"/>
              </a:ext>
            </a:extLst>
          </p:cNvPr>
          <p:cNvSpPr>
            <a:spLocks xmlns:a="http://schemas.openxmlformats.org/drawingml/2006/main" noGrp="1"/>
          </p:cNvSpPr>
          <p:nvPr/>
        </p:nvSpPr>
        <p:spPr>
          <a:xfrm xmlns:a="http://schemas.openxmlformats.org/drawingml/2006/main">
            <a:off x="533400" y="31242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F8FAFC"/>
                </a:solidFill>
                <a:latin typeface="Arial"/>
                <a:ea typeface="Arial"/>
                <a:cs typeface="Arial"/>
              </a:defRPr>
            </a:pPr>
            <a:r>
              <a:rPr sz="1350" b="1" i="0">
                <a:solidFill>
                  <a:srgbClr val="F8FAFC"/>
                </a:solidFill>
                <a:latin typeface="Arial"/>
                <a:ea typeface="Arial"/>
                <a:cs typeface="Arial"/>
              </a:rPr>
              <a:t>Editable test coverage map</a:t>
            </a:r>
          </a:p>
        </p:txBody>
      </p:sp>
      <p:graphicFrame>
        <p:nvGraphicFramePr>
          <p:cNvPr id="40" name=""/>
          <p:cNvGraphicFramePr/>
          <p:nvPr/>
        </p:nvGraphicFramePr>
        <p:xfrm>
          <a:off xmlns:a="http://schemas.openxmlformats.org/drawingml/2006/main" x="533400" y="3467100"/>
          <a:ext xmlns:a="http://schemas.openxmlformats.org/drawingml/2006/main" cx="10706100" cy="2324100"/>
        </p:xfrm>
        <a:graphic xmlns:a="http://schemas.openxmlformats.org/drawingml/2006/main">
          <a:graphicData uri="http://schemas.openxmlformats.org/drawingml/2006/table">
            <a:tbl>
              <a:tblPr/>
              <a:tblGrid>
                <a:gridCol w="2476500"/>
                <a:gridCol w="2857500"/>
                <a:gridCol w="3048000"/>
                <a:gridCol w="2324100"/>
              </a:tblGrid>
              <a:tr h="387350">
                <a:tc>
                  <a:txBody>
                    <a:bodyPr/>
                    <a:lstStyle/>
                    <a:p>
                      <a:r>
                        <a:rPr sz="900" b="1">
                          <a:solidFill>
                            <a:srgbClr val="5EEAD4"/>
                          </a:solidFill>
                        </a:rPr>
                        <a:t>Suite</a:t>
                      </a:r>
                    </a:p>
                  </a:txBody>
                  <a:tcPr marL="91440" marR="91440" marT="45720" marB="45720">
                    <a:solidFill>
                      <a:srgbClr val="182D4D"/>
                    </a:solidFill>
                  </a:tcPr>
                </a:tc>
                <a:tc>
                  <a:txBody>
                    <a:bodyPr/>
                    <a:lstStyle/>
                    <a:p>
                      <a:r>
                        <a:rPr sz="900" b="1">
                          <a:solidFill>
                            <a:srgbClr val="5EEAD4"/>
                          </a:solidFill>
                        </a:rPr>
                        <a:t>What it checks</a:t>
                      </a:r>
                    </a:p>
                  </a:txBody>
                  <a:tcPr marL="91440" marR="91440" marT="45720" marB="45720">
                    <a:solidFill>
                      <a:srgbClr val="182D4D"/>
                    </a:solidFill>
                  </a:tcPr>
                </a:tc>
                <a:tc>
                  <a:txBody>
                    <a:bodyPr/>
                    <a:lstStyle/>
                    <a:p>
                      <a:r>
                        <a:rPr sz="900" b="1">
                          <a:solidFill>
                            <a:srgbClr val="5EEAD4"/>
                          </a:solidFill>
                        </a:rPr>
                        <a:t>Example</a:t>
                      </a:r>
                    </a:p>
                  </a:txBody>
                  <a:tcPr marL="91440" marR="91440" marT="45720" marB="45720">
                    <a:solidFill>
                      <a:srgbClr val="182D4D"/>
                    </a:solidFill>
                  </a:tcPr>
                </a:tc>
                <a:tc>
                  <a:txBody>
                    <a:bodyPr/>
                    <a:lstStyle/>
                    <a:p>
                      <a:r>
                        <a:rPr sz="900" b="1">
                          <a:solidFill>
                            <a:srgbClr val="5EEAD4"/>
                          </a:solidFill>
                        </a:rPr>
                        <a:t>Result</a:t>
                      </a:r>
                    </a:p>
                  </a:txBody>
                  <a:tcPr marL="91440" marR="91440" marT="45720" marB="45720">
                    <a:solidFill>
                      <a:srgbClr val="182D4D"/>
                    </a:solidFill>
                  </a:tcPr>
                </a:tc>
              </a:tr>
              <a:tr h="387350">
                <a:tc>
                  <a:txBody>
                    <a:bodyPr/>
                    <a:lstStyle/>
                    <a:p>
                      <a:r>
                        <a:rPr sz="900" b="0">
                          <a:solidFill>
                            <a:srgbClr val="F8FAFC"/>
                          </a:solidFill>
                        </a:rPr>
                        <a:t>Report education</a:t>
                      </a:r>
                    </a:p>
                  </a:txBody>
                  <a:tcPr marL="91440" marR="91440" marT="45720" marB="45720">
                    <a:solidFill>
                      <a:srgbClr val="142642"/>
                    </a:solidFill>
                  </a:tcPr>
                </a:tc>
                <a:tc>
                  <a:txBody>
                    <a:bodyPr/>
                    <a:lstStyle/>
                    <a:p>
                      <a:r>
                        <a:rPr sz="900" b="0">
                          <a:solidFill>
                            <a:srgbClr val="F8FAFC"/>
                          </a:solidFill>
                        </a:rPr>
                        <a:t>Plain meaning and next step</a:t>
                      </a:r>
                    </a:p>
                  </a:txBody>
                  <a:tcPr marL="91440" marR="91440" marT="45720" marB="45720">
                    <a:solidFill>
                      <a:srgbClr val="142642"/>
                    </a:solidFill>
                  </a:tcPr>
                </a:tc>
                <a:tc>
                  <a:txBody>
                    <a:bodyPr/>
                    <a:lstStyle/>
                    <a:p>
                      <a:r>
                        <a:rPr sz="900" b="0">
                          <a:solidFill>
                            <a:srgbClr val="F8FAFC"/>
                          </a:solidFill>
                        </a:rPr>
                        <a:t>CBC, glucose, kidney</a:t>
                      </a:r>
                    </a:p>
                  </a:txBody>
                  <a:tcPr marL="91440" marR="91440" marT="45720" marB="45720">
                    <a:solidFill>
                      <a:srgbClr val="142642"/>
                    </a:solidFill>
                  </a:tcPr>
                </a:tc>
                <a:tc>
                  <a:txBody>
                    <a:bodyPr/>
                    <a:lstStyle/>
                    <a:p>
                      <a:r>
                        <a:rPr sz="900" b="1">
                          <a:solidFill>
                            <a:srgbClr val="4ADE80"/>
                          </a:solidFill>
                        </a:rPr>
                        <a:t>PASS</a:t>
                      </a:r>
                    </a:p>
                  </a:txBody>
                  <a:tcPr marL="91440" marR="91440" marT="45720" marB="45720">
                    <a:solidFill>
                      <a:srgbClr val="133A35"/>
                    </a:solidFill>
                  </a:tcPr>
                </a:tc>
              </a:tr>
              <a:tr h="387350">
                <a:tc>
                  <a:txBody>
                    <a:bodyPr/>
                    <a:lstStyle/>
                    <a:p>
                      <a:r>
                        <a:rPr sz="900" b="0">
                          <a:solidFill>
                            <a:srgbClr val="F8FAFC"/>
                          </a:solidFill>
                        </a:rPr>
                        <a:t>Patient findings</a:t>
                      </a:r>
                    </a:p>
                  </a:txBody>
                  <a:tcPr marL="91440" marR="91440" marT="45720" marB="45720">
                    <a:solidFill>
                      <a:srgbClr val="111D38"/>
                    </a:solidFill>
                  </a:tcPr>
                </a:tc>
                <a:tc>
                  <a:txBody>
                    <a:bodyPr/>
                    <a:lstStyle/>
                    <a:p>
                      <a:r>
                        <a:rPr sz="900" b="0">
                          <a:solidFill>
                            <a:srgbClr val="F8FAFC"/>
                          </a:solidFill>
                        </a:rPr>
                        <a:t>Filters, cards, help states</a:t>
                      </a:r>
                    </a:p>
                  </a:txBody>
                  <a:tcPr marL="91440" marR="91440" marT="45720" marB="45720">
                    <a:solidFill>
                      <a:srgbClr val="111D38"/>
                    </a:solidFill>
                  </a:tcPr>
                </a:tc>
                <a:tc>
                  <a:txBody>
                    <a:bodyPr/>
                    <a:lstStyle/>
                    <a:p>
                      <a:r>
                        <a:rPr sz="900" b="0">
                          <a:solidFill>
                            <a:srgbClr val="F8FAFC"/>
                          </a:solidFill>
                        </a:rPr>
                        <a:t>At-a-glance view</a:t>
                      </a:r>
                    </a:p>
                  </a:txBody>
                  <a:tcPr marL="91440" marR="91440" marT="45720" marB="45720">
                    <a:solidFill>
                      <a:srgbClr val="111D38"/>
                    </a:solidFill>
                  </a:tcPr>
                </a:tc>
                <a:tc>
                  <a:txBody>
                    <a:bodyPr/>
                    <a:lstStyle/>
                    <a:p>
                      <a:r>
                        <a:rPr sz="900" b="1">
                          <a:solidFill>
                            <a:srgbClr val="4ADE80"/>
                          </a:solidFill>
                        </a:rPr>
                        <a:t>PASS</a:t>
                      </a:r>
                    </a:p>
                  </a:txBody>
                  <a:tcPr marL="91440" marR="91440" marT="45720" marB="45720">
                    <a:solidFill>
                      <a:srgbClr val="133A35"/>
                    </a:solidFill>
                  </a:tcPr>
                </a:tc>
              </a:tr>
              <a:tr h="387350">
                <a:tc>
                  <a:txBody>
                    <a:bodyPr/>
                    <a:lstStyle/>
                    <a:p>
                      <a:r>
                        <a:rPr sz="900" b="0">
                          <a:solidFill>
                            <a:srgbClr val="F8FAFC"/>
                          </a:solidFill>
                        </a:rPr>
                        <a:t>Medicine monograph</a:t>
                      </a:r>
                    </a:p>
                  </a:txBody>
                  <a:tcPr marL="91440" marR="91440" marT="45720" marB="45720">
                    <a:solidFill>
                      <a:srgbClr val="142642"/>
                    </a:solidFill>
                  </a:tcPr>
                </a:tc>
                <a:tc>
                  <a:txBody>
                    <a:bodyPr/>
                    <a:lstStyle/>
                    <a:p>
                      <a:r>
                        <a:rPr sz="900" b="0">
                          <a:solidFill>
                            <a:srgbClr val="F8FAFC"/>
                          </a:solidFill>
                        </a:rPr>
                        <a:t>Plain and technical modes</a:t>
                      </a:r>
                    </a:p>
                  </a:txBody>
                  <a:tcPr marL="91440" marR="91440" marT="45720" marB="45720">
                    <a:solidFill>
                      <a:srgbClr val="142642"/>
                    </a:solidFill>
                  </a:tcPr>
                </a:tc>
                <a:tc>
                  <a:txBody>
                    <a:bodyPr/>
                    <a:lstStyle/>
                    <a:p>
                      <a:r>
                        <a:rPr sz="900" b="0">
                          <a:solidFill>
                            <a:srgbClr val="F8FAFC"/>
                          </a:solidFill>
                        </a:rPr>
                        <a:t>Warnings and sources</a:t>
                      </a:r>
                    </a:p>
                  </a:txBody>
                  <a:tcPr marL="91440" marR="91440" marT="45720" marB="45720">
                    <a:solidFill>
                      <a:srgbClr val="142642"/>
                    </a:solidFill>
                  </a:tcPr>
                </a:tc>
                <a:tc>
                  <a:txBody>
                    <a:bodyPr/>
                    <a:lstStyle/>
                    <a:p>
                      <a:r>
                        <a:rPr sz="900" b="1">
                          <a:solidFill>
                            <a:srgbClr val="4ADE80"/>
                          </a:solidFill>
                        </a:rPr>
                        <a:t>PASS</a:t>
                      </a:r>
                    </a:p>
                  </a:txBody>
                  <a:tcPr marL="91440" marR="91440" marT="45720" marB="45720">
                    <a:solidFill>
                      <a:srgbClr val="133A35"/>
                    </a:solidFill>
                  </a:tcPr>
                </a:tc>
              </a:tr>
              <a:tr h="387350">
                <a:tc>
                  <a:txBody>
                    <a:bodyPr/>
                    <a:lstStyle/>
                    <a:p>
                      <a:r>
                        <a:rPr sz="900" b="0">
                          <a:solidFill>
                            <a:srgbClr val="F8FAFC"/>
                          </a:solidFill>
                        </a:rPr>
                        <a:t>History and demo</a:t>
                      </a:r>
                    </a:p>
                  </a:txBody>
                  <a:tcPr marL="91440" marR="91440" marT="45720" marB="45720">
                    <a:solidFill>
                      <a:srgbClr val="111D38"/>
                    </a:solidFill>
                  </a:tcPr>
                </a:tc>
                <a:tc>
                  <a:txBody>
                    <a:bodyPr/>
                    <a:lstStyle/>
                    <a:p>
                      <a:r>
                        <a:rPr sz="900" b="0">
                          <a:solidFill>
                            <a:srgbClr val="F8FAFC"/>
                          </a:solidFill>
                        </a:rPr>
                        <a:t>Saved report and guest flow</a:t>
                      </a:r>
                    </a:p>
                  </a:txBody>
                  <a:tcPr marL="91440" marR="91440" marT="45720" marB="45720">
                    <a:solidFill>
                      <a:srgbClr val="111D38"/>
                    </a:solidFill>
                  </a:tcPr>
                </a:tc>
                <a:tc>
                  <a:txBody>
                    <a:bodyPr/>
                    <a:lstStyle/>
                    <a:p>
                      <a:r>
                        <a:rPr sz="900" b="0">
                          <a:solidFill>
                            <a:srgbClr val="F8FAFC"/>
                          </a:solidFill>
                        </a:rPr>
                        <a:t>ResultView wiring</a:t>
                      </a:r>
                    </a:p>
                  </a:txBody>
                  <a:tcPr marL="91440" marR="91440" marT="45720" marB="45720">
                    <a:solidFill>
                      <a:srgbClr val="111D38"/>
                    </a:solidFill>
                  </a:tcPr>
                </a:tc>
                <a:tc>
                  <a:txBody>
                    <a:bodyPr/>
                    <a:lstStyle/>
                    <a:p>
                      <a:r>
                        <a:rPr sz="900" b="1">
                          <a:solidFill>
                            <a:srgbClr val="4ADE80"/>
                          </a:solidFill>
                        </a:rPr>
                        <a:t>PASS</a:t>
                      </a:r>
                    </a:p>
                  </a:txBody>
                  <a:tcPr marL="91440" marR="91440" marT="45720" marB="45720">
                    <a:solidFill>
                      <a:srgbClr val="133A35"/>
                    </a:solidFill>
                  </a:tcPr>
                </a:tc>
              </a:tr>
              <a:tr h="387350">
                <a:tc>
                  <a:txBody>
                    <a:bodyPr/>
                    <a:lstStyle/>
                    <a:p>
                      <a:r>
                        <a:rPr sz="900" b="0">
                          <a:solidFill>
                            <a:srgbClr val="F8FAFC"/>
                          </a:solidFill>
                        </a:rPr>
                        <a:t>Build checks</a:t>
                      </a:r>
                    </a:p>
                  </a:txBody>
                  <a:tcPr marL="91440" marR="91440" marT="45720" marB="45720">
                    <a:solidFill>
                      <a:srgbClr val="142642"/>
                    </a:solidFill>
                  </a:tcPr>
                </a:tc>
                <a:tc>
                  <a:txBody>
                    <a:bodyPr/>
                    <a:lstStyle/>
                    <a:p>
                      <a:r>
                        <a:rPr sz="900" b="0">
                          <a:solidFill>
                            <a:srgbClr val="F8FAFC"/>
                          </a:solidFill>
                        </a:rPr>
                        <a:t>Types and production bundle</a:t>
                      </a:r>
                    </a:p>
                  </a:txBody>
                  <a:tcPr marL="91440" marR="91440" marT="45720" marB="45720">
                    <a:solidFill>
                      <a:srgbClr val="142642"/>
                    </a:solidFill>
                  </a:tcPr>
                </a:tc>
                <a:tc>
                  <a:txBody>
                    <a:bodyPr/>
                    <a:lstStyle/>
                    <a:p>
                      <a:r>
                        <a:rPr sz="900" b="0">
                          <a:solidFill>
                            <a:srgbClr val="F8FAFC"/>
                          </a:solidFill>
                        </a:rPr>
                        <a:t>tsc + Vite build</a:t>
                      </a:r>
                    </a:p>
                  </a:txBody>
                  <a:tcPr marL="91440" marR="91440" marT="45720" marB="45720">
                    <a:solidFill>
                      <a:srgbClr val="142642"/>
                    </a:solidFill>
                  </a:tcPr>
                </a:tc>
                <a:tc>
                  <a:txBody>
                    <a:bodyPr/>
                    <a:lstStyle/>
                    <a:p>
                      <a:r>
                        <a:rPr sz="900" b="1">
                          <a:solidFill>
                            <a:srgbClr val="4ADE80"/>
                          </a:solidFill>
                        </a:rPr>
                        <a:t>PASS</a:t>
                      </a:r>
                    </a:p>
                  </a:txBody>
                  <a:tcPr marL="91440" marR="91440" marT="45720" marB="45720">
                    <a:solidFill>
                      <a:srgbClr val="133A35"/>
                    </a:solidFill>
                  </a:tcPr>
                </a:tc>
              </a:tr>
            </a:tbl>
          </a:graphicData>
        </a:graphic>
      </p:graphicFrame>
      <p:sp>
        <p:nvSpPr>
          <p:cNvPr id="20" name="">
            <a:extLst xmlns:a="http://schemas.openxmlformats.org/drawingml/2006/main">
              <a:ext uri="{FF2B5EF4-FFF2-40B4-BE49-F238E27FC236}">
                <a16:creationId xmlns:a16="http://schemas.microsoft.com/office/drawing/2014/main" id="{09191BB0-AEEC-4F57-8F6A-3FC98184B575}"/>
              </a:ext>
            </a:extLst>
          </p:cNvPr>
          <p:cNvSpPr>
            <a:spLocks xmlns:a="http://schemas.openxmlformats.org/drawingml/2006/main" noGrp="1"/>
          </p:cNvSpPr>
          <p:nvPr/>
        </p:nvSpPr>
        <p:spPr>
          <a:xfrm xmlns:a="http://schemas.openxmlformats.org/drawingml/2006/main">
            <a:off x="533400" y="645795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21" name="">
            <a:extLst xmlns:a="http://schemas.openxmlformats.org/drawingml/2006/main">
              <a:ext uri="{FF2B5EF4-FFF2-40B4-BE49-F238E27FC236}">
                <a16:creationId xmlns:a16="http://schemas.microsoft.com/office/drawing/2014/main" id="{093FBBFF-81E2-4744-92D3-79EA213C82F3}"/>
              </a:ext>
            </a:extLst>
          </p:cNvPr>
          <p:cNvSpPr>
            <a:spLocks xmlns:a="http://schemas.openxmlformats.org/drawingml/2006/main" noGrp="1"/>
          </p:cNvSpPr>
          <p:nvPr/>
        </p:nvSpPr>
        <p:spPr>
          <a:xfrm xmlns:a="http://schemas.openxmlformats.org/drawingml/2006/main">
            <a:off x="533400" y="65722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94A3B8"/>
                </a:solidFill>
                <a:latin typeface="Arial"/>
                <a:ea typeface="Arial"/>
                <a:cs typeface="Arial"/>
              </a:defRPr>
            </a:pPr>
            <a:r>
              <a:rPr sz="825" b="0" i="0">
                <a:solidFill>
                  <a:srgbClr val="94A3B8"/>
                </a:solidFill>
                <a:latin typeface="Arial"/>
                <a:ea typeface="Arial"/>
                <a:cs typeface="Arial"/>
              </a:rPr>
              <a:t>MediScan · AI medical report analyzer</a:t>
            </a:r>
          </a:p>
        </p:txBody>
      </p:sp>
    </p:spTree>
    <p:extLst>
      <p:ext uri="{BB962C8B-B14F-4D97-AF65-F5344CB8AC3E}">
        <p14:creationId xmlns:p14="http://schemas.microsoft.com/office/powerpoint/2010/main" val="632585548"/>
      </p:ext>
    </p:extLst>
  </p:cSld>
</p:sld>
</file>

<file path=ppt/slides/slide8.xml><?xml version="1.0" encoding="utf-8"?>
<p:sld xmlns:p="http://schemas.openxmlformats.org/presentationml/2006/main">
  <p:cSld>
    <p:bg>
      <p:bgPr>
        <a:solidFill xmlns:a="http://schemas.openxmlformats.org/drawingml/2006/main">
          <a:srgbClr val="0B132B"/>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F029272-69BF-43F2-9D26-C3B01DD1808D}"/>
              </a:ext>
            </a:extLst>
          </p:cNvPr>
          <p:cNvSpPr>
            <a:spLocks xmlns:a="http://schemas.openxmlformats.org/drawingml/2006/main" noGrp="1"/>
          </p:cNvSpPr>
          <p:nvPr/>
        </p:nvSpPr>
        <p:spPr>
          <a:xfrm xmlns:a="http://schemas.openxmlformats.org/drawingml/2006/main">
            <a:off x="533400" y="285750"/>
            <a:ext cx="1524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i="0">
                <a:solidFill>
                  <a:srgbClr val="5EEAD4"/>
                </a:solidFill>
                <a:latin typeface="Arial"/>
                <a:ea typeface="Arial"/>
                <a:cs typeface="Arial"/>
              </a:defRPr>
            </a:pPr>
            <a:r>
              <a:rPr sz="900" b="1" i="0">
                <a:solidFill>
                  <a:srgbClr val="5EEAD4"/>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45A40244-8CFE-4724-B5E3-03F4DF5D25E4}"/>
              </a:ext>
            </a:extLst>
          </p:cNvPr>
          <p:cNvSpPr>
            <a:spLocks xmlns:a="http://schemas.openxmlformats.org/drawingml/2006/main" noGrp="1"/>
          </p:cNvSpPr>
          <p:nvPr/>
        </p:nvSpPr>
        <p:spPr>
          <a:xfrm xmlns:a="http://schemas.openxmlformats.org/drawingml/2006/main">
            <a:off x="533400" y="552450"/>
            <a:ext cx="990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8FAFC"/>
                </a:solidFill>
                <a:latin typeface="Arial"/>
                <a:ea typeface="Arial"/>
                <a:cs typeface="Arial"/>
              </a:defRPr>
            </a:pPr>
            <a:r>
              <a:rPr sz="2250" b="1" i="0">
                <a:solidFill>
                  <a:srgbClr val="F8FAFC"/>
                </a:solidFill>
                <a:latin typeface="Arial"/>
                <a:ea typeface="Arial"/>
                <a:cs typeface="Arial"/>
              </a:rPr>
              <a:t>Conclusion and future scope</a:t>
            </a:r>
          </a:p>
        </p:txBody>
      </p:sp>
      <p:sp>
        <p:nvSpPr>
          <p:cNvPr id="3" name="">
            <a:extLst xmlns:a="http://schemas.openxmlformats.org/drawingml/2006/main">
              <a:ext uri="{FF2B5EF4-FFF2-40B4-BE49-F238E27FC236}">
                <a16:creationId xmlns:a16="http://schemas.microsoft.com/office/drawing/2014/main" id="{A87F12BB-A7BA-4A69-97C1-59B975F8D7DE}"/>
              </a:ext>
            </a:extLst>
          </p:cNvPr>
          <p:cNvSpPr>
            <a:spLocks xmlns:a="http://schemas.openxmlformats.org/drawingml/2006/main" noGrp="1"/>
          </p:cNvSpPr>
          <p:nvPr/>
        </p:nvSpPr>
        <p:spPr>
          <a:xfrm xmlns:a="http://schemas.openxmlformats.org/drawingml/2006/main">
            <a:off x="11144250" y="323850"/>
            <a:ext cx="5143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i="0">
                <a:solidFill>
                  <a:srgbClr val="94A3B8"/>
                </a:solidFill>
                <a:latin typeface="Arial"/>
                <a:ea typeface="Arial"/>
                <a:cs typeface="Arial"/>
              </a:defRPr>
            </a:pPr>
            <a:r>
              <a:rPr sz="1050" b="1" i="0">
                <a:solidFill>
                  <a:srgbClr val="94A3B8"/>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E5AC0D7-E155-41F3-8B3B-CC837BB8476E}"/>
              </a:ext>
            </a:extLst>
          </p:cNvPr>
          <p:cNvSpPr>
            <a:spLocks xmlns:a="http://schemas.openxmlformats.org/drawingml/2006/main" noGrp="1"/>
          </p:cNvSpPr>
          <p:nvPr/>
        </p:nvSpPr>
        <p:spPr>
          <a:xfrm xmlns:a="http://schemas.openxmlformats.org/drawingml/2006/main">
            <a:off x="533400" y="106680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5" name="">
            <a:extLst xmlns:a="http://schemas.openxmlformats.org/drawingml/2006/main">
              <a:ext uri="{FF2B5EF4-FFF2-40B4-BE49-F238E27FC236}">
                <a16:creationId xmlns:a16="http://schemas.microsoft.com/office/drawing/2014/main" id="{ECBB4A4D-6C6D-47DB-818D-1B1D3CE4395B}"/>
              </a:ext>
            </a:extLst>
          </p:cNvPr>
          <p:cNvSpPr>
            <a:spLocks xmlns:a="http://schemas.openxmlformats.org/drawingml/2006/main" noGrp="1"/>
          </p:cNvSpPr>
          <p:nvPr/>
        </p:nvSpPr>
        <p:spPr>
          <a:xfrm xmlns:a="http://schemas.openxmlformats.org/drawingml/2006/main">
            <a:off x="533400" y="125730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i="0">
                <a:solidFill>
                  <a:srgbClr val="94A3B8"/>
                </a:solidFill>
                <a:latin typeface="Arial"/>
                <a:ea typeface="Arial"/>
                <a:cs typeface="Arial"/>
              </a:defRPr>
            </a:pPr>
            <a:r>
              <a:rPr sz="1350" b="0" i="0">
                <a:solidFill>
                  <a:srgbClr val="94A3B8"/>
                </a:solidFill>
                <a:latin typeface="Arial"/>
                <a:ea typeface="Arial"/>
                <a:cs typeface="Arial"/>
              </a:rPr>
              <a:t>MediScan turns medical information into a clearer conversation.</a:t>
            </a:r>
          </a:p>
        </p:txBody>
      </p:sp>
      <p:sp>
        <p:nvSpPr>
          <p:cNvPr id="6" name="">
            <a:extLst xmlns:a="http://schemas.openxmlformats.org/drawingml/2006/main">
              <a:ext uri="{FF2B5EF4-FFF2-40B4-BE49-F238E27FC236}">
                <a16:creationId xmlns:a16="http://schemas.microsoft.com/office/drawing/2014/main" id="{A7FCC659-0C57-4662-B749-FB9D7B1C71E8}"/>
              </a:ext>
            </a:extLst>
          </p:cNvPr>
          <p:cNvSpPr>
            <a:spLocks xmlns:a="http://schemas.openxmlformats.org/drawingml/2006/main" noGrp="1"/>
          </p:cNvSpPr>
          <p:nvPr/>
        </p:nvSpPr>
        <p:spPr>
          <a:xfrm xmlns:a="http://schemas.openxmlformats.org/drawingml/2006/main">
            <a:off x="533400" y="1790700"/>
            <a:ext cx="4991100" cy="3638550"/>
          </a:xfrm>
          <a:prstGeom xmlns:a="http://schemas.openxmlformats.org/drawingml/2006/main" prst="roundRect">
            <a:avLst>
              <a:gd name="adj" fmla="val 5759"/>
            </a:avLst>
          </a:prstGeom>
          <a:solidFill xmlns:a="http://schemas.openxmlformats.org/drawingml/2006/main">
            <a:srgbClr val="111D38"/>
          </a:solidFill>
          <a:ln xmlns:a="http://schemas.openxmlformats.org/drawingml/2006/main" w="9525">
            <a:solidFill>
              <a:srgbClr val="294262"/>
            </a:solidFill>
            <a:prstDash val="solid"/>
          </a:ln>
        </p:spPr>
      </p:sp>
      <p:sp>
        <p:nvSpPr>
          <p:cNvPr id="7" name="">
            <a:extLst xmlns:a="http://schemas.openxmlformats.org/drawingml/2006/main">
              <a:ext uri="{FF2B5EF4-FFF2-40B4-BE49-F238E27FC236}">
                <a16:creationId xmlns:a16="http://schemas.microsoft.com/office/drawing/2014/main" id="{4BFD5F00-5F60-492B-87CE-2E556E2E7C70}"/>
              </a:ext>
            </a:extLst>
          </p:cNvPr>
          <p:cNvSpPr>
            <a:spLocks xmlns:a="http://schemas.openxmlformats.org/drawingml/2006/main" noGrp="1"/>
          </p:cNvSpPr>
          <p:nvPr/>
        </p:nvSpPr>
        <p:spPr>
          <a:xfrm xmlns:a="http://schemas.openxmlformats.org/drawingml/2006/main">
            <a:off x="800100" y="20764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What V3 delivers</a:t>
            </a:r>
          </a:p>
        </p:txBody>
      </p:sp>
      <p:sp>
        <p:nvSpPr>
          <p:cNvPr id="8" name="">
            <a:extLst xmlns:a="http://schemas.openxmlformats.org/drawingml/2006/main">
              <a:ext uri="{FF2B5EF4-FFF2-40B4-BE49-F238E27FC236}">
                <a16:creationId xmlns:a16="http://schemas.microsoft.com/office/drawing/2014/main" id="{63FCF4C9-DAA1-4E5D-82FA-DD48C1D55880}"/>
              </a:ext>
            </a:extLst>
          </p:cNvPr>
          <p:cNvSpPr>
            <a:spLocks xmlns:a="http://schemas.openxmlformats.org/drawingml/2006/main" noGrp="1"/>
          </p:cNvSpPr>
          <p:nvPr/>
        </p:nvSpPr>
        <p:spPr>
          <a:xfrm xmlns:a="http://schemas.openxmlformats.org/drawingml/2006/main">
            <a:off x="800100" y="257175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38BDF8"/>
                </a:solidFill>
                <a:latin typeface="Arial"/>
                <a:ea typeface="Arial"/>
                <a:cs typeface="Arial"/>
              </a:defRPr>
            </a:pPr>
            <a:r>
              <a:rPr sz="1050" b="1" i="0">
                <a:solidFill>
                  <a:srgbClr val="38BDF8"/>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34526229-B41E-4177-B873-5EFE3F1B2DC5}"/>
              </a:ext>
            </a:extLst>
          </p:cNvPr>
          <p:cNvSpPr>
            <a:spLocks xmlns:a="http://schemas.openxmlformats.org/drawingml/2006/main" noGrp="1"/>
          </p:cNvSpPr>
          <p:nvPr/>
        </p:nvSpPr>
        <p:spPr>
          <a:xfrm xmlns:a="http://schemas.openxmlformats.org/drawingml/2006/main">
            <a:off x="1257300" y="25717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Report Lens</a:t>
            </a:r>
          </a:p>
        </p:txBody>
      </p:sp>
      <p:sp>
        <p:nvSpPr>
          <p:cNvPr id="10" name="">
            <a:extLst xmlns:a="http://schemas.openxmlformats.org/drawingml/2006/main">
              <a:ext uri="{FF2B5EF4-FFF2-40B4-BE49-F238E27FC236}">
                <a16:creationId xmlns:a16="http://schemas.microsoft.com/office/drawing/2014/main" id="{E748A2A6-C358-4721-B3BB-C15DA00AF674}"/>
              </a:ext>
            </a:extLst>
          </p:cNvPr>
          <p:cNvSpPr>
            <a:spLocks xmlns:a="http://schemas.openxmlformats.org/drawingml/2006/main" noGrp="1"/>
          </p:cNvSpPr>
          <p:nvPr/>
        </p:nvSpPr>
        <p:spPr>
          <a:xfrm xmlns:a="http://schemas.openxmlformats.org/drawingml/2006/main">
            <a:off x="2857500" y="257175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Findings, meaning, and next steps in plain language</a:t>
            </a:r>
          </a:p>
        </p:txBody>
      </p:sp>
      <p:sp>
        <p:nvSpPr>
          <p:cNvPr id="11" name="">
            <a:extLst xmlns:a="http://schemas.openxmlformats.org/drawingml/2006/main">
              <a:ext uri="{FF2B5EF4-FFF2-40B4-BE49-F238E27FC236}">
                <a16:creationId xmlns:a16="http://schemas.microsoft.com/office/drawing/2014/main" id="{5B144DAD-A921-4CD0-B014-931CA9500C22}"/>
              </a:ext>
            </a:extLst>
          </p:cNvPr>
          <p:cNvSpPr>
            <a:spLocks xmlns:a="http://schemas.openxmlformats.org/drawingml/2006/main" noGrp="1"/>
          </p:cNvSpPr>
          <p:nvPr/>
        </p:nvSpPr>
        <p:spPr>
          <a:xfrm xmlns:a="http://schemas.openxmlformats.org/drawingml/2006/main">
            <a:off x="800100" y="32004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14B8A6"/>
                </a:solidFill>
                <a:latin typeface="Arial"/>
                <a:ea typeface="Arial"/>
                <a:cs typeface="Arial"/>
              </a:defRPr>
            </a:pPr>
            <a:r>
              <a:rPr sz="1050" b="1" i="0">
                <a:solidFill>
                  <a:srgbClr val="14B8A6"/>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320DAD6A-DE80-4335-840D-7D4E1FBF1B10}"/>
              </a:ext>
            </a:extLst>
          </p:cNvPr>
          <p:cNvSpPr>
            <a:spLocks xmlns:a="http://schemas.openxmlformats.org/drawingml/2006/main" noGrp="1"/>
          </p:cNvSpPr>
          <p:nvPr/>
        </p:nvSpPr>
        <p:spPr>
          <a:xfrm xmlns:a="http://schemas.openxmlformats.org/drawingml/2006/main">
            <a:off x="1257300" y="320040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Medicine Lens</a:t>
            </a:r>
          </a:p>
        </p:txBody>
      </p:sp>
      <p:sp>
        <p:nvSpPr>
          <p:cNvPr id="13" name="">
            <a:extLst xmlns:a="http://schemas.openxmlformats.org/drawingml/2006/main">
              <a:ext uri="{FF2B5EF4-FFF2-40B4-BE49-F238E27FC236}">
                <a16:creationId xmlns:a16="http://schemas.microsoft.com/office/drawing/2014/main" id="{7C458024-CB24-4152-AA9B-432E79E17F80}"/>
              </a:ext>
            </a:extLst>
          </p:cNvPr>
          <p:cNvSpPr>
            <a:spLocks xmlns:a="http://schemas.openxmlformats.org/drawingml/2006/main" noGrp="1"/>
          </p:cNvSpPr>
          <p:nvPr/>
        </p:nvSpPr>
        <p:spPr>
          <a:xfrm xmlns:a="http://schemas.openxmlformats.org/drawingml/2006/main">
            <a:off x="2857500" y="320040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Quick facts and interaction warnings with sources</a:t>
            </a:r>
          </a:p>
        </p:txBody>
      </p:sp>
      <p:sp>
        <p:nvSpPr>
          <p:cNvPr id="14" name="">
            <a:extLst xmlns:a="http://schemas.openxmlformats.org/drawingml/2006/main">
              <a:ext uri="{FF2B5EF4-FFF2-40B4-BE49-F238E27FC236}">
                <a16:creationId xmlns:a16="http://schemas.microsoft.com/office/drawing/2014/main" id="{5D7C0896-0614-42D0-B889-C0920CDF27FD}"/>
              </a:ext>
            </a:extLst>
          </p:cNvPr>
          <p:cNvSpPr>
            <a:spLocks xmlns:a="http://schemas.openxmlformats.org/drawingml/2006/main" noGrp="1"/>
          </p:cNvSpPr>
          <p:nvPr/>
        </p:nvSpPr>
        <p:spPr>
          <a:xfrm xmlns:a="http://schemas.openxmlformats.org/drawingml/2006/main">
            <a:off x="800100" y="382905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FBBF24"/>
                </a:solidFill>
                <a:latin typeface="Arial"/>
                <a:ea typeface="Arial"/>
                <a:cs typeface="Arial"/>
              </a:defRPr>
            </a:pPr>
            <a:r>
              <a:rPr sz="1050" b="1" i="0">
                <a:solidFill>
                  <a:srgbClr val="FBBF24"/>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01DD9724-567E-48EB-A27D-9BC86324D679}"/>
              </a:ext>
            </a:extLst>
          </p:cNvPr>
          <p:cNvSpPr>
            <a:spLocks xmlns:a="http://schemas.openxmlformats.org/drawingml/2006/main" noGrp="1"/>
          </p:cNvSpPr>
          <p:nvPr/>
        </p:nvSpPr>
        <p:spPr>
          <a:xfrm xmlns:a="http://schemas.openxmlformats.org/drawingml/2006/main">
            <a:off x="1257300" y="38290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Doctor Brief</a:t>
            </a:r>
          </a:p>
        </p:txBody>
      </p:sp>
      <p:sp>
        <p:nvSpPr>
          <p:cNvPr id="16" name="">
            <a:extLst xmlns:a="http://schemas.openxmlformats.org/drawingml/2006/main">
              <a:ext uri="{FF2B5EF4-FFF2-40B4-BE49-F238E27FC236}">
                <a16:creationId xmlns:a16="http://schemas.microsoft.com/office/drawing/2014/main" id="{CA6D6333-0234-4BDF-B859-C9465B86E0A7}"/>
              </a:ext>
            </a:extLst>
          </p:cNvPr>
          <p:cNvSpPr>
            <a:spLocks xmlns:a="http://schemas.openxmlformats.org/drawingml/2006/main" noGrp="1"/>
          </p:cNvSpPr>
          <p:nvPr/>
        </p:nvSpPr>
        <p:spPr>
          <a:xfrm xmlns:a="http://schemas.openxmlformats.org/drawingml/2006/main">
            <a:off x="2857500" y="382905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A short summary ready for a visit</a:t>
            </a:r>
          </a:p>
        </p:txBody>
      </p:sp>
      <p:sp>
        <p:nvSpPr>
          <p:cNvPr id="17" name="">
            <a:extLst xmlns:a="http://schemas.openxmlformats.org/drawingml/2006/main">
              <a:ext uri="{FF2B5EF4-FFF2-40B4-BE49-F238E27FC236}">
                <a16:creationId xmlns:a16="http://schemas.microsoft.com/office/drawing/2014/main" id="{621DA713-335E-4053-B2A9-DDD1B19CC5FD}"/>
              </a:ext>
            </a:extLst>
          </p:cNvPr>
          <p:cNvSpPr>
            <a:spLocks xmlns:a="http://schemas.openxmlformats.org/drawingml/2006/main" noGrp="1"/>
          </p:cNvSpPr>
          <p:nvPr/>
        </p:nvSpPr>
        <p:spPr>
          <a:xfrm xmlns:a="http://schemas.openxmlformats.org/drawingml/2006/main">
            <a:off x="800100" y="4457700"/>
            <a:ext cx="304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i="0">
                <a:solidFill>
                  <a:srgbClr val="4ADE80"/>
                </a:solidFill>
                <a:latin typeface="Arial"/>
                <a:ea typeface="Arial"/>
                <a:cs typeface="Arial"/>
              </a:defRPr>
            </a:pPr>
            <a:r>
              <a:rPr sz="1050" b="1" i="0">
                <a:solidFill>
                  <a:srgbClr val="4ADE80"/>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EEA9EEBF-725F-44E1-8BDB-1AF802EFE6FF}"/>
              </a:ext>
            </a:extLst>
          </p:cNvPr>
          <p:cNvSpPr>
            <a:spLocks xmlns:a="http://schemas.openxmlformats.org/drawingml/2006/main" noGrp="1"/>
          </p:cNvSpPr>
          <p:nvPr/>
        </p:nvSpPr>
        <p:spPr>
          <a:xfrm xmlns:a="http://schemas.openxmlformats.org/drawingml/2006/main">
            <a:off x="1257300" y="445770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Trust layer</a:t>
            </a:r>
          </a:p>
        </p:txBody>
      </p:sp>
      <p:sp>
        <p:nvSpPr>
          <p:cNvPr id="19" name="">
            <a:extLst xmlns:a="http://schemas.openxmlformats.org/drawingml/2006/main">
              <a:ext uri="{FF2B5EF4-FFF2-40B4-BE49-F238E27FC236}">
                <a16:creationId xmlns:a16="http://schemas.microsoft.com/office/drawing/2014/main" id="{B15BE4D7-B8D4-46DE-83D0-F79A842D74F7}"/>
              </a:ext>
            </a:extLst>
          </p:cNvPr>
          <p:cNvSpPr>
            <a:spLocks xmlns:a="http://schemas.openxmlformats.org/drawingml/2006/main" noGrp="1"/>
          </p:cNvSpPr>
          <p:nvPr/>
        </p:nvSpPr>
        <p:spPr>
          <a:xfrm xmlns:a="http://schemas.openxmlformats.org/drawingml/2006/main">
            <a:off x="2857500" y="4457700"/>
            <a:ext cx="2343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Verification IDs, evidence, privacy, and tests</a:t>
            </a:r>
          </a:p>
        </p:txBody>
      </p:sp>
      <p:sp>
        <p:nvSpPr>
          <p:cNvPr id="20" name="">
            <a:extLst xmlns:a="http://schemas.openxmlformats.org/drawingml/2006/main">
              <a:ext uri="{FF2B5EF4-FFF2-40B4-BE49-F238E27FC236}">
                <a16:creationId xmlns:a16="http://schemas.microsoft.com/office/drawing/2014/main" id="{2EDA0E26-5F6E-41E5-AF3B-2D2DFD38D283}"/>
              </a:ext>
            </a:extLst>
          </p:cNvPr>
          <p:cNvSpPr>
            <a:spLocks xmlns:a="http://schemas.openxmlformats.org/drawingml/2006/main" noGrp="1"/>
          </p:cNvSpPr>
          <p:nvPr/>
        </p:nvSpPr>
        <p:spPr>
          <a:xfrm xmlns:a="http://schemas.openxmlformats.org/drawingml/2006/main">
            <a:off x="5943600" y="1790700"/>
            <a:ext cx="5295900" cy="3638550"/>
          </a:xfrm>
          <a:prstGeom xmlns:a="http://schemas.openxmlformats.org/drawingml/2006/main" prst="roundRect">
            <a:avLst>
              <a:gd name="adj" fmla="val 5759"/>
            </a:avLst>
          </a:prstGeom>
          <a:solidFill xmlns:a="http://schemas.openxmlformats.org/drawingml/2006/main">
            <a:srgbClr val="111D38"/>
          </a:solidFill>
          <a:ln xmlns:a="http://schemas.openxmlformats.org/drawingml/2006/main" w="9525">
            <a:solidFill>
              <a:srgbClr val="294262"/>
            </a:solidFill>
            <a:prstDash val="solid"/>
          </a:ln>
        </p:spPr>
      </p:sp>
      <p:sp>
        <p:nvSpPr>
          <p:cNvPr id="21" name="">
            <a:extLst xmlns:a="http://schemas.openxmlformats.org/drawingml/2006/main">
              <a:ext uri="{FF2B5EF4-FFF2-40B4-BE49-F238E27FC236}">
                <a16:creationId xmlns:a16="http://schemas.microsoft.com/office/drawing/2014/main" id="{1F0E5C90-7E83-4220-8319-7AE0F3C01008}"/>
              </a:ext>
            </a:extLst>
          </p:cNvPr>
          <p:cNvSpPr>
            <a:spLocks xmlns:a="http://schemas.openxmlformats.org/drawingml/2006/main" noGrp="1"/>
          </p:cNvSpPr>
          <p:nvPr/>
        </p:nvSpPr>
        <p:spPr>
          <a:xfrm xmlns:a="http://schemas.openxmlformats.org/drawingml/2006/main">
            <a:off x="6210300" y="207645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i="0">
                <a:solidFill>
                  <a:srgbClr val="F8FAFC"/>
                </a:solidFill>
                <a:latin typeface="Arial"/>
                <a:ea typeface="Arial"/>
                <a:cs typeface="Arial"/>
              </a:defRPr>
            </a:pPr>
            <a:r>
              <a:rPr sz="1425" b="1" i="0">
                <a:solidFill>
                  <a:srgbClr val="F8FAFC"/>
                </a:solidFill>
                <a:latin typeface="Arial"/>
                <a:ea typeface="Arial"/>
                <a:cs typeface="Arial"/>
              </a:rPr>
              <a:t>Roadmap</a:t>
            </a:r>
          </a:p>
        </p:txBody>
      </p:sp>
      <p:sp>
        <p:nvSpPr>
          <p:cNvPr id="22" name="">
            <a:extLst xmlns:a="http://schemas.openxmlformats.org/drawingml/2006/main">
              <a:ext uri="{FF2B5EF4-FFF2-40B4-BE49-F238E27FC236}">
                <a16:creationId xmlns:a16="http://schemas.microsoft.com/office/drawing/2014/main" id="{7D68EDBE-E5D2-4DB1-8377-6E0D616EDA46}"/>
              </a:ext>
            </a:extLst>
          </p:cNvPr>
          <p:cNvSpPr>
            <a:spLocks xmlns:a="http://schemas.openxmlformats.org/drawingml/2006/main" noGrp="1"/>
          </p:cNvSpPr>
          <p:nvPr/>
        </p:nvSpPr>
        <p:spPr>
          <a:xfrm xmlns:a="http://schemas.openxmlformats.org/drawingml/2006/main">
            <a:off x="6210300" y="2628900"/>
            <a:ext cx="4762500" cy="590550"/>
          </a:xfrm>
          <a:prstGeom xmlns:a="http://schemas.openxmlformats.org/drawingml/2006/main" prst="roundRect">
            <a:avLst>
              <a:gd name="adj" fmla="val 22581"/>
            </a:avLst>
          </a:prstGeom>
          <a:solidFill xmlns:a="http://schemas.openxmlformats.org/drawingml/2006/main">
            <a:srgbClr val="142642"/>
          </a:solidFill>
          <a:ln xmlns:a="http://schemas.openxmlformats.org/drawingml/2006/main" w="9525">
            <a:solidFill>
              <a:srgbClr val="294262"/>
            </a:solidFill>
            <a:prstDash val="solid"/>
          </a:ln>
        </p:spPr>
      </p:sp>
      <p:sp>
        <p:nvSpPr>
          <p:cNvPr id="23" name="">
            <a:extLst xmlns:a="http://schemas.openxmlformats.org/drawingml/2006/main">
              <a:ext uri="{FF2B5EF4-FFF2-40B4-BE49-F238E27FC236}">
                <a16:creationId xmlns:a16="http://schemas.microsoft.com/office/drawing/2014/main" id="{8A3D849F-4454-4B16-957D-37506D045585}"/>
              </a:ext>
            </a:extLst>
          </p:cNvPr>
          <p:cNvSpPr>
            <a:spLocks xmlns:a="http://schemas.openxmlformats.org/drawingml/2006/main" noGrp="1"/>
          </p:cNvSpPr>
          <p:nvPr/>
        </p:nvSpPr>
        <p:spPr>
          <a:xfrm xmlns:a="http://schemas.openxmlformats.org/drawingml/2006/main">
            <a:off x="6381750" y="2771775"/>
            <a:ext cx="304800" cy="304800"/>
          </a:xfrm>
          <a:prstGeom xmlns:a="http://schemas.openxmlformats.org/drawingml/2006/main" prst="roundRect">
            <a:avLst>
              <a:gd name="adj" fmla="val 31250"/>
            </a:avLst>
          </a:prstGeom>
          <a:solidFill xmlns:a="http://schemas.openxmlformats.org/drawingml/2006/main">
            <a:srgbClr val="38BDF8"/>
          </a:solidFill>
          <a:ln xmlns:a="http://schemas.openxmlformats.org/drawingml/2006/main" w="9525">
            <a:solidFill>
              <a:srgbClr val="38BDF8"/>
            </a:solidFill>
            <a:prstDash val="solid"/>
          </a:ln>
        </p:spPr>
      </p:sp>
      <p:sp>
        <p:nvSpPr>
          <p:cNvPr id="24" name="">
            <a:extLst xmlns:a="http://schemas.openxmlformats.org/drawingml/2006/main">
              <a:ext uri="{FF2B5EF4-FFF2-40B4-BE49-F238E27FC236}">
                <a16:creationId xmlns:a16="http://schemas.microsoft.com/office/drawing/2014/main" id="{26313A15-BC61-4F7A-9AEB-EF140C44778A}"/>
              </a:ext>
            </a:extLst>
          </p:cNvPr>
          <p:cNvSpPr>
            <a:spLocks xmlns:a="http://schemas.openxmlformats.org/drawingml/2006/main" noGrp="1"/>
          </p:cNvSpPr>
          <p:nvPr/>
        </p:nvSpPr>
        <p:spPr>
          <a:xfrm xmlns:a="http://schemas.openxmlformats.org/drawingml/2006/main">
            <a:off x="6381750" y="2847975"/>
            <a:ext cx="30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01</a:t>
            </a:r>
          </a:p>
        </p:txBody>
      </p:sp>
      <p:sp>
        <p:nvSpPr>
          <p:cNvPr id="25" name="">
            <a:extLst xmlns:a="http://schemas.openxmlformats.org/drawingml/2006/main">
              <a:ext uri="{FF2B5EF4-FFF2-40B4-BE49-F238E27FC236}">
                <a16:creationId xmlns:a16="http://schemas.microsoft.com/office/drawing/2014/main" id="{1DF70376-99CC-4509-8D6D-3516EC606851}"/>
              </a:ext>
            </a:extLst>
          </p:cNvPr>
          <p:cNvSpPr>
            <a:spLocks xmlns:a="http://schemas.openxmlformats.org/drawingml/2006/main" noGrp="1"/>
          </p:cNvSpPr>
          <p:nvPr/>
        </p:nvSpPr>
        <p:spPr>
          <a:xfrm xmlns:a="http://schemas.openxmlformats.org/drawingml/2006/main">
            <a:off x="6896100" y="27336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HL7 / FHIR</a:t>
            </a:r>
          </a:p>
        </p:txBody>
      </p:sp>
      <p:sp>
        <p:nvSpPr>
          <p:cNvPr id="26" name="">
            <a:extLst xmlns:a="http://schemas.openxmlformats.org/drawingml/2006/main">
              <a:ext uri="{FF2B5EF4-FFF2-40B4-BE49-F238E27FC236}">
                <a16:creationId xmlns:a16="http://schemas.microsoft.com/office/drawing/2014/main" id="{1B73C1B2-9BCF-4F0B-B287-45256E3682D9}"/>
              </a:ext>
            </a:extLst>
          </p:cNvPr>
          <p:cNvSpPr>
            <a:spLocks xmlns:a="http://schemas.openxmlformats.org/drawingml/2006/main" noGrp="1"/>
          </p:cNvSpPr>
          <p:nvPr/>
        </p:nvSpPr>
        <p:spPr>
          <a:xfrm xmlns:a="http://schemas.openxmlformats.org/drawingml/2006/main">
            <a:off x="6896100" y="29527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Connect to clinical systems</a:t>
            </a:r>
          </a:p>
        </p:txBody>
      </p:sp>
      <p:sp>
        <p:nvSpPr>
          <p:cNvPr id="27" name="">
            <a:extLst xmlns:a="http://schemas.openxmlformats.org/drawingml/2006/main">
              <a:ext uri="{FF2B5EF4-FFF2-40B4-BE49-F238E27FC236}">
                <a16:creationId xmlns:a16="http://schemas.microsoft.com/office/drawing/2014/main" id="{6DEB8117-7638-4325-B9AF-C1972F242C57}"/>
              </a:ext>
            </a:extLst>
          </p:cNvPr>
          <p:cNvSpPr>
            <a:spLocks xmlns:a="http://schemas.openxmlformats.org/drawingml/2006/main" noGrp="1"/>
          </p:cNvSpPr>
          <p:nvPr/>
        </p:nvSpPr>
        <p:spPr>
          <a:xfrm xmlns:a="http://schemas.openxmlformats.org/drawingml/2006/main">
            <a:off x="6210300" y="3409950"/>
            <a:ext cx="4762500" cy="590550"/>
          </a:xfrm>
          <a:prstGeom xmlns:a="http://schemas.openxmlformats.org/drawingml/2006/main" prst="roundRect">
            <a:avLst>
              <a:gd name="adj" fmla="val 22581"/>
            </a:avLst>
          </a:prstGeom>
          <a:solidFill xmlns:a="http://schemas.openxmlformats.org/drawingml/2006/main">
            <a:srgbClr val="142642"/>
          </a:solidFill>
          <a:ln xmlns:a="http://schemas.openxmlformats.org/drawingml/2006/main" w="9525">
            <a:solidFill>
              <a:srgbClr val="294262"/>
            </a:solidFill>
            <a:prstDash val="solid"/>
          </a:ln>
        </p:spPr>
      </p:sp>
      <p:sp>
        <p:nvSpPr>
          <p:cNvPr id="28" name="">
            <a:extLst xmlns:a="http://schemas.openxmlformats.org/drawingml/2006/main">
              <a:ext uri="{FF2B5EF4-FFF2-40B4-BE49-F238E27FC236}">
                <a16:creationId xmlns:a16="http://schemas.microsoft.com/office/drawing/2014/main" id="{018811AC-D4D4-45B3-A228-D1ED43D09BC5}"/>
              </a:ext>
            </a:extLst>
          </p:cNvPr>
          <p:cNvSpPr>
            <a:spLocks xmlns:a="http://schemas.openxmlformats.org/drawingml/2006/main" noGrp="1"/>
          </p:cNvSpPr>
          <p:nvPr/>
        </p:nvSpPr>
        <p:spPr>
          <a:xfrm xmlns:a="http://schemas.openxmlformats.org/drawingml/2006/main">
            <a:off x="6381750" y="3552825"/>
            <a:ext cx="304800" cy="304800"/>
          </a:xfrm>
          <a:prstGeom xmlns:a="http://schemas.openxmlformats.org/drawingml/2006/main" prst="roundRect">
            <a:avLst>
              <a:gd name="adj" fmla="val 31250"/>
            </a:avLst>
          </a:prstGeom>
          <a:solidFill xmlns:a="http://schemas.openxmlformats.org/drawingml/2006/main">
            <a:srgbClr val="14B8A6"/>
          </a:solidFill>
          <a:ln xmlns:a="http://schemas.openxmlformats.org/drawingml/2006/main" w="9525">
            <a:solidFill>
              <a:srgbClr val="14B8A6"/>
            </a:solidFill>
            <a:prstDash val="solid"/>
          </a:ln>
        </p:spPr>
      </p:sp>
      <p:sp>
        <p:nvSpPr>
          <p:cNvPr id="29" name="">
            <a:extLst xmlns:a="http://schemas.openxmlformats.org/drawingml/2006/main">
              <a:ext uri="{FF2B5EF4-FFF2-40B4-BE49-F238E27FC236}">
                <a16:creationId xmlns:a16="http://schemas.microsoft.com/office/drawing/2014/main" id="{94F99CC6-FBCF-4F73-8A00-0ADE5047CDF6}"/>
              </a:ext>
            </a:extLst>
          </p:cNvPr>
          <p:cNvSpPr>
            <a:spLocks xmlns:a="http://schemas.openxmlformats.org/drawingml/2006/main" noGrp="1"/>
          </p:cNvSpPr>
          <p:nvPr/>
        </p:nvSpPr>
        <p:spPr>
          <a:xfrm xmlns:a="http://schemas.openxmlformats.org/drawingml/2006/main">
            <a:off x="6381750" y="3629025"/>
            <a:ext cx="30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02</a:t>
            </a:r>
          </a:p>
        </p:txBody>
      </p:sp>
      <p:sp>
        <p:nvSpPr>
          <p:cNvPr id="30" name="">
            <a:extLst xmlns:a="http://schemas.openxmlformats.org/drawingml/2006/main">
              <a:ext uri="{FF2B5EF4-FFF2-40B4-BE49-F238E27FC236}">
                <a16:creationId xmlns:a16="http://schemas.microsoft.com/office/drawing/2014/main" id="{E0BD5AC5-4355-4DEA-80DF-06088D3D7077}"/>
              </a:ext>
            </a:extLst>
          </p:cNvPr>
          <p:cNvSpPr>
            <a:spLocks xmlns:a="http://schemas.openxmlformats.org/drawingml/2006/main" noGrp="1"/>
          </p:cNvSpPr>
          <p:nvPr/>
        </p:nvSpPr>
        <p:spPr>
          <a:xfrm xmlns:a="http://schemas.openxmlformats.org/drawingml/2006/main">
            <a:off x="6896100" y="351472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More reference data</a:t>
            </a:r>
          </a:p>
        </p:txBody>
      </p:sp>
      <p:sp>
        <p:nvSpPr>
          <p:cNvPr id="31" name="">
            <a:extLst xmlns:a="http://schemas.openxmlformats.org/drawingml/2006/main">
              <a:ext uri="{FF2B5EF4-FFF2-40B4-BE49-F238E27FC236}">
                <a16:creationId xmlns:a16="http://schemas.microsoft.com/office/drawing/2014/main" id="{14F55815-3F7F-4648-AA0A-3123E782641F}"/>
              </a:ext>
            </a:extLst>
          </p:cNvPr>
          <p:cNvSpPr>
            <a:spLocks xmlns:a="http://schemas.openxmlformats.org/drawingml/2006/main" noGrp="1"/>
          </p:cNvSpPr>
          <p:nvPr/>
        </p:nvSpPr>
        <p:spPr>
          <a:xfrm xmlns:a="http://schemas.openxmlformats.org/drawingml/2006/main">
            <a:off x="6896100" y="373380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EMA, CDSCO, and WHO sources</a:t>
            </a:r>
          </a:p>
        </p:txBody>
      </p:sp>
      <p:sp>
        <p:nvSpPr>
          <p:cNvPr id="32" name="">
            <a:extLst xmlns:a="http://schemas.openxmlformats.org/drawingml/2006/main">
              <a:ext uri="{FF2B5EF4-FFF2-40B4-BE49-F238E27FC236}">
                <a16:creationId xmlns:a16="http://schemas.microsoft.com/office/drawing/2014/main" id="{2B04C2B3-8291-4AB5-A346-5474E38D9912}"/>
              </a:ext>
            </a:extLst>
          </p:cNvPr>
          <p:cNvSpPr>
            <a:spLocks xmlns:a="http://schemas.openxmlformats.org/drawingml/2006/main" noGrp="1"/>
          </p:cNvSpPr>
          <p:nvPr/>
        </p:nvSpPr>
        <p:spPr>
          <a:xfrm xmlns:a="http://schemas.openxmlformats.org/drawingml/2006/main">
            <a:off x="6210300" y="4191000"/>
            <a:ext cx="4762500" cy="590550"/>
          </a:xfrm>
          <a:prstGeom xmlns:a="http://schemas.openxmlformats.org/drawingml/2006/main" prst="roundRect">
            <a:avLst>
              <a:gd name="adj" fmla="val 22581"/>
            </a:avLst>
          </a:prstGeom>
          <a:solidFill xmlns:a="http://schemas.openxmlformats.org/drawingml/2006/main">
            <a:srgbClr val="142642"/>
          </a:solidFill>
          <a:ln xmlns:a="http://schemas.openxmlformats.org/drawingml/2006/main" w="9525">
            <a:solidFill>
              <a:srgbClr val="294262"/>
            </a:solidFill>
            <a:prstDash val="solid"/>
          </a:ln>
        </p:spPr>
      </p:sp>
      <p:sp>
        <p:nvSpPr>
          <p:cNvPr id="33" name="">
            <a:extLst xmlns:a="http://schemas.openxmlformats.org/drawingml/2006/main">
              <a:ext uri="{FF2B5EF4-FFF2-40B4-BE49-F238E27FC236}">
                <a16:creationId xmlns:a16="http://schemas.microsoft.com/office/drawing/2014/main" id="{D91A6F84-8855-45EE-A707-0E5B2FF63E4B}"/>
              </a:ext>
            </a:extLst>
          </p:cNvPr>
          <p:cNvSpPr>
            <a:spLocks xmlns:a="http://schemas.openxmlformats.org/drawingml/2006/main" noGrp="1"/>
          </p:cNvSpPr>
          <p:nvPr/>
        </p:nvSpPr>
        <p:spPr>
          <a:xfrm xmlns:a="http://schemas.openxmlformats.org/drawingml/2006/main">
            <a:off x="6381750" y="4333875"/>
            <a:ext cx="304800" cy="304800"/>
          </a:xfrm>
          <a:prstGeom xmlns:a="http://schemas.openxmlformats.org/drawingml/2006/main" prst="roundRect">
            <a:avLst>
              <a:gd name="adj" fmla="val 31250"/>
            </a:avLst>
          </a:prstGeom>
          <a:solidFill xmlns:a="http://schemas.openxmlformats.org/drawingml/2006/main">
            <a:srgbClr val="FBBF24"/>
          </a:solidFill>
          <a:ln xmlns:a="http://schemas.openxmlformats.org/drawingml/2006/main" w="9525">
            <a:solidFill>
              <a:srgbClr val="FBBF24"/>
            </a:solidFill>
            <a:prstDash val="solid"/>
          </a:ln>
        </p:spPr>
      </p:sp>
      <p:sp>
        <p:nvSpPr>
          <p:cNvPr id="34" name="">
            <a:extLst xmlns:a="http://schemas.openxmlformats.org/drawingml/2006/main">
              <a:ext uri="{FF2B5EF4-FFF2-40B4-BE49-F238E27FC236}">
                <a16:creationId xmlns:a16="http://schemas.microsoft.com/office/drawing/2014/main" id="{93EBE6F2-485A-4316-A38B-74E2B07CAB0C}"/>
              </a:ext>
            </a:extLst>
          </p:cNvPr>
          <p:cNvSpPr>
            <a:spLocks xmlns:a="http://schemas.openxmlformats.org/drawingml/2006/main" noGrp="1"/>
          </p:cNvSpPr>
          <p:nvPr/>
        </p:nvSpPr>
        <p:spPr>
          <a:xfrm xmlns:a="http://schemas.openxmlformats.org/drawingml/2006/main">
            <a:off x="6381750" y="4410075"/>
            <a:ext cx="304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i="0">
                <a:solidFill>
                  <a:srgbClr val="0B132B"/>
                </a:solidFill>
                <a:latin typeface="Arial"/>
                <a:ea typeface="Arial"/>
                <a:cs typeface="Arial"/>
              </a:defRPr>
            </a:pPr>
            <a:r>
              <a:rPr sz="900" b="1" i="0">
                <a:solidFill>
                  <a:srgbClr val="0B132B"/>
                </a:solidFill>
                <a:latin typeface="Arial"/>
                <a:ea typeface="Arial"/>
                <a:cs typeface="Arial"/>
              </a:rPr>
              <a:t>03</a:t>
            </a:r>
          </a:p>
        </p:txBody>
      </p:sp>
      <p:sp>
        <p:nvSpPr>
          <p:cNvPr id="35" name="">
            <a:extLst xmlns:a="http://schemas.openxmlformats.org/drawingml/2006/main">
              <a:ext uri="{FF2B5EF4-FFF2-40B4-BE49-F238E27FC236}">
                <a16:creationId xmlns:a16="http://schemas.microsoft.com/office/drawing/2014/main" id="{6643F711-C4BE-4497-9BA9-178C874B11BE}"/>
              </a:ext>
            </a:extLst>
          </p:cNvPr>
          <p:cNvSpPr>
            <a:spLocks xmlns:a="http://schemas.openxmlformats.org/drawingml/2006/main" noGrp="1"/>
          </p:cNvSpPr>
          <p:nvPr/>
        </p:nvSpPr>
        <p:spPr>
          <a:xfrm xmlns:a="http://schemas.openxmlformats.org/drawingml/2006/main">
            <a:off x="6896100" y="4295775"/>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F8FAFC"/>
                </a:solidFill>
                <a:latin typeface="Arial"/>
                <a:ea typeface="Arial"/>
                <a:cs typeface="Arial"/>
              </a:defRPr>
            </a:pPr>
            <a:r>
              <a:rPr sz="1125" b="1" i="0">
                <a:solidFill>
                  <a:srgbClr val="F8FAFC"/>
                </a:solidFill>
                <a:latin typeface="Arial"/>
                <a:ea typeface="Arial"/>
                <a:cs typeface="Arial"/>
              </a:rPr>
              <a:t>On-device help</a:t>
            </a:r>
          </a:p>
        </p:txBody>
      </p:sp>
      <p:sp>
        <p:nvSpPr>
          <p:cNvPr id="36" name="">
            <a:extLst xmlns:a="http://schemas.openxmlformats.org/drawingml/2006/main">
              <a:ext uri="{FF2B5EF4-FFF2-40B4-BE49-F238E27FC236}">
                <a16:creationId xmlns:a16="http://schemas.microsoft.com/office/drawing/2014/main" id="{AFC52CA9-D4E9-40BF-81F5-F94560AE8C00}"/>
              </a:ext>
            </a:extLst>
          </p:cNvPr>
          <p:cNvSpPr>
            <a:spLocks xmlns:a="http://schemas.openxmlformats.org/drawingml/2006/main" noGrp="1"/>
          </p:cNvSpPr>
          <p:nvPr/>
        </p:nvSpPr>
        <p:spPr>
          <a:xfrm xmlns:a="http://schemas.openxmlformats.org/drawingml/2006/main">
            <a:off x="6896100" y="4514850"/>
            <a:ext cx="3429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i="0">
                <a:solidFill>
                  <a:srgbClr val="94A3B8"/>
                </a:solidFill>
                <a:latin typeface="Arial"/>
                <a:ea typeface="Arial"/>
                <a:cs typeface="Arial"/>
              </a:defRPr>
            </a:pPr>
            <a:r>
              <a:rPr sz="900" b="0" i="0">
                <a:solidFill>
                  <a:srgbClr val="94A3B8"/>
                </a:solidFill>
                <a:latin typeface="Arial"/>
                <a:ea typeface="Arial"/>
                <a:cs typeface="Arial"/>
              </a:rPr>
              <a:t>WebAssembly and small local models</a:t>
            </a:r>
          </a:p>
        </p:txBody>
      </p:sp>
      <p:sp>
        <p:nvSpPr>
          <p:cNvPr id="37" name="">
            <a:extLst xmlns:a="http://schemas.openxmlformats.org/drawingml/2006/main">
              <a:ext uri="{FF2B5EF4-FFF2-40B4-BE49-F238E27FC236}">
                <a16:creationId xmlns:a16="http://schemas.microsoft.com/office/drawing/2014/main" id="{EDFEB26D-8C9C-410E-9722-474304CFDFE5}"/>
              </a:ext>
            </a:extLst>
          </p:cNvPr>
          <p:cNvSpPr>
            <a:spLocks xmlns:a="http://schemas.openxmlformats.org/drawingml/2006/main" noGrp="1"/>
          </p:cNvSpPr>
          <p:nvPr/>
        </p:nvSpPr>
        <p:spPr>
          <a:xfrm xmlns:a="http://schemas.openxmlformats.org/drawingml/2006/main">
            <a:off x="533400" y="5772150"/>
            <a:ext cx="10706100" cy="419100"/>
          </a:xfrm>
          <a:prstGeom xmlns:a="http://schemas.openxmlformats.org/drawingml/2006/main" prst="roundRect">
            <a:avLst>
              <a:gd name="adj" fmla="val 31818"/>
            </a:avLst>
          </a:prstGeom>
          <a:solidFill xmlns:a="http://schemas.openxmlformats.org/drawingml/2006/main">
            <a:srgbClr val="14B8A6"/>
          </a:solidFill>
          <a:ln xmlns:a="http://schemas.openxmlformats.org/drawingml/2006/main" w="9525">
            <a:solidFill>
              <a:srgbClr val="14B8A6"/>
            </a:solidFill>
            <a:prstDash val="solid"/>
          </a:ln>
        </p:spPr>
      </p:sp>
      <p:sp>
        <p:nvSpPr>
          <p:cNvPr id="38" name="">
            <a:extLst xmlns:a="http://schemas.openxmlformats.org/drawingml/2006/main">
              <a:ext uri="{FF2B5EF4-FFF2-40B4-BE49-F238E27FC236}">
                <a16:creationId xmlns:a16="http://schemas.microsoft.com/office/drawing/2014/main" id="{8F443997-1820-4F12-BD14-43A30863C0CD}"/>
              </a:ext>
            </a:extLst>
          </p:cNvPr>
          <p:cNvSpPr>
            <a:spLocks xmlns:a="http://schemas.openxmlformats.org/drawingml/2006/main" noGrp="1"/>
          </p:cNvSpPr>
          <p:nvPr/>
        </p:nvSpPr>
        <p:spPr>
          <a:xfrm xmlns:a="http://schemas.openxmlformats.org/drawingml/2006/main">
            <a:off x="762000" y="5867400"/>
            <a:ext cx="10248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i="0">
                <a:solidFill>
                  <a:srgbClr val="0B132B"/>
                </a:solidFill>
                <a:latin typeface="Arial"/>
                <a:ea typeface="Arial"/>
                <a:cs typeface="Arial"/>
              </a:defRPr>
            </a:pPr>
            <a:r>
              <a:rPr sz="1350" b="1" i="0">
                <a:solidFill>
                  <a:srgbClr val="0B132B"/>
                </a:solidFill>
                <a:latin typeface="Arial"/>
                <a:ea typeface="Arial"/>
                <a:cs typeface="Arial"/>
              </a:rPr>
              <a:t>Clearer information. Safer decisions. Better conversations.</a:t>
            </a:r>
          </a:p>
        </p:txBody>
      </p:sp>
      <p:sp>
        <p:nvSpPr>
          <p:cNvPr id="39" name="">
            <a:extLst xmlns:a="http://schemas.openxmlformats.org/drawingml/2006/main">
              <a:ext uri="{FF2B5EF4-FFF2-40B4-BE49-F238E27FC236}">
                <a16:creationId xmlns:a16="http://schemas.microsoft.com/office/drawing/2014/main" id="{01080E0B-2E90-4FCD-9A63-BC408855BF93}"/>
              </a:ext>
            </a:extLst>
          </p:cNvPr>
          <p:cNvSpPr>
            <a:spLocks xmlns:a="http://schemas.openxmlformats.org/drawingml/2006/main" noGrp="1"/>
          </p:cNvSpPr>
          <p:nvPr/>
        </p:nvSpPr>
        <p:spPr>
          <a:xfrm xmlns:a="http://schemas.openxmlformats.org/drawingml/2006/main">
            <a:off x="533400" y="6457950"/>
            <a:ext cx="11125200" cy="9525"/>
          </a:xfrm>
          <a:prstGeom xmlns:a="http://schemas.openxmlformats.org/drawingml/2006/main" prst="rect">
            <a:avLst/>
          </a:prstGeom>
          <a:solidFill xmlns:a="http://schemas.openxmlformats.org/drawingml/2006/main">
            <a:srgbClr val="294262"/>
          </a:solidFill>
          <a:ln xmlns:a="http://schemas.openxmlformats.org/drawingml/2006/main" w="0">
            <a:solidFill>
              <a:srgbClr val="294262"/>
            </a:solidFill>
          </a:ln>
        </p:spPr>
      </p:sp>
      <p:sp>
        <p:nvSpPr>
          <p:cNvPr id="40" name="">
            <a:extLst xmlns:a="http://schemas.openxmlformats.org/drawingml/2006/main">
              <a:ext uri="{FF2B5EF4-FFF2-40B4-BE49-F238E27FC236}">
                <a16:creationId xmlns:a16="http://schemas.microsoft.com/office/drawing/2014/main" id="{02424CBD-168B-41C0-ABCB-FD111A9D5EA1}"/>
              </a:ext>
            </a:extLst>
          </p:cNvPr>
          <p:cNvSpPr>
            <a:spLocks xmlns:a="http://schemas.openxmlformats.org/drawingml/2006/main" noGrp="1"/>
          </p:cNvSpPr>
          <p:nvPr/>
        </p:nvSpPr>
        <p:spPr>
          <a:xfrm xmlns:a="http://schemas.openxmlformats.org/drawingml/2006/main">
            <a:off x="533400" y="6572250"/>
            <a:ext cx="4000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i="0">
                <a:solidFill>
                  <a:srgbClr val="94A3B8"/>
                </a:solidFill>
                <a:latin typeface="Arial"/>
                <a:ea typeface="Arial"/>
                <a:cs typeface="Arial"/>
              </a:defRPr>
            </a:pPr>
            <a:r>
              <a:rPr sz="825" b="0" i="0">
                <a:solidFill>
                  <a:srgbClr val="94A3B8"/>
                </a:solidFill>
                <a:latin typeface="Arial"/>
                <a:ea typeface="Arial"/>
                <a:cs typeface="Arial"/>
              </a:rPr>
              <a:t>MediScan V3 · Evidence first, AI second</a:t>
            </a:r>
          </a:p>
        </p:txBody>
      </p:sp>
    </p:spTree>
    <p:extLst>
      <p:ext uri="{BB962C8B-B14F-4D97-AF65-F5344CB8AC3E}">
        <p14:creationId xmlns:p14="http://schemas.microsoft.com/office/powerpoint/2010/main" val="345688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2026-09-22T03:01:03.7830000Z</dcterms:created>
  <dcterms:modified xsi:type="dcterms:W3CDTF">2026-09-22T03:01:03.7840000Z</dcterms:modified>
</coreProperties>
</file>